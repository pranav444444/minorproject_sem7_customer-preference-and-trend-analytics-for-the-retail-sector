
<file path=[Content_Types].xml><?xml version="1.0" encoding="utf-8"?>
<Types xmlns="http://schemas.openxmlformats.org/package/2006/content-types">
  <Default ContentType="application/vnd.openxmlformats-officedocument.oleObject" Extension="bin"/>
  <Default ContentType="application/x-fontdata" Extension="fntdata"/>
  <Default ContentType="image/jpeg" Extension="jpeg"/>
  <Default ContentType="image/png" Extension="png"/>
  <Default ContentType="application/vnd.openxmlformats-package.relationships+xml" Extension="rels"/>
  <Default ContentType="image/svg+xml" Extension="svg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slide+xml" PartName="/ppt/slides/slide5.xml"/>
  <Override ContentType="application/vnd.openxmlformats-officedocument.presentationml.slide+xml" PartName="/ppt/slides/slide6.xml"/>
  <Override ContentType="application/vnd.openxmlformats-officedocument.presentationml.slide+xml" PartName="/ppt/slides/slide7.xml"/>
  <Override ContentType="application/vnd.openxmlformats-officedocument.presentationml.slide+xml" PartName="/ppt/slides/slide8.xml"/>
  <Override ContentType="application/vnd.openxmlformats-officedocument.presentationml.slide+xml" PartName="/ppt/slides/slide9.xml"/>
  <Override ContentType="application/vnd.openxmlformats-officedocument.presentationml.slide+xml" PartName="/ppt/slides/slide10.xml"/>
  <Override ContentType="application/vnd.openxmlformats-officedocument.presentationml.slide+xml" PartName="/ppt/slides/slide11.xml"/>
  <Override ContentType="application/vnd.openxmlformats-officedocument.presentationml.slide+xml" PartName="/ppt/slides/slide12.xml"/>
  <Override ContentType="application/vnd.openxmlformats-officedocument.presentationml.slide+xml" PartName="/ppt/slides/slide13.xml"/>
  <Override ContentType="application/vnd.openxmlformats-officedocument.presentationml.slide+xml" PartName="/ppt/slides/slide14.xml"/>
  <Override ContentType="application/vnd.openxmlformats-officedocument.presentationml.slide+xml" PartName="/ppt/slides/slide15.xml"/>
  <Override ContentType="application/vnd.openxmlformats-officedocument.presentationml.slide+xml" PartName="/ppt/slides/slide16.xml"/>
  <Override ContentType="application/vnd.openxmlformats-officedocument.presentationml.slide+xml" PartName="/ppt/slides/slide17.xml"/>
  <Override ContentType="application/vnd.openxmlformats-officedocument.presentationml.slide+xml" PartName="/ppt/slides/slide18.xml"/>
  <Override ContentType="application/vnd.openxmlformats-officedocument.presentationml.slide+xml" PartName="/ppt/slides/slide19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slide+xml" PartName="/ppt/slides/slide22.xml"/>
  <Override ContentType="application/vnd.openxmlformats-officedocument.presentationml.slide+xml" PartName="/ppt/slides/slide23.xml"/>
  <Override ContentType="application/vnd.openxmlformats-officedocument.presentationml.slide+xml" PartName="/ppt/slides/slide24.xml"/>
  <Override ContentType="application/vnd.openxmlformats-officedocument.presentationml.slide+xml" PartName="/ppt/slides/slide25.xml"/>
  <Override ContentType="application/vnd.openxmlformats-officedocument.presentationml.slide+xml" PartName="/ppt/slides/slide26.xml"/>
  <Override ContentType="application/vnd.openxmlformats-officedocument.presentationml.slide+xml" PartName="/ppt/slides/slide27.xml"/>
  <Override ContentType="application/vnd.openxmlformats-officedocument.presentationml.slide+xml" PartName="/ppt/slides/slide28.xml"/>
  <Override ContentType="application/vnd.openxmlformats-officedocument.presentationml.slide+xml" PartName="/ppt/slides/slide29.xml"/>
  <Override ContentType="application/vnd.openxmlformats-officedocument.presentationml.slide+xml" PartName="/ppt/slides/slide30.xml"/>
  <Override ContentType="application/vnd.openxmlformats-officedocument.presentationml.slide+xml" PartName="/ppt/slides/slide31.xml"/>
  <Override ContentType="application/vnd.openxmlformats-officedocument.presentationml.slide+xml" PartName="/ppt/slides/slide32.xml"/>
  <Override ContentType="application/vnd.openxmlformats-officedocument.presentationml.slide+xml" PartName="/ppt/slides/slide33.xml"/>
  <Override ContentType="application/vnd.openxmlformats-officedocument.presentationml.slide+xml" PartName="/ppt/slides/slide34.xml"/>
  <Override ContentType="application/vnd.openxmlformats-officedocument.presentationml.slide+xml" PartName="/ppt/slides/slide35.xml"/>
  <Override ContentType="application/vnd.openxmlformats-officedocument.presentationml.slide+xml" PartName="/ppt/slides/slide36.xml"/>
  <Override ContentType="application/vnd.openxmlformats-officedocument.presentationml.slide+xml" PartName="/ppt/slides/slide37.xml"/>
  <Override ContentType="application/vnd.openxmlformats-officedocument.presentationml.slide+xml" PartName="/ppt/slides/slide38.xml"/>
  <Override ContentType="application/vnd.openxmlformats-officedocument.presentationml.slide+xml" PartName="/ppt/slides/slide39.xml"/>
  <Override ContentType="application/vnd.openxmlformats-officedocument.presentationml.slide+xml" PartName="/ppt/slides/slide40.xml"/>
  <Override ContentType="application/vnd.openxmlformats-officedocument.presentationml.slide+xml" PartName="/ppt/slides/slide41.xml"/>
  <Override ContentType="application/vnd.openxmlformats-officedocument.presentationml.slide+xml" PartName="/ppt/slides/slide42.xml"/>
  <Override ContentType="application/vnd.openxmlformats-officedocument.presentationml.slide+xml" PartName="/ppt/slides/slide43.xml"/>
  <Override ContentType="application/vnd.openxmlformats-officedocument.presentationml.slide+xml" PartName="/ppt/slides/slide44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embedTrueTypeFonts="true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  <p:sldId id="272" r:id="rId22"/>
    <p:sldId id="273" r:id="rId23"/>
    <p:sldId id="274" r:id="rId24"/>
    <p:sldId id="275" r:id="rId25"/>
    <p:sldId id="276" r:id="rId26"/>
    <p:sldId id="277" r:id="rId27"/>
    <p:sldId id="278" r:id="rId28"/>
    <p:sldId id="279" r:id="rId29"/>
    <p:sldId id="280" r:id="rId30"/>
    <p:sldId id="281" r:id="rId31"/>
    <p:sldId id="282" r:id="rId32"/>
    <p:sldId id="283" r:id="rId33"/>
    <p:sldId id="284" r:id="rId34"/>
    <p:sldId id="285" r:id="rId35"/>
    <p:sldId id="286" r:id="rId36"/>
    <p:sldId id="287" r:id="rId37"/>
    <p:sldId id="288" r:id="rId38"/>
    <p:sldId id="289" r:id="rId39"/>
    <p:sldId id="290" r:id="rId40"/>
    <p:sldId id="291" r:id="rId41"/>
    <p:sldId id="292" r:id="rId42"/>
    <p:sldId id="293" r:id="rId43"/>
    <p:sldId id="294" r:id="rId44"/>
    <p:sldId id="295" r:id="rId45"/>
    <p:sldId id="296" r:id="rId46"/>
    <p:sldId id="297" r:id="rId47"/>
    <p:sldId id="298" r:id="rId48"/>
    <p:sldId id="299" r:id="rId49"/>
  </p:sldIdLst>
  <p:sldSz cx="18288000" cy="10287000"/>
  <p:notesSz cx="6858000" cy="9144000"/>
  <p:embeddedFontLst>
    <p:embeddedFont>
      <p:font typeface="Times New Roman MT" charset="1" panose="02030502070405020303"/>
      <p:regular r:id="rId50"/>
    </p:embeddedFont>
    <p:embeddedFont>
      <p:font typeface="Times New Roman MT Bold" charset="1" panose="02030802070405020303"/>
      <p:regular r:id="rId51"/>
    </p:embeddedFont>
    <p:embeddedFont>
      <p:font typeface="Calibri (MS)" charset="1" panose="020F0502020204030204"/>
      <p:regular r:id="rId52"/>
    </p:embeddedFont>
    <p:embeddedFont>
      <p:font typeface="Monda Bold" charset="1" panose="02000803000000000000"/>
      <p:regular r:id="rId53"/>
    </p:embeddedFont>
    <p:embeddedFont>
      <p:font typeface="Monda" charset="1" panose="02000503000000000000"/>
      <p:regular r:id="rId54"/>
    </p:embeddedFont>
    <p:embeddedFont>
      <p:font typeface="Merriweather Sans Bold" charset="1" panose="00000800000000000000"/>
      <p:regular r:id="rId55"/>
    </p:embeddedFont>
    <p:embeddedFont>
      <p:font typeface="DM Sans" charset="1" panose="00000000000000000000"/>
      <p:regular r:id="rId56"/>
    </p:embeddedFont>
    <p:embeddedFont>
      <p:font typeface="DM Sans Bold" charset="1" panose="00000000000000000000"/>
      <p:regular r:id="rId57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10" Target="slides/slide5.xml" Type="http://schemas.openxmlformats.org/officeDocument/2006/relationships/slide"/><Relationship Id="rId11" Target="slides/slide6.xml" Type="http://schemas.openxmlformats.org/officeDocument/2006/relationships/slide"/><Relationship Id="rId12" Target="slides/slide7.xml" Type="http://schemas.openxmlformats.org/officeDocument/2006/relationships/slide"/><Relationship Id="rId13" Target="slides/slide8.xml" Type="http://schemas.openxmlformats.org/officeDocument/2006/relationships/slide"/><Relationship Id="rId14" Target="slides/slide9.xml" Type="http://schemas.openxmlformats.org/officeDocument/2006/relationships/slide"/><Relationship Id="rId15" Target="slides/slide10.xml" Type="http://schemas.openxmlformats.org/officeDocument/2006/relationships/slide"/><Relationship Id="rId16" Target="slides/slide11.xml" Type="http://schemas.openxmlformats.org/officeDocument/2006/relationships/slide"/><Relationship Id="rId17" Target="slides/slide12.xml" Type="http://schemas.openxmlformats.org/officeDocument/2006/relationships/slide"/><Relationship Id="rId18" Target="slides/slide13.xml" Type="http://schemas.openxmlformats.org/officeDocument/2006/relationships/slide"/><Relationship Id="rId19" Target="slides/slide14.xml" Type="http://schemas.openxmlformats.org/officeDocument/2006/relationships/slide"/><Relationship Id="rId2" Target="presProps.xml" Type="http://schemas.openxmlformats.org/officeDocument/2006/relationships/presProps"/><Relationship Id="rId20" Target="slides/slide15.xml" Type="http://schemas.openxmlformats.org/officeDocument/2006/relationships/slide"/><Relationship Id="rId21" Target="slides/slide16.xml" Type="http://schemas.openxmlformats.org/officeDocument/2006/relationships/slide"/><Relationship Id="rId22" Target="slides/slide17.xml" Type="http://schemas.openxmlformats.org/officeDocument/2006/relationships/slide"/><Relationship Id="rId23" Target="slides/slide18.xml" Type="http://schemas.openxmlformats.org/officeDocument/2006/relationships/slide"/><Relationship Id="rId24" Target="slides/slide19.xml" Type="http://schemas.openxmlformats.org/officeDocument/2006/relationships/slide"/><Relationship Id="rId25" Target="slides/slide20.xml" Type="http://schemas.openxmlformats.org/officeDocument/2006/relationships/slide"/><Relationship Id="rId26" Target="slides/slide21.xml" Type="http://schemas.openxmlformats.org/officeDocument/2006/relationships/slide"/><Relationship Id="rId27" Target="slides/slide22.xml" Type="http://schemas.openxmlformats.org/officeDocument/2006/relationships/slide"/><Relationship Id="rId28" Target="slides/slide23.xml" Type="http://schemas.openxmlformats.org/officeDocument/2006/relationships/slide"/><Relationship Id="rId29" Target="slides/slide24.xml" Type="http://schemas.openxmlformats.org/officeDocument/2006/relationships/slide"/><Relationship Id="rId3" Target="viewProps.xml" Type="http://schemas.openxmlformats.org/officeDocument/2006/relationships/viewProps"/><Relationship Id="rId30" Target="slides/slide25.xml" Type="http://schemas.openxmlformats.org/officeDocument/2006/relationships/slide"/><Relationship Id="rId31" Target="slides/slide26.xml" Type="http://schemas.openxmlformats.org/officeDocument/2006/relationships/slide"/><Relationship Id="rId32" Target="slides/slide27.xml" Type="http://schemas.openxmlformats.org/officeDocument/2006/relationships/slide"/><Relationship Id="rId33" Target="slides/slide28.xml" Type="http://schemas.openxmlformats.org/officeDocument/2006/relationships/slide"/><Relationship Id="rId34" Target="slides/slide29.xml" Type="http://schemas.openxmlformats.org/officeDocument/2006/relationships/slide"/><Relationship Id="rId35" Target="slides/slide30.xml" Type="http://schemas.openxmlformats.org/officeDocument/2006/relationships/slide"/><Relationship Id="rId36" Target="slides/slide31.xml" Type="http://schemas.openxmlformats.org/officeDocument/2006/relationships/slide"/><Relationship Id="rId37" Target="slides/slide32.xml" Type="http://schemas.openxmlformats.org/officeDocument/2006/relationships/slide"/><Relationship Id="rId38" Target="slides/slide33.xml" Type="http://schemas.openxmlformats.org/officeDocument/2006/relationships/slide"/><Relationship Id="rId39" Target="slides/slide34.xml" Type="http://schemas.openxmlformats.org/officeDocument/2006/relationships/slide"/><Relationship Id="rId4" Target="theme/theme1.xml" Type="http://schemas.openxmlformats.org/officeDocument/2006/relationships/theme"/><Relationship Id="rId40" Target="slides/slide35.xml" Type="http://schemas.openxmlformats.org/officeDocument/2006/relationships/slide"/><Relationship Id="rId41" Target="slides/slide36.xml" Type="http://schemas.openxmlformats.org/officeDocument/2006/relationships/slide"/><Relationship Id="rId42" Target="slides/slide37.xml" Type="http://schemas.openxmlformats.org/officeDocument/2006/relationships/slide"/><Relationship Id="rId43" Target="slides/slide38.xml" Type="http://schemas.openxmlformats.org/officeDocument/2006/relationships/slide"/><Relationship Id="rId44" Target="slides/slide39.xml" Type="http://schemas.openxmlformats.org/officeDocument/2006/relationships/slide"/><Relationship Id="rId45" Target="slides/slide40.xml" Type="http://schemas.openxmlformats.org/officeDocument/2006/relationships/slide"/><Relationship Id="rId46" Target="slides/slide41.xml" Type="http://schemas.openxmlformats.org/officeDocument/2006/relationships/slide"/><Relationship Id="rId47" Target="slides/slide42.xml" Type="http://schemas.openxmlformats.org/officeDocument/2006/relationships/slide"/><Relationship Id="rId48" Target="slides/slide43.xml" Type="http://schemas.openxmlformats.org/officeDocument/2006/relationships/slide"/><Relationship Id="rId49" Target="slides/slide44.xml" Type="http://schemas.openxmlformats.org/officeDocument/2006/relationships/slide"/><Relationship Id="rId5" Target="tableStyles.xml" Type="http://schemas.openxmlformats.org/officeDocument/2006/relationships/tableStyles"/><Relationship Id="rId50" Target="fonts/font50.fntdata" Type="http://schemas.openxmlformats.org/officeDocument/2006/relationships/font"/><Relationship Id="rId51" Target="fonts/font51.fntdata" Type="http://schemas.openxmlformats.org/officeDocument/2006/relationships/font"/><Relationship Id="rId52" Target="fonts/font52.fntdata" Type="http://schemas.openxmlformats.org/officeDocument/2006/relationships/font"/><Relationship Id="rId53" Target="fonts/font53.fntdata" Type="http://schemas.openxmlformats.org/officeDocument/2006/relationships/font"/><Relationship Id="rId54" Target="fonts/font54.fntdata" Type="http://schemas.openxmlformats.org/officeDocument/2006/relationships/font"/><Relationship Id="rId55" Target="fonts/font55.fntdata" Type="http://schemas.openxmlformats.org/officeDocument/2006/relationships/font"/><Relationship Id="rId56" Target="fonts/font56.fntdata" Type="http://schemas.openxmlformats.org/officeDocument/2006/relationships/font"/><Relationship Id="rId57" Target="fonts/font57.fntdata" Type="http://schemas.openxmlformats.org/officeDocument/2006/relationships/font"/><Relationship Id="rId6" Target="slides/slide1.xml" Type="http://schemas.openxmlformats.org/officeDocument/2006/relationships/slide"/><Relationship Id="rId7" Target="slides/slide2.xml" Type="http://schemas.openxmlformats.org/officeDocument/2006/relationships/slide"/><Relationship Id="rId8" Target="slides/slide3.xml" Type="http://schemas.openxmlformats.org/officeDocument/2006/relationships/slide"/><Relationship Id="rId9" Target="slides/slide4.xml" Type="http://schemas.openxmlformats.org/officeDocument/2006/relationships/slide"/></Relationship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jpeg" Type="http://schemas.openxmlformats.org/officeDocument/2006/relationships/image"/><Relationship Id="rId3" Target="../media/image2.png" Type="http://schemas.openxmlformats.org/officeDocument/2006/relationships/image"/><Relationship Id="rId4" Target="../media/image3.png" Type="http://schemas.openxmlformats.org/officeDocument/2006/relationships/image"/></Relationships>
</file>

<file path=ppt/slides/_rels/slide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12.svg" Type="http://schemas.openxmlformats.org/officeDocument/2006/relationships/image"/><Relationship Id="rId2" Target="../media/image4.jpeg" Type="http://schemas.openxmlformats.org/officeDocument/2006/relationships/image"/><Relationship Id="rId3" Target="../media/image5.png" Type="http://schemas.openxmlformats.org/officeDocument/2006/relationships/image"/><Relationship Id="rId4" Target="../media/image6.svg" Type="http://schemas.openxmlformats.org/officeDocument/2006/relationships/image"/><Relationship Id="rId5" Target="../media/image7.png" Type="http://schemas.openxmlformats.org/officeDocument/2006/relationships/image"/><Relationship Id="rId6" Target="../media/image8.svg" Type="http://schemas.openxmlformats.org/officeDocument/2006/relationships/image"/><Relationship Id="rId7" Target="../media/image9.png" Type="http://schemas.openxmlformats.org/officeDocument/2006/relationships/image"/><Relationship Id="rId8" Target="../media/image10.svg" Type="http://schemas.openxmlformats.org/officeDocument/2006/relationships/image"/><Relationship Id="rId9" Target="../media/image11.png" Type="http://schemas.openxmlformats.org/officeDocument/2006/relationships/image"/></Relationships>
</file>

<file path=ppt/slides/_rels/slide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16.png" Type="http://schemas.openxmlformats.org/officeDocument/2006/relationships/image"/><Relationship Id="rId11" Target="../media/image17.png" Type="http://schemas.openxmlformats.org/officeDocument/2006/relationships/image"/><Relationship Id="rId12" Target="../media/image18.png" Type="http://schemas.openxmlformats.org/officeDocument/2006/relationships/image"/><Relationship Id="rId2" Target="../media/image4.jpeg" Type="http://schemas.openxmlformats.org/officeDocument/2006/relationships/image"/><Relationship Id="rId3" Target="../media/image5.png" Type="http://schemas.openxmlformats.org/officeDocument/2006/relationships/image"/><Relationship Id="rId4" Target="../media/image6.svg" Type="http://schemas.openxmlformats.org/officeDocument/2006/relationships/image"/><Relationship Id="rId5" Target="../media/image7.png" Type="http://schemas.openxmlformats.org/officeDocument/2006/relationships/image"/><Relationship Id="rId6" Target="../media/image8.svg" Type="http://schemas.openxmlformats.org/officeDocument/2006/relationships/image"/><Relationship Id="rId7" Target="../media/image13.png" Type="http://schemas.openxmlformats.org/officeDocument/2006/relationships/image"/><Relationship Id="rId8" Target="../media/image14.png" Type="http://schemas.openxmlformats.org/officeDocument/2006/relationships/image"/><Relationship Id="rId9" Target="../media/image15.png" Type="http://schemas.openxmlformats.org/officeDocument/2006/relationships/image"/></Relationships>
</file>

<file path=ppt/slides/_rels/slide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4.jpeg" Type="http://schemas.openxmlformats.org/officeDocument/2006/relationships/image"/><Relationship Id="rId3" Target="../media/image5.png" Type="http://schemas.openxmlformats.org/officeDocument/2006/relationships/image"/><Relationship Id="rId4" Target="../media/image6.svg" Type="http://schemas.openxmlformats.org/officeDocument/2006/relationships/image"/><Relationship Id="rId5" Target="../media/image7.png" Type="http://schemas.openxmlformats.org/officeDocument/2006/relationships/image"/><Relationship Id="rId6" Target="../media/image8.svg" Type="http://schemas.openxmlformats.org/officeDocument/2006/relationships/image"/><Relationship Id="rId7" Target="../media/image19.png" Type="http://schemas.openxmlformats.org/officeDocument/2006/relationships/image"/><Relationship Id="rId8" Target="../media/image20.svg" Type="http://schemas.openxmlformats.org/officeDocument/2006/relationships/image"/><Relationship Id="rId9" Target="https://www.kaggle.com/datasets/bhavikjikadara/retail-transactional-dataset" TargetMode="External" Type="http://schemas.openxmlformats.org/officeDocument/2006/relationships/hyperlink"/></Relationships>
</file>

<file path=ppt/slides/_rels/slide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24.png" Type="http://schemas.openxmlformats.org/officeDocument/2006/relationships/image"/><Relationship Id="rId2" Target="../media/image4.jpeg" Type="http://schemas.openxmlformats.org/officeDocument/2006/relationships/image"/><Relationship Id="rId3" Target="../media/image5.png" Type="http://schemas.openxmlformats.org/officeDocument/2006/relationships/image"/><Relationship Id="rId4" Target="../media/image6.svg" Type="http://schemas.openxmlformats.org/officeDocument/2006/relationships/image"/><Relationship Id="rId5" Target="../media/image7.png" Type="http://schemas.openxmlformats.org/officeDocument/2006/relationships/image"/><Relationship Id="rId6" Target="../media/image8.svg" Type="http://schemas.openxmlformats.org/officeDocument/2006/relationships/image"/><Relationship Id="rId7" Target="../media/image21.png" Type="http://schemas.openxmlformats.org/officeDocument/2006/relationships/image"/><Relationship Id="rId8" Target="../media/image22.png" Type="http://schemas.openxmlformats.org/officeDocument/2006/relationships/image"/><Relationship Id="rId9" Target="../media/image23.png" Type="http://schemas.openxmlformats.org/officeDocument/2006/relationships/image"/></Relationships>
</file>

<file path=ppt/slides/_rels/slide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4.jpeg" Type="http://schemas.openxmlformats.org/officeDocument/2006/relationships/image"/><Relationship Id="rId3" Target="../media/image5.png" Type="http://schemas.openxmlformats.org/officeDocument/2006/relationships/image"/><Relationship Id="rId4" Target="../media/image6.svg" Type="http://schemas.openxmlformats.org/officeDocument/2006/relationships/image"/><Relationship Id="rId5" Target="../media/image7.png" Type="http://schemas.openxmlformats.org/officeDocument/2006/relationships/image"/><Relationship Id="rId6" Target="../media/image8.svg" Type="http://schemas.openxmlformats.org/officeDocument/2006/relationships/image"/><Relationship Id="rId7" Target="../media/image25.png" Type="http://schemas.openxmlformats.org/officeDocument/2006/relationships/image"/><Relationship Id="rId8" Target="../embeddings/oleObject1.bin" Type="http://schemas.openxmlformats.org/officeDocument/2006/relationships/oleObject"/></Relationships>
</file>

<file path=ppt/slides/_rels/slide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4.jpeg" Type="http://schemas.openxmlformats.org/officeDocument/2006/relationships/image"/><Relationship Id="rId3" Target="../media/image5.png" Type="http://schemas.openxmlformats.org/officeDocument/2006/relationships/image"/><Relationship Id="rId4" Target="../media/image6.svg" Type="http://schemas.openxmlformats.org/officeDocument/2006/relationships/image"/><Relationship Id="rId5" Target="../media/image7.png" Type="http://schemas.openxmlformats.org/officeDocument/2006/relationships/image"/><Relationship Id="rId6" Target="../media/image8.svg" Type="http://schemas.openxmlformats.org/officeDocument/2006/relationships/image"/></Relationships>
</file>

<file path=ppt/slides/_rels/slide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4.jpeg" Type="http://schemas.openxmlformats.org/officeDocument/2006/relationships/image"/><Relationship Id="rId3" Target="../media/image5.png" Type="http://schemas.openxmlformats.org/officeDocument/2006/relationships/image"/><Relationship Id="rId4" Target="../media/image6.svg" Type="http://schemas.openxmlformats.org/officeDocument/2006/relationships/image"/><Relationship Id="rId5" Target="../media/image7.png" Type="http://schemas.openxmlformats.org/officeDocument/2006/relationships/image"/><Relationship Id="rId6" Target="../media/image8.svg" Type="http://schemas.openxmlformats.org/officeDocument/2006/relationships/image"/><Relationship Id="rId7" Target="../media/image26.png" Type="http://schemas.openxmlformats.org/officeDocument/2006/relationships/image"/></Relationships>
</file>

<file path=ppt/slides/_rels/slide9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4.jpeg" Type="http://schemas.openxmlformats.org/officeDocument/2006/relationships/image"/><Relationship Id="rId3" Target="../media/image5.png" Type="http://schemas.openxmlformats.org/officeDocument/2006/relationships/image"/><Relationship Id="rId4" Target="../media/image6.svg" Type="http://schemas.openxmlformats.org/officeDocument/2006/relationships/image"/><Relationship Id="rId5" Target="../media/image7.png" Type="http://schemas.openxmlformats.org/officeDocument/2006/relationships/image"/><Relationship Id="rId6" Target="../media/image8.svg" Type="http://schemas.openxmlformats.org/officeDocument/2006/relationships/image"/></Relationships>
</file>

<file path=ppt/slides/_rels/slide10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4.jpeg" Type="http://schemas.openxmlformats.org/officeDocument/2006/relationships/image"/><Relationship Id="rId3" Target="../media/image5.png" Type="http://schemas.openxmlformats.org/officeDocument/2006/relationships/image"/><Relationship Id="rId4" Target="../media/image6.svg" Type="http://schemas.openxmlformats.org/officeDocument/2006/relationships/image"/><Relationship Id="rId5" Target="../media/image7.png" Type="http://schemas.openxmlformats.org/officeDocument/2006/relationships/image"/><Relationship Id="rId6" Target="../media/image8.svg" Type="http://schemas.openxmlformats.org/officeDocument/2006/relationships/image"/></Relationships>
</file>

<file path=ppt/slides/_rels/slide1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4.jpeg" Type="http://schemas.openxmlformats.org/officeDocument/2006/relationships/image"/><Relationship Id="rId3" Target="../media/image5.png" Type="http://schemas.openxmlformats.org/officeDocument/2006/relationships/image"/><Relationship Id="rId4" Target="../media/image6.svg" Type="http://schemas.openxmlformats.org/officeDocument/2006/relationships/image"/><Relationship Id="rId5" Target="../media/image7.png" Type="http://schemas.openxmlformats.org/officeDocument/2006/relationships/image"/><Relationship Id="rId6" Target="../media/image8.svg" Type="http://schemas.openxmlformats.org/officeDocument/2006/relationships/image"/><Relationship Id="rId7" Target="../media/image27.png" Type="http://schemas.openxmlformats.org/officeDocument/2006/relationships/image"/></Relationships>
</file>

<file path=ppt/slides/_rels/slide1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4.jpeg" Type="http://schemas.openxmlformats.org/officeDocument/2006/relationships/image"/><Relationship Id="rId3" Target="../media/image5.png" Type="http://schemas.openxmlformats.org/officeDocument/2006/relationships/image"/><Relationship Id="rId4" Target="../media/image6.svg" Type="http://schemas.openxmlformats.org/officeDocument/2006/relationships/image"/><Relationship Id="rId5" Target="../media/image7.png" Type="http://schemas.openxmlformats.org/officeDocument/2006/relationships/image"/><Relationship Id="rId6" Target="../media/image8.svg" Type="http://schemas.openxmlformats.org/officeDocument/2006/relationships/image"/><Relationship Id="rId7" Target="../media/image28.png" Type="http://schemas.openxmlformats.org/officeDocument/2006/relationships/image"/><Relationship Id="rId8" Target="../embeddings/oleObject2.bin" Type="http://schemas.openxmlformats.org/officeDocument/2006/relationships/oleObject"/></Relationships>
</file>

<file path=ppt/slides/_rels/slide1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4.jpeg" Type="http://schemas.openxmlformats.org/officeDocument/2006/relationships/image"/><Relationship Id="rId3" Target="../media/image5.png" Type="http://schemas.openxmlformats.org/officeDocument/2006/relationships/image"/><Relationship Id="rId4" Target="../media/image6.svg" Type="http://schemas.openxmlformats.org/officeDocument/2006/relationships/image"/><Relationship Id="rId5" Target="../media/image7.png" Type="http://schemas.openxmlformats.org/officeDocument/2006/relationships/image"/><Relationship Id="rId6" Target="../media/image8.svg" Type="http://schemas.openxmlformats.org/officeDocument/2006/relationships/image"/><Relationship Id="rId7" Target="../media/image29.png" Type="http://schemas.openxmlformats.org/officeDocument/2006/relationships/image"/></Relationships>
</file>

<file path=ppt/slides/_rels/slide1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4.jpeg" Type="http://schemas.openxmlformats.org/officeDocument/2006/relationships/image"/><Relationship Id="rId3" Target="../media/image5.png" Type="http://schemas.openxmlformats.org/officeDocument/2006/relationships/image"/><Relationship Id="rId4" Target="../media/image6.svg" Type="http://schemas.openxmlformats.org/officeDocument/2006/relationships/image"/><Relationship Id="rId5" Target="../media/image7.png" Type="http://schemas.openxmlformats.org/officeDocument/2006/relationships/image"/><Relationship Id="rId6" Target="../media/image8.svg" Type="http://schemas.openxmlformats.org/officeDocument/2006/relationships/image"/></Relationships>
</file>

<file path=ppt/slides/_rels/slide1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4.jpeg" Type="http://schemas.openxmlformats.org/officeDocument/2006/relationships/image"/><Relationship Id="rId3" Target="../media/image5.png" Type="http://schemas.openxmlformats.org/officeDocument/2006/relationships/image"/><Relationship Id="rId4" Target="../media/image6.svg" Type="http://schemas.openxmlformats.org/officeDocument/2006/relationships/image"/><Relationship Id="rId5" Target="../media/image7.png" Type="http://schemas.openxmlformats.org/officeDocument/2006/relationships/image"/><Relationship Id="rId6" Target="../media/image8.svg" Type="http://schemas.openxmlformats.org/officeDocument/2006/relationships/image"/><Relationship Id="rId7" Target="../media/image30.png" Type="http://schemas.openxmlformats.org/officeDocument/2006/relationships/image"/><Relationship Id="rId8" Target="../embeddings/oleObject3.bin" Type="http://schemas.openxmlformats.org/officeDocument/2006/relationships/oleObject"/></Relationships>
</file>

<file path=ppt/slides/_rels/slide1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4.jpeg" Type="http://schemas.openxmlformats.org/officeDocument/2006/relationships/image"/><Relationship Id="rId3" Target="../media/image5.png" Type="http://schemas.openxmlformats.org/officeDocument/2006/relationships/image"/><Relationship Id="rId4" Target="../media/image6.svg" Type="http://schemas.openxmlformats.org/officeDocument/2006/relationships/image"/><Relationship Id="rId5" Target="../media/image7.png" Type="http://schemas.openxmlformats.org/officeDocument/2006/relationships/image"/><Relationship Id="rId6" Target="../media/image8.svg" Type="http://schemas.openxmlformats.org/officeDocument/2006/relationships/image"/></Relationships>
</file>

<file path=ppt/slides/_rels/slide1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4.jpeg" Type="http://schemas.openxmlformats.org/officeDocument/2006/relationships/image"/><Relationship Id="rId3" Target="../media/image5.png" Type="http://schemas.openxmlformats.org/officeDocument/2006/relationships/image"/><Relationship Id="rId4" Target="../media/image6.svg" Type="http://schemas.openxmlformats.org/officeDocument/2006/relationships/image"/><Relationship Id="rId5" Target="../media/image7.png" Type="http://schemas.openxmlformats.org/officeDocument/2006/relationships/image"/><Relationship Id="rId6" Target="../media/image8.svg" Type="http://schemas.openxmlformats.org/officeDocument/2006/relationships/image"/><Relationship Id="rId7" Target="../media/image31.png" Type="http://schemas.openxmlformats.org/officeDocument/2006/relationships/image"/><Relationship Id="rId8" Target="../media/image32.png" Type="http://schemas.openxmlformats.org/officeDocument/2006/relationships/image"/></Relationships>
</file>

<file path=ppt/slides/_rels/slide1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4.jpeg" Type="http://schemas.openxmlformats.org/officeDocument/2006/relationships/image"/><Relationship Id="rId3" Target="../media/image5.png" Type="http://schemas.openxmlformats.org/officeDocument/2006/relationships/image"/><Relationship Id="rId4" Target="../media/image6.svg" Type="http://schemas.openxmlformats.org/officeDocument/2006/relationships/image"/><Relationship Id="rId5" Target="../media/image7.png" Type="http://schemas.openxmlformats.org/officeDocument/2006/relationships/image"/><Relationship Id="rId6" Target="../media/image8.svg" Type="http://schemas.openxmlformats.org/officeDocument/2006/relationships/image"/><Relationship Id="rId7" Target="../media/image33.png" Type="http://schemas.openxmlformats.org/officeDocument/2006/relationships/image"/><Relationship Id="rId8" Target="../media/image34.png" Type="http://schemas.openxmlformats.org/officeDocument/2006/relationships/image"/></Relationships>
</file>

<file path=ppt/slides/_rels/slide19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4.jpeg" Type="http://schemas.openxmlformats.org/officeDocument/2006/relationships/image"/><Relationship Id="rId3" Target="../media/image5.png" Type="http://schemas.openxmlformats.org/officeDocument/2006/relationships/image"/><Relationship Id="rId4" Target="../media/image6.svg" Type="http://schemas.openxmlformats.org/officeDocument/2006/relationships/image"/><Relationship Id="rId5" Target="../media/image7.png" Type="http://schemas.openxmlformats.org/officeDocument/2006/relationships/image"/><Relationship Id="rId6" Target="../media/image8.svg" Type="http://schemas.openxmlformats.org/officeDocument/2006/relationships/image"/></Relationships>
</file>

<file path=ppt/slides/_rels/slide20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4.jpeg" Type="http://schemas.openxmlformats.org/officeDocument/2006/relationships/image"/><Relationship Id="rId3" Target="../media/image5.png" Type="http://schemas.openxmlformats.org/officeDocument/2006/relationships/image"/><Relationship Id="rId4" Target="../media/image6.svg" Type="http://schemas.openxmlformats.org/officeDocument/2006/relationships/image"/><Relationship Id="rId5" Target="../media/image7.png" Type="http://schemas.openxmlformats.org/officeDocument/2006/relationships/image"/><Relationship Id="rId6" Target="../media/image8.svg" Type="http://schemas.openxmlformats.org/officeDocument/2006/relationships/image"/></Relationships>
</file>

<file path=ppt/slides/_rels/slide2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4.jpeg" Type="http://schemas.openxmlformats.org/officeDocument/2006/relationships/image"/><Relationship Id="rId3" Target="../media/image5.png" Type="http://schemas.openxmlformats.org/officeDocument/2006/relationships/image"/><Relationship Id="rId4" Target="../media/image6.svg" Type="http://schemas.openxmlformats.org/officeDocument/2006/relationships/image"/><Relationship Id="rId5" Target="../media/image7.png" Type="http://schemas.openxmlformats.org/officeDocument/2006/relationships/image"/><Relationship Id="rId6" Target="../media/image8.svg" Type="http://schemas.openxmlformats.org/officeDocument/2006/relationships/image"/><Relationship Id="rId7" Target="../media/image35.png" Type="http://schemas.openxmlformats.org/officeDocument/2006/relationships/image"/></Relationships>
</file>

<file path=ppt/slides/_rels/slide2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4.jpeg" Type="http://schemas.openxmlformats.org/officeDocument/2006/relationships/image"/><Relationship Id="rId3" Target="../media/image5.png" Type="http://schemas.openxmlformats.org/officeDocument/2006/relationships/image"/><Relationship Id="rId4" Target="../media/image6.svg" Type="http://schemas.openxmlformats.org/officeDocument/2006/relationships/image"/><Relationship Id="rId5" Target="../media/image7.png" Type="http://schemas.openxmlformats.org/officeDocument/2006/relationships/image"/><Relationship Id="rId6" Target="../media/image8.svg" Type="http://schemas.openxmlformats.org/officeDocument/2006/relationships/image"/><Relationship Id="rId7" Target="../media/image36.png" Type="http://schemas.openxmlformats.org/officeDocument/2006/relationships/image"/><Relationship Id="rId8" Target="../embeddings/oleObject4.bin" Type="http://schemas.openxmlformats.org/officeDocument/2006/relationships/oleObject"/></Relationships>
</file>

<file path=ppt/slides/_rels/slide2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4.jpeg" Type="http://schemas.openxmlformats.org/officeDocument/2006/relationships/image"/><Relationship Id="rId3" Target="../media/image5.png" Type="http://schemas.openxmlformats.org/officeDocument/2006/relationships/image"/><Relationship Id="rId4" Target="../media/image6.svg" Type="http://schemas.openxmlformats.org/officeDocument/2006/relationships/image"/><Relationship Id="rId5" Target="../media/image7.png" Type="http://schemas.openxmlformats.org/officeDocument/2006/relationships/image"/><Relationship Id="rId6" Target="../media/image8.svg" Type="http://schemas.openxmlformats.org/officeDocument/2006/relationships/image"/><Relationship Id="rId7" Target="../media/image37.png" Type="http://schemas.openxmlformats.org/officeDocument/2006/relationships/image"/><Relationship Id="rId8" Target="../media/image38.png" Type="http://schemas.openxmlformats.org/officeDocument/2006/relationships/image"/></Relationships>
</file>

<file path=ppt/slides/_rels/slide2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4.jpeg" Type="http://schemas.openxmlformats.org/officeDocument/2006/relationships/image"/><Relationship Id="rId3" Target="../media/image5.png" Type="http://schemas.openxmlformats.org/officeDocument/2006/relationships/image"/><Relationship Id="rId4" Target="../media/image6.svg" Type="http://schemas.openxmlformats.org/officeDocument/2006/relationships/image"/><Relationship Id="rId5" Target="../media/image7.png" Type="http://schemas.openxmlformats.org/officeDocument/2006/relationships/image"/><Relationship Id="rId6" Target="../media/image8.svg" Type="http://schemas.openxmlformats.org/officeDocument/2006/relationships/image"/></Relationships>
</file>

<file path=ppt/slides/_rels/slide2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4.jpeg" Type="http://schemas.openxmlformats.org/officeDocument/2006/relationships/image"/><Relationship Id="rId3" Target="../media/image5.png" Type="http://schemas.openxmlformats.org/officeDocument/2006/relationships/image"/><Relationship Id="rId4" Target="../media/image6.svg" Type="http://schemas.openxmlformats.org/officeDocument/2006/relationships/image"/><Relationship Id="rId5" Target="../media/image7.png" Type="http://schemas.openxmlformats.org/officeDocument/2006/relationships/image"/><Relationship Id="rId6" Target="../media/image8.svg" Type="http://schemas.openxmlformats.org/officeDocument/2006/relationships/image"/></Relationships>
</file>

<file path=ppt/slides/_rels/slide2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4.jpeg" Type="http://schemas.openxmlformats.org/officeDocument/2006/relationships/image"/><Relationship Id="rId3" Target="../media/image5.png" Type="http://schemas.openxmlformats.org/officeDocument/2006/relationships/image"/><Relationship Id="rId4" Target="../media/image6.svg" Type="http://schemas.openxmlformats.org/officeDocument/2006/relationships/image"/><Relationship Id="rId5" Target="../media/image7.png" Type="http://schemas.openxmlformats.org/officeDocument/2006/relationships/image"/><Relationship Id="rId6" Target="../media/image8.svg" Type="http://schemas.openxmlformats.org/officeDocument/2006/relationships/image"/><Relationship Id="rId7" Target="../media/image39.png" Type="http://schemas.openxmlformats.org/officeDocument/2006/relationships/image"/></Relationships>
</file>

<file path=ppt/slides/_rels/slide2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4.jpeg" Type="http://schemas.openxmlformats.org/officeDocument/2006/relationships/image"/><Relationship Id="rId3" Target="../media/image5.png" Type="http://schemas.openxmlformats.org/officeDocument/2006/relationships/image"/><Relationship Id="rId4" Target="../media/image6.svg" Type="http://schemas.openxmlformats.org/officeDocument/2006/relationships/image"/><Relationship Id="rId5" Target="../media/image7.png" Type="http://schemas.openxmlformats.org/officeDocument/2006/relationships/image"/><Relationship Id="rId6" Target="../media/image8.svg" Type="http://schemas.openxmlformats.org/officeDocument/2006/relationships/image"/><Relationship Id="rId7" Target="../media/image40.png" Type="http://schemas.openxmlformats.org/officeDocument/2006/relationships/image"/><Relationship Id="rId8" Target="../embeddings/oleObject5.bin" Type="http://schemas.openxmlformats.org/officeDocument/2006/relationships/oleObject"/></Relationships>
</file>

<file path=ppt/slides/_rels/slide2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4.jpeg" Type="http://schemas.openxmlformats.org/officeDocument/2006/relationships/image"/><Relationship Id="rId3" Target="../media/image5.png" Type="http://schemas.openxmlformats.org/officeDocument/2006/relationships/image"/><Relationship Id="rId4" Target="../media/image6.svg" Type="http://schemas.openxmlformats.org/officeDocument/2006/relationships/image"/><Relationship Id="rId5" Target="../media/image7.png" Type="http://schemas.openxmlformats.org/officeDocument/2006/relationships/image"/><Relationship Id="rId6" Target="../media/image8.svg" Type="http://schemas.openxmlformats.org/officeDocument/2006/relationships/image"/></Relationships>
</file>

<file path=ppt/slides/_rels/slide29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4.jpeg" Type="http://schemas.openxmlformats.org/officeDocument/2006/relationships/image"/><Relationship Id="rId3" Target="../media/image5.png" Type="http://schemas.openxmlformats.org/officeDocument/2006/relationships/image"/><Relationship Id="rId4" Target="../media/image6.svg" Type="http://schemas.openxmlformats.org/officeDocument/2006/relationships/image"/><Relationship Id="rId5" Target="../media/image7.png" Type="http://schemas.openxmlformats.org/officeDocument/2006/relationships/image"/><Relationship Id="rId6" Target="../media/image8.svg" Type="http://schemas.openxmlformats.org/officeDocument/2006/relationships/image"/></Relationships>
</file>

<file path=ppt/slides/_rels/slide30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4.jpeg" Type="http://schemas.openxmlformats.org/officeDocument/2006/relationships/image"/><Relationship Id="rId3" Target="../media/image5.png" Type="http://schemas.openxmlformats.org/officeDocument/2006/relationships/image"/><Relationship Id="rId4" Target="../media/image6.svg" Type="http://schemas.openxmlformats.org/officeDocument/2006/relationships/image"/><Relationship Id="rId5" Target="../media/image7.png" Type="http://schemas.openxmlformats.org/officeDocument/2006/relationships/image"/><Relationship Id="rId6" Target="../media/image8.svg" Type="http://schemas.openxmlformats.org/officeDocument/2006/relationships/image"/><Relationship Id="rId7" Target="../media/image41.png" Type="http://schemas.openxmlformats.org/officeDocument/2006/relationships/image"/><Relationship Id="rId8" Target="../media/image42.png" Type="http://schemas.openxmlformats.org/officeDocument/2006/relationships/image"/></Relationships>
</file>

<file path=ppt/slides/_rels/slide3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4.jpeg" Type="http://schemas.openxmlformats.org/officeDocument/2006/relationships/image"/><Relationship Id="rId3" Target="../media/image5.png" Type="http://schemas.openxmlformats.org/officeDocument/2006/relationships/image"/><Relationship Id="rId4" Target="../media/image6.svg" Type="http://schemas.openxmlformats.org/officeDocument/2006/relationships/image"/><Relationship Id="rId5" Target="../media/image7.png" Type="http://schemas.openxmlformats.org/officeDocument/2006/relationships/image"/><Relationship Id="rId6" Target="../media/image8.svg" Type="http://schemas.openxmlformats.org/officeDocument/2006/relationships/image"/></Relationships>
</file>

<file path=ppt/slides/_rels/slide3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4.jpeg" Type="http://schemas.openxmlformats.org/officeDocument/2006/relationships/image"/><Relationship Id="rId3" Target="../media/image5.png" Type="http://schemas.openxmlformats.org/officeDocument/2006/relationships/image"/><Relationship Id="rId4" Target="../media/image6.svg" Type="http://schemas.openxmlformats.org/officeDocument/2006/relationships/image"/><Relationship Id="rId5" Target="../media/image7.png" Type="http://schemas.openxmlformats.org/officeDocument/2006/relationships/image"/><Relationship Id="rId6" Target="../media/image8.svg" Type="http://schemas.openxmlformats.org/officeDocument/2006/relationships/image"/></Relationships>
</file>

<file path=ppt/slides/_rels/slide3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4.jpeg" Type="http://schemas.openxmlformats.org/officeDocument/2006/relationships/image"/><Relationship Id="rId3" Target="../media/image5.png" Type="http://schemas.openxmlformats.org/officeDocument/2006/relationships/image"/><Relationship Id="rId4" Target="../media/image6.svg" Type="http://schemas.openxmlformats.org/officeDocument/2006/relationships/image"/><Relationship Id="rId5" Target="../media/image7.png" Type="http://schemas.openxmlformats.org/officeDocument/2006/relationships/image"/><Relationship Id="rId6" Target="../media/image8.svg" Type="http://schemas.openxmlformats.org/officeDocument/2006/relationships/image"/><Relationship Id="rId7" Target="../media/image43.png" Type="http://schemas.openxmlformats.org/officeDocument/2006/relationships/image"/></Relationships>
</file>

<file path=ppt/slides/_rels/slide3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4.jpeg" Type="http://schemas.openxmlformats.org/officeDocument/2006/relationships/image"/><Relationship Id="rId3" Target="../media/image5.png" Type="http://schemas.openxmlformats.org/officeDocument/2006/relationships/image"/><Relationship Id="rId4" Target="../media/image6.svg" Type="http://schemas.openxmlformats.org/officeDocument/2006/relationships/image"/><Relationship Id="rId5" Target="../media/image7.png" Type="http://schemas.openxmlformats.org/officeDocument/2006/relationships/image"/><Relationship Id="rId6" Target="../media/image8.svg" Type="http://schemas.openxmlformats.org/officeDocument/2006/relationships/image"/><Relationship Id="rId7" Target="../media/image44.png" Type="http://schemas.openxmlformats.org/officeDocument/2006/relationships/image"/><Relationship Id="rId8" Target="../embeddings/oleObject6.bin" Type="http://schemas.openxmlformats.org/officeDocument/2006/relationships/oleObject"/></Relationships>
</file>

<file path=ppt/slides/_rels/slide3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4.jpeg" Type="http://schemas.openxmlformats.org/officeDocument/2006/relationships/image"/><Relationship Id="rId3" Target="../media/image5.png" Type="http://schemas.openxmlformats.org/officeDocument/2006/relationships/image"/><Relationship Id="rId4" Target="../media/image6.svg" Type="http://schemas.openxmlformats.org/officeDocument/2006/relationships/image"/><Relationship Id="rId5" Target="../media/image7.png" Type="http://schemas.openxmlformats.org/officeDocument/2006/relationships/image"/><Relationship Id="rId6" Target="../media/image8.svg" Type="http://schemas.openxmlformats.org/officeDocument/2006/relationships/image"/></Relationships>
</file>

<file path=ppt/slides/_rels/slide3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4.jpeg" Type="http://schemas.openxmlformats.org/officeDocument/2006/relationships/image"/><Relationship Id="rId3" Target="../media/image5.png" Type="http://schemas.openxmlformats.org/officeDocument/2006/relationships/image"/><Relationship Id="rId4" Target="../media/image6.svg" Type="http://schemas.openxmlformats.org/officeDocument/2006/relationships/image"/><Relationship Id="rId5" Target="../media/image7.png" Type="http://schemas.openxmlformats.org/officeDocument/2006/relationships/image"/><Relationship Id="rId6" Target="../media/image8.svg" Type="http://schemas.openxmlformats.org/officeDocument/2006/relationships/image"/></Relationships>
</file>

<file path=ppt/slides/_rels/slide3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4.jpeg" Type="http://schemas.openxmlformats.org/officeDocument/2006/relationships/image"/><Relationship Id="rId3" Target="../media/image5.png" Type="http://schemas.openxmlformats.org/officeDocument/2006/relationships/image"/><Relationship Id="rId4" Target="../media/image6.svg" Type="http://schemas.openxmlformats.org/officeDocument/2006/relationships/image"/><Relationship Id="rId5" Target="../media/image7.png" Type="http://schemas.openxmlformats.org/officeDocument/2006/relationships/image"/><Relationship Id="rId6" Target="../media/image8.svg" Type="http://schemas.openxmlformats.org/officeDocument/2006/relationships/image"/><Relationship Id="rId7" Target="../media/image45.png" Type="http://schemas.openxmlformats.org/officeDocument/2006/relationships/image"/><Relationship Id="rId8" Target="../media/image46.png" Type="http://schemas.openxmlformats.org/officeDocument/2006/relationships/image"/></Relationships>
</file>

<file path=ppt/slides/_rels/slide3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4.jpeg" Type="http://schemas.openxmlformats.org/officeDocument/2006/relationships/image"/><Relationship Id="rId3" Target="../media/image5.png" Type="http://schemas.openxmlformats.org/officeDocument/2006/relationships/image"/><Relationship Id="rId4" Target="../media/image6.svg" Type="http://schemas.openxmlformats.org/officeDocument/2006/relationships/image"/><Relationship Id="rId5" Target="../media/image7.png" Type="http://schemas.openxmlformats.org/officeDocument/2006/relationships/image"/><Relationship Id="rId6" Target="../media/image8.svg" Type="http://schemas.openxmlformats.org/officeDocument/2006/relationships/image"/></Relationships>
</file>

<file path=ppt/slides/_rels/slide39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4.jpeg" Type="http://schemas.openxmlformats.org/officeDocument/2006/relationships/image"/><Relationship Id="rId3" Target="../media/image5.png" Type="http://schemas.openxmlformats.org/officeDocument/2006/relationships/image"/><Relationship Id="rId4" Target="../media/image6.svg" Type="http://schemas.openxmlformats.org/officeDocument/2006/relationships/image"/><Relationship Id="rId5" Target="../media/image7.png" Type="http://schemas.openxmlformats.org/officeDocument/2006/relationships/image"/><Relationship Id="rId6" Target="../media/image8.svg" Type="http://schemas.openxmlformats.org/officeDocument/2006/relationships/image"/></Relationships>
</file>

<file path=ppt/slides/_rels/slide40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4.jpeg" Type="http://schemas.openxmlformats.org/officeDocument/2006/relationships/image"/><Relationship Id="rId3" Target="../media/image5.png" Type="http://schemas.openxmlformats.org/officeDocument/2006/relationships/image"/><Relationship Id="rId4" Target="../media/image6.svg" Type="http://schemas.openxmlformats.org/officeDocument/2006/relationships/image"/><Relationship Id="rId5" Target="../media/image7.png" Type="http://schemas.openxmlformats.org/officeDocument/2006/relationships/image"/><Relationship Id="rId6" Target="../media/image8.svg" Type="http://schemas.openxmlformats.org/officeDocument/2006/relationships/image"/></Relationships>
</file>

<file path=ppt/slides/_rels/slide4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4.jpeg" Type="http://schemas.openxmlformats.org/officeDocument/2006/relationships/image"/><Relationship Id="rId3" Target="../media/image5.png" Type="http://schemas.openxmlformats.org/officeDocument/2006/relationships/image"/><Relationship Id="rId4" Target="../media/image6.svg" Type="http://schemas.openxmlformats.org/officeDocument/2006/relationships/image"/><Relationship Id="rId5" Target="../media/image7.png" Type="http://schemas.openxmlformats.org/officeDocument/2006/relationships/image"/><Relationship Id="rId6" Target="../media/image8.svg" Type="http://schemas.openxmlformats.org/officeDocument/2006/relationships/image"/></Relationships>
</file>

<file path=ppt/slides/_rels/slide4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4.jpeg" Type="http://schemas.openxmlformats.org/officeDocument/2006/relationships/image"/><Relationship Id="rId3" Target="../media/image5.png" Type="http://schemas.openxmlformats.org/officeDocument/2006/relationships/image"/><Relationship Id="rId4" Target="../media/image6.svg" Type="http://schemas.openxmlformats.org/officeDocument/2006/relationships/image"/><Relationship Id="rId5" Target="../media/image7.png" Type="http://schemas.openxmlformats.org/officeDocument/2006/relationships/image"/><Relationship Id="rId6" Target="../media/image8.svg" Type="http://schemas.openxmlformats.org/officeDocument/2006/relationships/image"/><Relationship Id="rId7" Target="../media/image47.png" Type="http://schemas.openxmlformats.org/officeDocument/2006/relationships/image"/><Relationship Id="rId8" Target="../media/image48.svg" Type="http://schemas.openxmlformats.org/officeDocument/2006/relationships/image"/></Relationships>
</file>

<file path=ppt/slides/_rels/slide4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4.jpeg" Type="http://schemas.openxmlformats.org/officeDocument/2006/relationships/image"/><Relationship Id="rId3" Target="../media/image5.png" Type="http://schemas.openxmlformats.org/officeDocument/2006/relationships/image"/><Relationship Id="rId4" Target="../media/image6.svg" Type="http://schemas.openxmlformats.org/officeDocument/2006/relationships/image"/><Relationship Id="rId5" Target="../media/image7.png" Type="http://schemas.openxmlformats.org/officeDocument/2006/relationships/image"/><Relationship Id="rId6" Target="../media/image8.svg" Type="http://schemas.openxmlformats.org/officeDocument/2006/relationships/image"/></Relationships>
</file>

<file path=ppt/slides/_rels/slide4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4.jpeg" Type="http://schemas.openxmlformats.org/officeDocument/2006/relationships/image"/><Relationship Id="rId3" Target="../media/image5.png" Type="http://schemas.openxmlformats.org/officeDocument/2006/relationships/image"/><Relationship Id="rId4" Target="../media/image6.svg" Type="http://schemas.openxmlformats.org/officeDocument/2006/relationships/image"/><Relationship Id="rId5" Target="../media/image7.png" Type="http://schemas.openxmlformats.org/officeDocument/2006/relationships/image"/><Relationship Id="rId6" Target="../media/image8.svg" Type="http://schemas.openxmlformats.org/officeDocument/2006/relationships/image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3873516" y="2588951"/>
            <a:ext cx="11483566" cy="2501531"/>
            <a:chOff x="0" y="0"/>
            <a:chExt cx="18288000" cy="398378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18288000" cy="3983780"/>
            </a:xfrm>
            <a:custGeom>
              <a:avLst/>
              <a:gdLst/>
              <a:ahLst/>
              <a:cxnLst/>
              <a:rect r="r" b="b" t="t" l="l"/>
              <a:pathLst>
                <a:path h="3983780" w="18288000">
                  <a:moveTo>
                    <a:pt x="0" y="0"/>
                  </a:moveTo>
                  <a:lnTo>
                    <a:pt x="18288000" y="0"/>
                  </a:lnTo>
                  <a:lnTo>
                    <a:pt x="18288000" y="3983780"/>
                  </a:lnTo>
                  <a:lnTo>
                    <a:pt x="0" y="3983780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0" y="-47625"/>
              <a:ext cx="18288000" cy="4031405"/>
            </a:xfrm>
            <a:prstGeom prst="rect">
              <a:avLst/>
            </a:prstGeom>
          </p:spPr>
          <p:txBody>
            <a:bodyPr anchor="b" rtlCol="false" tIns="0" lIns="0" bIns="0" rIns="0"/>
            <a:lstStyle/>
            <a:p>
              <a:pPr algn="ctr">
                <a:lnSpc>
                  <a:spcPts val="5724"/>
                </a:lnSpc>
              </a:pPr>
              <a:r>
                <a:rPr lang="en-US" sz="5300">
                  <a:solidFill>
                    <a:srgbClr val="000000"/>
                  </a:solidFill>
                  <a:latin typeface="Times New Roman MT"/>
                  <a:ea typeface="Times New Roman MT"/>
                  <a:cs typeface="Times New Roman MT"/>
                  <a:sym typeface="Times New Roman MT"/>
                </a:rPr>
                <a:t>Project Title: Customer Preference and Trend Analytics for Retail Sector</a:t>
              </a:r>
            </a:p>
            <a:p>
              <a:pPr algn="ctr">
                <a:lnSpc>
                  <a:spcPts val="5724"/>
                </a:lnSpc>
              </a:pPr>
              <a:r>
                <a:rPr lang="en-US" sz="5300">
                  <a:solidFill>
                    <a:srgbClr val="000000"/>
                  </a:solidFill>
                  <a:latin typeface="Times New Roman MT"/>
                  <a:ea typeface="Times New Roman MT"/>
                  <a:cs typeface="Times New Roman MT"/>
                  <a:sym typeface="Times New Roman MT"/>
                </a:rPr>
                <a:t>(July 2026 to November 2026)</a:t>
              </a:r>
            </a:p>
          </p:txBody>
        </p:sp>
      </p:grpSp>
      <p:grpSp>
        <p:nvGrpSpPr>
          <p:cNvPr name="Group 5" id="5"/>
          <p:cNvGrpSpPr>
            <a:grpSpLocks noChangeAspect="true"/>
          </p:cNvGrpSpPr>
          <p:nvPr/>
        </p:nvGrpSpPr>
        <p:grpSpPr>
          <a:xfrm rot="0">
            <a:off x="-4762" y="10395"/>
            <a:ext cx="2246642" cy="1654969"/>
            <a:chOff x="0" y="0"/>
            <a:chExt cx="2995522" cy="2206626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2995549" cy="2206625"/>
            </a:xfrm>
            <a:custGeom>
              <a:avLst/>
              <a:gdLst/>
              <a:ahLst/>
              <a:cxnLst/>
              <a:rect r="r" b="b" t="t" l="l"/>
              <a:pathLst>
                <a:path h="2206625" w="2995549">
                  <a:moveTo>
                    <a:pt x="0" y="0"/>
                  </a:moveTo>
                  <a:lnTo>
                    <a:pt x="2995549" y="0"/>
                  </a:lnTo>
                  <a:lnTo>
                    <a:pt x="2995549" y="2206625"/>
                  </a:lnTo>
                  <a:lnTo>
                    <a:pt x="0" y="2206625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0" t="0" r="0" b="0"/>
              </a:stretch>
            </a:blipFill>
          </p:spPr>
        </p:sp>
      </p:grpSp>
      <p:grpSp>
        <p:nvGrpSpPr>
          <p:cNvPr name="Group 7" id="7"/>
          <p:cNvGrpSpPr>
            <a:grpSpLocks noChangeAspect="true"/>
          </p:cNvGrpSpPr>
          <p:nvPr/>
        </p:nvGrpSpPr>
        <p:grpSpPr>
          <a:xfrm rot="0">
            <a:off x="13343023" y="310476"/>
            <a:ext cx="4619900" cy="1061931"/>
            <a:chOff x="0" y="0"/>
            <a:chExt cx="6159866" cy="1415908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6159881" cy="1415923"/>
            </a:xfrm>
            <a:custGeom>
              <a:avLst/>
              <a:gdLst/>
              <a:ahLst/>
              <a:cxnLst/>
              <a:rect r="r" b="b" t="t" l="l"/>
              <a:pathLst>
                <a:path h="1415923" w="6159881">
                  <a:moveTo>
                    <a:pt x="0" y="0"/>
                  </a:moveTo>
                  <a:lnTo>
                    <a:pt x="6159881" y="0"/>
                  </a:lnTo>
                  <a:lnTo>
                    <a:pt x="6159881" y="1415923"/>
                  </a:lnTo>
                  <a:lnTo>
                    <a:pt x="0" y="141592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-96" t="0" r="-95" b="1"/>
              </a:stretch>
            </a:blipFill>
          </p:spPr>
        </p:sp>
      </p:grpSp>
      <p:sp>
        <p:nvSpPr>
          <p:cNvPr name="AutoShape 9" id="9"/>
          <p:cNvSpPr/>
          <p:nvPr/>
        </p:nvSpPr>
        <p:spPr>
          <a:xfrm rot="7147">
            <a:off x="2266935" y="1645444"/>
            <a:ext cx="13744605" cy="0"/>
          </a:xfrm>
          <a:prstGeom prst="line">
            <a:avLst/>
          </a:prstGeom>
          <a:ln cap="rnd" w="19050">
            <a:solidFill>
              <a:srgbClr val="4F81BD"/>
            </a:solidFill>
            <a:prstDash val="solid"/>
            <a:headEnd type="none" len="sm" w="sm"/>
            <a:tailEnd type="none" len="sm" w="sm"/>
          </a:ln>
        </p:spPr>
      </p:sp>
      <p:grpSp>
        <p:nvGrpSpPr>
          <p:cNvPr name="Group 10" id="10"/>
          <p:cNvGrpSpPr/>
          <p:nvPr/>
        </p:nvGrpSpPr>
        <p:grpSpPr>
          <a:xfrm rot="0">
            <a:off x="-9525" y="9767888"/>
            <a:ext cx="18307050" cy="540545"/>
            <a:chOff x="0" y="0"/>
            <a:chExt cx="24409400" cy="720726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12700" y="12700"/>
              <a:ext cx="24384000" cy="695325"/>
            </a:xfrm>
            <a:custGeom>
              <a:avLst/>
              <a:gdLst/>
              <a:ahLst/>
              <a:cxnLst/>
              <a:rect r="r" b="b" t="t" l="l"/>
              <a:pathLst>
                <a:path h="695325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695325"/>
                  </a:lnTo>
                  <a:lnTo>
                    <a:pt x="0" y="695325"/>
                  </a:lnTo>
                  <a:close/>
                </a:path>
              </a:pathLst>
            </a:custGeom>
            <a:solidFill>
              <a:srgbClr val="4F81BD"/>
            </a:solidFill>
          </p:spPr>
        </p:sp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24409400" cy="720725"/>
            </a:xfrm>
            <a:custGeom>
              <a:avLst/>
              <a:gdLst/>
              <a:ahLst/>
              <a:cxnLst/>
              <a:rect r="r" b="b" t="t" l="l"/>
              <a:pathLst>
                <a:path h="720725" w="24409400">
                  <a:moveTo>
                    <a:pt x="12700" y="0"/>
                  </a:moveTo>
                  <a:lnTo>
                    <a:pt x="24396700" y="0"/>
                  </a:lnTo>
                  <a:cubicBezTo>
                    <a:pt x="24403686" y="0"/>
                    <a:pt x="24409400" y="5715"/>
                    <a:pt x="24409400" y="12700"/>
                  </a:cubicBezTo>
                  <a:lnTo>
                    <a:pt x="24409400" y="708025"/>
                  </a:lnTo>
                  <a:cubicBezTo>
                    <a:pt x="24409400" y="715010"/>
                    <a:pt x="24403686" y="720725"/>
                    <a:pt x="24396700" y="720725"/>
                  </a:cubicBezTo>
                  <a:lnTo>
                    <a:pt x="12700" y="720725"/>
                  </a:lnTo>
                  <a:cubicBezTo>
                    <a:pt x="5715" y="720725"/>
                    <a:pt x="0" y="715010"/>
                    <a:pt x="0" y="708025"/>
                  </a:cubicBezTo>
                  <a:lnTo>
                    <a:pt x="0" y="12700"/>
                  </a:lnTo>
                  <a:cubicBezTo>
                    <a:pt x="0" y="5715"/>
                    <a:pt x="5715" y="0"/>
                    <a:pt x="12700" y="0"/>
                  </a:cubicBezTo>
                  <a:moveTo>
                    <a:pt x="12700" y="25400"/>
                  </a:moveTo>
                  <a:lnTo>
                    <a:pt x="12700" y="12700"/>
                  </a:lnTo>
                  <a:lnTo>
                    <a:pt x="25400" y="12700"/>
                  </a:lnTo>
                  <a:lnTo>
                    <a:pt x="25400" y="708025"/>
                  </a:lnTo>
                  <a:lnTo>
                    <a:pt x="12700" y="708025"/>
                  </a:lnTo>
                  <a:lnTo>
                    <a:pt x="12700" y="695325"/>
                  </a:lnTo>
                  <a:lnTo>
                    <a:pt x="24396700" y="695325"/>
                  </a:lnTo>
                  <a:lnTo>
                    <a:pt x="24396700" y="708025"/>
                  </a:lnTo>
                  <a:lnTo>
                    <a:pt x="24384000" y="708025"/>
                  </a:lnTo>
                  <a:lnTo>
                    <a:pt x="24384000" y="12700"/>
                  </a:lnTo>
                  <a:lnTo>
                    <a:pt x="24396700" y="12700"/>
                  </a:lnTo>
                  <a:lnTo>
                    <a:pt x="24396700" y="25400"/>
                  </a:lnTo>
                  <a:lnTo>
                    <a:pt x="12700" y="25400"/>
                  </a:lnTo>
                  <a:close/>
                </a:path>
              </a:pathLst>
            </a:custGeom>
            <a:solidFill>
              <a:srgbClr val="385D8A"/>
            </a:solidFill>
          </p:spPr>
        </p:sp>
      </p:grpSp>
      <p:sp>
        <p:nvSpPr>
          <p:cNvPr name="Freeform 13" id="13"/>
          <p:cNvSpPr/>
          <p:nvPr/>
        </p:nvSpPr>
        <p:spPr>
          <a:xfrm flipH="false" flipV="false" rot="0">
            <a:off x="3493371" y="4913262"/>
            <a:ext cx="11301259" cy="1313771"/>
          </a:xfrm>
          <a:custGeom>
            <a:avLst/>
            <a:gdLst/>
            <a:ahLst/>
            <a:cxnLst/>
            <a:rect r="r" b="b" t="t" l="l"/>
            <a:pathLst>
              <a:path h="1313771" w="11301259">
                <a:moveTo>
                  <a:pt x="0" y="0"/>
                </a:moveTo>
                <a:lnTo>
                  <a:pt x="11301258" y="0"/>
                </a:lnTo>
                <a:lnTo>
                  <a:pt x="11301258" y="1313771"/>
                </a:lnTo>
                <a:lnTo>
                  <a:pt x="0" y="1313771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TextBox 14" id="14"/>
          <p:cNvSpPr txBox="true"/>
          <p:nvPr/>
        </p:nvSpPr>
        <p:spPr>
          <a:xfrm rot="0">
            <a:off x="7169748" y="6855906"/>
            <a:ext cx="4256234" cy="56919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536"/>
              </a:lnSpc>
            </a:pPr>
            <a:r>
              <a:rPr lang="en-US" sz="4200" b="true">
                <a:solidFill>
                  <a:srgbClr val="1F497D"/>
                </a:solidFill>
                <a:latin typeface="Times New Roman MT Bold"/>
                <a:ea typeface="Times New Roman MT Bold"/>
                <a:cs typeface="Times New Roman MT Bold"/>
                <a:sym typeface="Times New Roman MT Bold"/>
              </a:rPr>
              <a:t>External Guide(s)</a:t>
            </a:r>
          </a:p>
        </p:txBody>
      </p:sp>
      <p:sp>
        <p:nvSpPr>
          <p:cNvPr name="TextBox 15" id="15"/>
          <p:cNvSpPr txBox="true"/>
          <p:nvPr/>
        </p:nvSpPr>
        <p:spPr>
          <a:xfrm rot="0">
            <a:off x="11874762" y="6833557"/>
            <a:ext cx="4072413" cy="58134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536"/>
              </a:lnSpc>
            </a:pPr>
            <a:r>
              <a:rPr lang="en-US" sz="4200" b="true">
                <a:solidFill>
                  <a:srgbClr val="1F497D"/>
                </a:solidFill>
                <a:latin typeface="Times New Roman MT Bold"/>
                <a:ea typeface="Times New Roman MT Bold"/>
                <a:cs typeface="Times New Roman MT Bold"/>
                <a:sym typeface="Times New Roman MT Bold"/>
              </a:rPr>
              <a:t>Internal Guide(s)</a:t>
            </a:r>
          </a:p>
        </p:txBody>
      </p:sp>
      <p:sp>
        <p:nvSpPr>
          <p:cNvPr name="TextBox 16" id="16"/>
          <p:cNvSpPr txBox="true"/>
          <p:nvPr/>
        </p:nvSpPr>
        <p:spPr>
          <a:xfrm rot="0">
            <a:off x="2518842" y="6843753"/>
            <a:ext cx="4072413" cy="58134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536"/>
              </a:lnSpc>
            </a:pPr>
            <a:r>
              <a:rPr lang="en-US" sz="4200" b="true">
                <a:solidFill>
                  <a:srgbClr val="1F497D"/>
                </a:solidFill>
                <a:latin typeface="Times New Roman MT Bold"/>
                <a:ea typeface="Times New Roman MT Bold"/>
                <a:cs typeface="Times New Roman MT Bold"/>
                <a:sym typeface="Times New Roman MT Bold"/>
              </a:rPr>
              <a:t>Prepared By</a:t>
            </a:r>
          </a:p>
        </p:txBody>
      </p:sp>
      <p:sp>
        <p:nvSpPr>
          <p:cNvPr name="TextBox 17" id="17"/>
          <p:cNvSpPr txBox="true"/>
          <p:nvPr/>
        </p:nvSpPr>
        <p:spPr>
          <a:xfrm rot="0">
            <a:off x="2244507" y="132567"/>
            <a:ext cx="11159198" cy="77911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040"/>
              </a:lnSpc>
            </a:pPr>
            <a:r>
              <a:rPr lang="en-US" sz="4200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CHANDUBHAI S PATEL INSTITUTE OF TECHNOLOGY</a:t>
            </a:r>
          </a:p>
        </p:txBody>
      </p:sp>
      <p:sp>
        <p:nvSpPr>
          <p:cNvPr name="TextBox 18" id="18"/>
          <p:cNvSpPr txBox="true"/>
          <p:nvPr/>
        </p:nvSpPr>
        <p:spPr>
          <a:xfrm rot="0">
            <a:off x="11882685" y="7523586"/>
            <a:ext cx="4256475" cy="12858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240"/>
              </a:lnSpc>
            </a:pPr>
            <a:r>
              <a:rPr lang="en-US" sz="2700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Prof. Akshita Kadam</a:t>
            </a:r>
          </a:p>
          <a:p>
            <a:pPr algn="ctr">
              <a:lnSpc>
                <a:spcPts val="3240"/>
              </a:lnSpc>
            </a:pPr>
            <a:r>
              <a:rPr lang="en-US" sz="2700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Assistant Professor</a:t>
            </a:r>
          </a:p>
          <a:p>
            <a:pPr algn="ctr">
              <a:lnSpc>
                <a:spcPts val="3240"/>
              </a:lnSpc>
            </a:pPr>
            <a:r>
              <a:rPr lang="en-US" sz="2700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CSPIT-CSE</a:t>
            </a:r>
          </a:p>
        </p:txBody>
      </p:sp>
      <p:sp>
        <p:nvSpPr>
          <p:cNvPr name="TextBox 19" id="19"/>
          <p:cNvSpPr txBox="true"/>
          <p:nvPr/>
        </p:nvSpPr>
        <p:spPr>
          <a:xfrm rot="0">
            <a:off x="7169748" y="7567143"/>
            <a:ext cx="3984675" cy="12858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240"/>
              </a:lnSpc>
            </a:pPr>
            <a:r>
              <a:rPr lang="en-US" sz="2700">
                <a:solidFill>
                  <a:srgbClr val="000000"/>
                </a:solidFill>
                <a:latin typeface="Times New Roman MT"/>
                <a:ea typeface="Times New Roman MT"/>
                <a:cs typeface="Times New Roman MT"/>
                <a:sym typeface="Times New Roman MT"/>
              </a:rPr>
              <a:t>Mr. Divyang Shah</a:t>
            </a:r>
          </a:p>
          <a:p>
            <a:pPr algn="ctr">
              <a:lnSpc>
                <a:spcPts val="3240"/>
              </a:lnSpc>
            </a:pPr>
            <a:r>
              <a:rPr lang="en-US" sz="2700">
                <a:solidFill>
                  <a:srgbClr val="000000"/>
                </a:solidFill>
                <a:latin typeface="Times New Roman MT"/>
                <a:ea typeface="Times New Roman MT"/>
                <a:cs typeface="Times New Roman MT"/>
                <a:sym typeface="Times New Roman MT"/>
              </a:rPr>
              <a:t>CEO and Founder</a:t>
            </a:r>
          </a:p>
          <a:p>
            <a:pPr algn="ctr">
              <a:lnSpc>
                <a:spcPts val="3240"/>
              </a:lnSpc>
            </a:pPr>
            <a:r>
              <a:rPr lang="en-US" sz="2700">
                <a:solidFill>
                  <a:srgbClr val="000000"/>
                </a:solidFill>
                <a:latin typeface="Times New Roman MT"/>
                <a:ea typeface="Times New Roman MT"/>
                <a:cs typeface="Times New Roman MT"/>
                <a:sym typeface="Times New Roman MT"/>
              </a:rPr>
              <a:t>Electrosoft</a:t>
            </a:r>
          </a:p>
        </p:txBody>
      </p:sp>
      <p:sp>
        <p:nvSpPr>
          <p:cNvPr name="TextBox 20" id="20"/>
          <p:cNvSpPr txBox="true"/>
          <p:nvPr/>
        </p:nvSpPr>
        <p:spPr>
          <a:xfrm rot="0">
            <a:off x="2518842" y="7523586"/>
            <a:ext cx="3984675" cy="4667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240"/>
              </a:lnSpc>
            </a:pPr>
            <a:r>
              <a:rPr lang="en-US" sz="2700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Pranav Patel(22cs060)</a:t>
            </a:r>
          </a:p>
        </p:txBody>
      </p:sp>
      <p:sp>
        <p:nvSpPr>
          <p:cNvPr name="TextBox 21" id="21"/>
          <p:cNvSpPr txBox="true"/>
          <p:nvPr/>
        </p:nvSpPr>
        <p:spPr>
          <a:xfrm rot="0">
            <a:off x="2248581" y="908683"/>
            <a:ext cx="11159198" cy="66773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320"/>
              </a:lnSpc>
            </a:pPr>
            <a:r>
              <a:rPr lang="en-US" sz="3600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DEPARTMENT OF COMPUTER SCIENCE AND ENGINEERING</a:t>
            </a:r>
          </a:p>
        </p:txBody>
      </p:sp>
      <p:sp>
        <p:nvSpPr>
          <p:cNvPr name="TextBox 22" id="22"/>
          <p:cNvSpPr txBox="true"/>
          <p:nvPr/>
        </p:nvSpPr>
        <p:spPr>
          <a:xfrm rot="0">
            <a:off x="2518842" y="1715544"/>
            <a:ext cx="13558047" cy="99235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6480"/>
              </a:lnSpc>
            </a:pPr>
            <a:r>
              <a:rPr lang="en-US" sz="5400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CSE401- PROJECT MINOR</a:t>
            </a:r>
          </a:p>
        </p:txBody>
      </p: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2204" t="0" r="-2204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-1584626" y="-740607"/>
            <a:ext cx="4931542" cy="3882468"/>
          </a:xfrm>
          <a:custGeom>
            <a:avLst/>
            <a:gdLst/>
            <a:ahLst/>
            <a:cxnLst/>
            <a:rect r="r" b="b" t="t" l="l"/>
            <a:pathLst>
              <a:path h="3882468" w="4931542">
                <a:moveTo>
                  <a:pt x="0" y="0"/>
                </a:moveTo>
                <a:lnTo>
                  <a:pt x="4931542" y="0"/>
                </a:lnTo>
                <a:lnTo>
                  <a:pt x="4931542" y="3882469"/>
                </a:lnTo>
                <a:lnTo>
                  <a:pt x="0" y="3882469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true" flipV="true" rot="0">
            <a:off x="14645974" y="7042697"/>
            <a:ext cx="5226651" cy="4114800"/>
          </a:xfrm>
          <a:custGeom>
            <a:avLst/>
            <a:gdLst/>
            <a:ahLst/>
            <a:cxnLst/>
            <a:rect r="r" b="b" t="t" l="l"/>
            <a:pathLst>
              <a:path h="4114800" w="5226651">
                <a:moveTo>
                  <a:pt x="5226652" y="4114800"/>
                </a:moveTo>
                <a:lnTo>
                  <a:pt x="0" y="4114800"/>
                </a:lnTo>
                <a:lnTo>
                  <a:pt x="0" y="0"/>
                </a:lnTo>
                <a:lnTo>
                  <a:pt x="5226652" y="0"/>
                </a:lnTo>
                <a:lnTo>
                  <a:pt x="5226652" y="411480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0">
            <a:off x="15729343" y="-740607"/>
            <a:ext cx="3059915" cy="4114800"/>
          </a:xfrm>
          <a:custGeom>
            <a:avLst/>
            <a:gdLst/>
            <a:ahLst/>
            <a:cxnLst/>
            <a:rect r="r" b="b" t="t" l="l"/>
            <a:pathLst>
              <a:path h="4114800" w="3059915">
                <a:moveTo>
                  <a:pt x="0" y="0"/>
                </a:moveTo>
                <a:lnTo>
                  <a:pt x="3059914" y="0"/>
                </a:lnTo>
                <a:lnTo>
                  <a:pt x="3059914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0">
            <a:off x="13447274" y="8045848"/>
            <a:ext cx="2282069" cy="1688731"/>
          </a:xfrm>
          <a:custGeom>
            <a:avLst/>
            <a:gdLst/>
            <a:ahLst/>
            <a:cxnLst/>
            <a:rect r="r" b="b" t="t" l="l"/>
            <a:pathLst>
              <a:path h="1688731" w="2282069">
                <a:moveTo>
                  <a:pt x="0" y="0"/>
                </a:moveTo>
                <a:lnTo>
                  <a:pt x="2282069" y="0"/>
                </a:lnTo>
                <a:lnTo>
                  <a:pt x="2282069" y="1688731"/>
                </a:lnTo>
                <a:lnTo>
                  <a:pt x="0" y="1688731"/>
                </a:lnTo>
                <a:lnTo>
                  <a:pt x="0" y="0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7" id="7"/>
          <p:cNvSpPr txBox="true"/>
          <p:nvPr/>
        </p:nvSpPr>
        <p:spPr>
          <a:xfrm rot="0">
            <a:off x="829741" y="1962139"/>
            <a:ext cx="10559291" cy="832486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4304"/>
              </a:lnSpc>
            </a:pPr>
            <a:r>
              <a:rPr lang="en-US" sz="3074" b="true">
                <a:solidFill>
                  <a:srgbClr val="050E9B"/>
                </a:solidFill>
                <a:latin typeface="Monda Bold"/>
                <a:ea typeface="Monda Bold"/>
                <a:cs typeface="Monda Bold"/>
                <a:sym typeface="Monda Bold"/>
              </a:rPr>
              <a:t>Main Objective:</a:t>
            </a:r>
          </a:p>
          <a:p>
            <a:pPr algn="just">
              <a:lnSpc>
                <a:spcPts val="3604"/>
              </a:lnSpc>
            </a:pPr>
            <a:r>
              <a:rPr lang="en-US" sz="2574">
                <a:solidFill>
                  <a:srgbClr val="050E9B"/>
                </a:solidFill>
                <a:latin typeface="Monda"/>
                <a:ea typeface="Monda"/>
                <a:cs typeface="Monda"/>
                <a:sym typeface="Monda"/>
              </a:rPr>
              <a:t> To analyze customer preferences and transaction trends to help the retail business make informed, data-driven decisions for improved profitability and customer retention.</a:t>
            </a:r>
          </a:p>
          <a:p>
            <a:pPr algn="just">
              <a:lnSpc>
                <a:spcPts val="4304"/>
              </a:lnSpc>
            </a:pPr>
            <a:r>
              <a:rPr lang="en-US" sz="3074" b="true">
                <a:solidFill>
                  <a:srgbClr val="050E9B"/>
                </a:solidFill>
                <a:latin typeface="Monda Bold"/>
                <a:ea typeface="Monda Bold"/>
                <a:cs typeface="Monda Bold"/>
                <a:sym typeface="Monda Bold"/>
              </a:rPr>
              <a:t>Specific Goals:</a:t>
            </a:r>
          </a:p>
          <a:p>
            <a:pPr algn="just" marL="555846" indent="-277923" lvl="1">
              <a:lnSpc>
                <a:spcPts val="3604"/>
              </a:lnSpc>
              <a:buFont typeface="Arial"/>
              <a:buChar char="•"/>
            </a:pPr>
            <a:r>
              <a:rPr lang="en-US" sz="2574">
                <a:solidFill>
                  <a:srgbClr val="050E9B"/>
                </a:solidFill>
                <a:latin typeface="Monda"/>
                <a:ea typeface="Monda"/>
                <a:cs typeface="Monda"/>
                <a:sym typeface="Monda"/>
              </a:rPr>
              <a:t>Understand customer behavior patterns through transaction and demographic data.</a:t>
            </a:r>
          </a:p>
          <a:p>
            <a:pPr algn="just" marL="555846" indent="-277923" lvl="1">
              <a:lnSpc>
                <a:spcPts val="3604"/>
              </a:lnSpc>
              <a:buFont typeface="Arial"/>
              <a:buChar char="•"/>
            </a:pPr>
            <a:r>
              <a:rPr lang="en-US" sz="2574">
                <a:solidFill>
                  <a:srgbClr val="050E9B"/>
                </a:solidFill>
                <a:latin typeface="Monda"/>
                <a:ea typeface="Monda"/>
                <a:cs typeface="Monda"/>
                <a:sym typeface="Monda"/>
              </a:rPr>
              <a:t>Identify key factors influencing purchasing decisions — such as income, age, product type, and customer segment.</a:t>
            </a:r>
          </a:p>
          <a:p>
            <a:pPr algn="just" marL="555846" indent="-277923" lvl="1">
              <a:lnSpc>
                <a:spcPts val="3604"/>
              </a:lnSpc>
              <a:buFont typeface="Arial"/>
              <a:buChar char="•"/>
            </a:pPr>
            <a:r>
              <a:rPr lang="en-US" sz="2574">
                <a:solidFill>
                  <a:srgbClr val="050E9B"/>
                </a:solidFill>
                <a:latin typeface="Monda"/>
                <a:ea typeface="Monda"/>
                <a:cs typeface="Monda"/>
                <a:sym typeface="Monda"/>
              </a:rPr>
              <a:t>Track product performance and sales trends across different regions and time periods.</a:t>
            </a:r>
          </a:p>
          <a:p>
            <a:pPr algn="just" marL="555846" indent="-277923" lvl="1">
              <a:lnSpc>
                <a:spcPts val="3604"/>
              </a:lnSpc>
              <a:buFont typeface="Arial"/>
              <a:buChar char="•"/>
            </a:pPr>
            <a:r>
              <a:rPr lang="en-US" sz="2574">
                <a:solidFill>
                  <a:srgbClr val="050E9B"/>
                </a:solidFill>
                <a:latin typeface="Monda"/>
                <a:ea typeface="Monda"/>
                <a:cs typeface="Monda"/>
                <a:sym typeface="Monda"/>
              </a:rPr>
              <a:t>Optimize marketing and sales strategies based on customer segmentation insights.</a:t>
            </a:r>
          </a:p>
          <a:p>
            <a:pPr algn="just" marL="555846" indent="-277923" lvl="1">
              <a:lnSpc>
                <a:spcPts val="3604"/>
              </a:lnSpc>
              <a:buFont typeface="Arial"/>
              <a:buChar char="•"/>
            </a:pPr>
            <a:r>
              <a:rPr lang="en-US" sz="2574">
                <a:solidFill>
                  <a:srgbClr val="050E9B"/>
                </a:solidFill>
                <a:latin typeface="Monda"/>
                <a:ea typeface="Monda"/>
                <a:cs typeface="Monda"/>
                <a:sym typeface="Monda"/>
              </a:rPr>
              <a:t>Improve operational efficiency by analyzing payment, shipping, and feedback data.</a:t>
            </a:r>
          </a:p>
          <a:p>
            <a:pPr algn="just" marL="555846" indent="-277923" lvl="1">
              <a:lnSpc>
                <a:spcPts val="3604"/>
              </a:lnSpc>
              <a:buFont typeface="Arial"/>
              <a:buChar char="•"/>
            </a:pPr>
            <a:r>
              <a:rPr lang="en-US" sz="2574">
                <a:solidFill>
                  <a:srgbClr val="050E9B"/>
                </a:solidFill>
                <a:latin typeface="Monda"/>
                <a:ea typeface="Monda"/>
                <a:cs typeface="Monda"/>
                <a:sym typeface="Monda"/>
              </a:rPr>
              <a:t>Reduce decision uncertainty by converting large datasets into actionable insights via Power BI dashboards.</a:t>
            </a:r>
          </a:p>
          <a:p>
            <a:pPr algn="just">
              <a:lnSpc>
                <a:spcPts val="3044"/>
              </a:lnSpc>
              <a:spcBef>
                <a:spcPct val="0"/>
              </a:spcBef>
            </a:pPr>
          </a:p>
        </p:txBody>
      </p:sp>
      <p:sp>
        <p:nvSpPr>
          <p:cNvPr name="Freeform 8" id="8"/>
          <p:cNvSpPr/>
          <p:nvPr/>
        </p:nvSpPr>
        <p:spPr>
          <a:xfrm flipH="false" flipV="false" rot="0">
            <a:off x="12457848" y="3374193"/>
            <a:ext cx="5006947" cy="4114800"/>
          </a:xfrm>
          <a:custGeom>
            <a:avLst/>
            <a:gdLst/>
            <a:ahLst/>
            <a:cxnLst/>
            <a:rect r="r" b="b" t="t" l="l"/>
            <a:pathLst>
              <a:path h="4114800" w="5006947">
                <a:moveTo>
                  <a:pt x="0" y="0"/>
                </a:moveTo>
                <a:lnTo>
                  <a:pt x="5006947" y="0"/>
                </a:lnTo>
                <a:lnTo>
                  <a:pt x="5006947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9">
              <a:extLst>
                <a:ext uri="{96DAC541-7B7A-43D3-8B79-37D633B846F1}">
                  <asvg:svgBlip xmlns:asvg="http://schemas.microsoft.com/office/drawing/2016/SVG/main" r:embed="rId10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9" id="9"/>
          <p:cNvSpPr txBox="true"/>
          <p:nvPr/>
        </p:nvSpPr>
        <p:spPr>
          <a:xfrm rot="0">
            <a:off x="2706497" y="339726"/>
            <a:ext cx="12875007" cy="68897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600"/>
              </a:lnSpc>
            </a:pPr>
            <a:r>
              <a:rPr lang="en-US" b="true" sz="4000">
                <a:solidFill>
                  <a:srgbClr val="050E9B"/>
                </a:solidFill>
                <a:latin typeface="Merriweather Sans Bold"/>
                <a:ea typeface="Merriweather Sans Bold"/>
                <a:cs typeface="Merriweather Sans Bold"/>
                <a:sym typeface="Merriweather Sans Bold"/>
              </a:rPr>
              <a:t>BUSINESS DEVELOPMENT GOALS OF THE PROJECT</a:t>
            </a:r>
          </a:p>
        </p:txBody>
      </p:sp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2204" t="0" r="-2204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-1584626" y="-740607"/>
            <a:ext cx="5226651" cy="4114800"/>
          </a:xfrm>
          <a:custGeom>
            <a:avLst/>
            <a:gdLst/>
            <a:ahLst/>
            <a:cxnLst/>
            <a:rect r="r" b="b" t="t" l="l"/>
            <a:pathLst>
              <a:path h="4114800" w="5226651">
                <a:moveTo>
                  <a:pt x="0" y="0"/>
                </a:moveTo>
                <a:lnTo>
                  <a:pt x="5226652" y="0"/>
                </a:lnTo>
                <a:lnTo>
                  <a:pt x="5226652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true" flipV="true" rot="0">
            <a:off x="14645974" y="7042697"/>
            <a:ext cx="5226651" cy="4114800"/>
          </a:xfrm>
          <a:custGeom>
            <a:avLst/>
            <a:gdLst/>
            <a:ahLst/>
            <a:cxnLst/>
            <a:rect r="r" b="b" t="t" l="l"/>
            <a:pathLst>
              <a:path h="4114800" w="5226651">
                <a:moveTo>
                  <a:pt x="5226652" y="4114800"/>
                </a:moveTo>
                <a:lnTo>
                  <a:pt x="0" y="4114800"/>
                </a:lnTo>
                <a:lnTo>
                  <a:pt x="0" y="0"/>
                </a:lnTo>
                <a:lnTo>
                  <a:pt x="5226652" y="0"/>
                </a:lnTo>
                <a:lnTo>
                  <a:pt x="5226652" y="411480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0">
            <a:off x="15729343" y="-740607"/>
            <a:ext cx="3059915" cy="4114800"/>
          </a:xfrm>
          <a:custGeom>
            <a:avLst/>
            <a:gdLst/>
            <a:ahLst/>
            <a:cxnLst/>
            <a:rect r="r" b="b" t="t" l="l"/>
            <a:pathLst>
              <a:path h="4114800" w="3059915">
                <a:moveTo>
                  <a:pt x="0" y="0"/>
                </a:moveTo>
                <a:lnTo>
                  <a:pt x="3059914" y="0"/>
                </a:lnTo>
                <a:lnTo>
                  <a:pt x="3059914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6" id="6"/>
          <p:cNvSpPr txBox="true"/>
          <p:nvPr/>
        </p:nvSpPr>
        <p:spPr>
          <a:xfrm rot="0">
            <a:off x="3215864" y="167376"/>
            <a:ext cx="11228195" cy="15716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6300"/>
              </a:lnSpc>
            </a:pPr>
            <a:r>
              <a:rPr lang="en-US" b="true" sz="4500">
                <a:solidFill>
                  <a:srgbClr val="050E9B"/>
                </a:solidFill>
                <a:latin typeface="Merriweather Sans Bold"/>
                <a:ea typeface="Merriweather Sans Bold"/>
                <a:cs typeface="Merriweather Sans Bold"/>
                <a:sym typeface="Merriweather Sans Bold"/>
              </a:rPr>
              <a:t>PROJECT WORKFLOW OVERVIEW: FROM DATA TO INSIGHTS</a:t>
            </a:r>
          </a:p>
        </p:txBody>
      </p:sp>
      <p:grpSp>
        <p:nvGrpSpPr>
          <p:cNvPr name="Group 7" id="7"/>
          <p:cNvGrpSpPr/>
          <p:nvPr/>
        </p:nvGrpSpPr>
        <p:grpSpPr>
          <a:xfrm rot="0">
            <a:off x="479002" y="3374193"/>
            <a:ext cx="3127047" cy="3251494"/>
            <a:chOff x="0" y="0"/>
            <a:chExt cx="812800" cy="845147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812800" cy="845147"/>
            </a:xfrm>
            <a:custGeom>
              <a:avLst/>
              <a:gdLst/>
              <a:ahLst/>
              <a:cxnLst/>
              <a:rect r="r" b="b" t="t" l="l"/>
              <a:pathLst>
                <a:path h="845147" w="812800">
                  <a:moveTo>
                    <a:pt x="126265" y="0"/>
                  </a:moveTo>
                  <a:lnTo>
                    <a:pt x="686535" y="0"/>
                  </a:lnTo>
                  <a:cubicBezTo>
                    <a:pt x="720022" y="0"/>
                    <a:pt x="752138" y="13303"/>
                    <a:pt x="775818" y="36982"/>
                  </a:cubicBezTo>
                  <a:cubicBezTo>
                    <a:pt x="799497" y="60662"/>
                    <a:pt x="812800" y="92778"/>
                    <a:pt x="812800" y="126265"/>
                  </a:cubicBezTo>
                  <a:lnTo>
                    <a:pt x="812800" y="718882"/>
                  </a:lnTo>
                  <a:cubicBezTo>
                    <a:pt x="812800" y="752369"/>
                    <a:pt x="799497" y="784485"/>
                    <a:pt x="775818" y="808165"/>
                  </a:cubicBezTo>
                  <a:cubicBezTo>
                    <a:pt x="752138" y="831844"/>
                    <a:pt x="720022" y="845147"/>
                    <a:pt x="686535" y="845147"/>
                  </a:cubicBezTo>
                  <a:lnTo>
                    <a:pt x="126265" y="845147"/>
                  </a:lnTo>
                  <a:cubicBezTo>
                    <a:pt x="92778" y="845147"/>
                    <a:pt x="60662" y="831844"/>
                    <a:pt x="36982" y="808165"/>
                  </a:cubicBezTo>
                  <a:cubicBezTo>
                    <a:pt x="13303" y="784485"/>
                    <a:pt x="0" y="752369"/>
                    <a:pt x="0" y="718882"/>
                  </a:cubicBezTo>
                  <a:lnTo>
                    <a:pt x="0" y="126265"/>
                  </a:lnTo>
                  <a:cubicBezTo>
                    <a:pt x="0" y="92778"/>
                    <a:pt x="13303" y="60662"/>
                    <a:pt x="36982" y="36982"/>
                  </a:cubicBezTo>
                  <a:cubicBezTo>
                    <a:pt x="60662" y="13303"/>
                    <a:pt x="92778" y="0"/>
                    <a:pt x="126265" y="0"/>
                  </a:cubicBezTo>
                  <a:close/>
                </a:path>
              </a:pathLst>
            </a:custGeom>
            <a:solidFill>
              <a:srgbClr val="CFF4FF"/>
            </a:solidFill>
          </p:spPr>
        </p:sp>
        <p:sp>
          <p:nvSpPr>
            <p:cNvPr name="TextBox 9" id="9"/>
            <p:cNvSpPr txBox="true"/>
            <p:nvPr/>
          </p:nvSpPr>
          <p:spPr>
            <a:xfrm>
              <a:off x="0" y="-38100"/>
              <a:ext cx="812800" cy="883247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05"/>
                </a:lnSpc>
              </a:pPr>
            </a:p>
          </p:txBody>
        </p:sp>
      </p:grpSp>
      <p:sp>
        <p:nvSpPr>
          <p:cNvPr name="Freeform 10" id="10"/>
          <p:cNvSpPr/>
          <p:nvPr/>
        </p:nvSpPr>
        <p:spPr>
          <a:xfrm flipH="false" flipV="false" rot="0">
            <a:off x="2655665" y="3560477"/>
            <a:ext cx="712258" cy="712258"/>
          </a:xfrm>
          <a:custGeom>
            <a:avLst/>
            <a:gdLst/>
            <a:ahLst/>
            <a:cxnLst/>
            <a:rect r="r" b="b" t="t" l="l"/>
            <a:pathLst>
              <a:path h="712258" w="712258">
                <a:moveTo>
                  <a:pt x="0" y="0"/>
                </a:moveTo>
                <a:lnTo>
                  <a:pt x="712258" y="0"/>
                </a:lnTo>
                <a:lnTo>
                  <a:pt x="712258" y="712258"/>
                </a:lnTo>
                <a:lnTo>
                  <a:pt x="0" y="712258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>
              <a:fillRect l="0" t="0" r="0" b="0"/>
            </a:stretch>
          </a:blipFill>
        </p:spPr>
      </p:sp>
      <p:grpSp>
        <p:nvGrpSpPr>
          <p:cNvPr name="Group 11" id="11"/>
          <p:cNvGrpSpPr/>
          <p:nvPr/>
        </p:nvGrpSpPr>
        <p:grpSpPr>
          <a:xfrm rot="0">
            <a:off x="3606048" y="4532004"/>
            <a:ext cx="1298460" cy="714936"/>
            <a:chOff x="0" y="0"/>
            <a:chExt cx="935909" cy="515314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935909" cy="515314"/>
            </a:xfrm>
            <a:custGeom>
              <a:avLst/>
              <a:gdLst/>
              <a:ahLst/>
              <a:cxnLst/>
              <a:rect r="r" b="b" t="t" l="l"/>
              <a:pathLst>
                <a:path h="515314" w="935909">
                  <a:moveTo>
                    <a:pt x="935909" y="257657"/>
                  </a:moveTo>
                  <a:lnTo>
                    <a:pt x="529509" y="0"/>
                  </a:lnTo>
                  <a:lnTo>
                    <a:pt x="529509" y="203200"/>
                  </a:lnTo>
                  <a:lnTo>
                    <a:pt x="0" y="203200"/>
                  </a:lnTo>
                  <a:lnTo>
                    <a:pt x="0" y="312114"/>
                  </a:lnTo>
                  <a:lnTo>
                    <a:pt x="529509" y="312114"/>
                  </a:lnTo>
                  <a:lnTo>
                    <a:pt x="529509" y="515314"/>
                  </a:lnTo>
                  <a:lnTo>
                    <a:pt x="935909" y="257657"/>
                  </a:lnTo>
                  <a:close/>
                </a:path>
              </a:pathLst>
            </a:custGeom>
            <a:solidFill>
              <a:srgbClr val="56AEFF"/>
            </a:solidFill>
          </p:spPr>
        </p:sp>
        <p:sp>
          <p:nvSpPr>
            <p:cNvPr name="TextBox 13" id="13"/>
            <p:cNvSpPr txBox="true"/>
            <p:nvPr/>
          </p:nvSpPr>
          <p:spPr>
            <a:xfrm>
              <a:off x="0" y="165100"/>
              <a:ext cx="834309" cy="147014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05"/>
                </a:lnSpc>
              </a:pPr>
            </a:p>
          </p:txBody>
        </p:sp>
      </p:grpSp>
      <p:grpSp>
        <p:nvGrpSpPr>
          <p:cNvPr name="Group 14" id="14"/>
          <p:cNvGrpSpPr/>
          <p:nvPr/>
        </p:nvGrpSpPr>
        <p:grpSpPr>
          <a:xfrm rot="0">
            <a:off x="4904508" y="3325949"/>
            <a:ext cx="3234979" cy="3299738"/>
            <a:chOff x="0" y="0"/>
            <a:chExt cx="840854" cy="857687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840854" cy="857687"/>
            </a:xfrm>
            <a:custGeom>
              <a:avLst/>
              <a:gdLst/>
              <a:ahLst/>
              <a:cxnLst/>
              <a:rect r="r" b="b" t="t" l="l"/>
              <a:pathLst>
                <a:path h="857687" w="840854">
                  <a:moveTo>
                    <a:pt x="122053" y="0"/>
                  </a:moveTo>
                  <a:lnTo>
                    <a:pt x="718802" y="0"/>
                  </a:lnTo>
                  <a:cubicBezTo>
                    <a:pt x="786210" y="0"/>
                    <a:pt x="840854" y="54645"/>
                    <a:pt x="840854" y="122053"/>
                  </a:cubicBezTo>
                  <a:lnTo>
                    <a:pt x="840854" y="735634"/>
                  </a:lnTo>
                  <a:cubicBezTo>
                    <a:pt x="840854" y="803042"/>
                    <a:pt x="786210" y="857687"/>
                    <a:pt x="718802" y="857687"/>
                  </a:cubicBezTo>
                  <a:lnTo>
                    <a:pt x="122053" y="857687"/>
                  </a:lnTo>
                  <a:cubicBezTo>
                    <a:pt x="54645" y="857687"/>
                    <a:pt x="0" y="803042"/>
                    <a:pt x="0" y="735634"/>
                  </a:cubicBezTo>
                  <a:lnTo>
                    <a:pt x="0" y="122053"/>
                  </a:lnTo>
                  <a:cubicBezTo>
                    <a:pt x="0" y="54645"/>
                    <a:pt x="54645" y="0"/>
                    <a:pt x="122053" y="0"/>
                  </a:cubicBezTo>
                  <a:close/>
                </a:path>
              </a:pathLst>
            </a:custGeom>
            <a:solidFill>
              <a:srgbClr val="CFF4FF"/>
            </a:solidFill>
          </p:spPr>
        </p:sp>
        <p:sp>
          <p:nvSpPr>
            <p:cNvPr name="TextBox 16" id="16"/>
            <p:cNvSpPr txBox="true"/>
            <p:nvPr/>
          </p:nvSpPr>
          <p:spPr>
            <a:xfrm>
              <a:off x="0" y="-38100"/>
              <a:ext cx="840854" cy="895787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05"/>
                </a:lnSpc>
              </a:pPr>
            </a:p>
          </p:txBody>
        </p:sp>
      </p:grpSp>
      <p:sp>
        <p:nvSpPr>
          <p:cNvPr name="Freeform 17" id="17"/>
          <p:cNvSpPr/>
          <p:nvPr/>
        </p:nvSpPr>
        <p:spPr>
          <a:xfrm flipH="false" flipV="false" rot="0">
            <a:off x="7260004" y="3698151"/>
            <a:ext cx="643824" cy="643824"/>
          </a:xfrm>
          <a:custGeom>
            <a:avLst/>
            <a:gdLst/>
            <a:ahLst/>
            <a:cxnLst/>
            <a:rect r="r" b="b" t="t" l="l"/>
            <a:pathLst>
              <a:path h="643824" w="643824">
                <a:moveTo>
                  <a:pt x="0" y="0"/>
                </a:moveTo>
                <a:lnTo>
                  <a:pt x="643824" y="0"/>
                </a:lnTo>
                <a:lnTo>
                  <a:pt x="643824" y="643824"/>
                </a:lnTo>
                <a:lnTo>
                  <a:pt x="0" y="643824"/>
                </a:lnTo>
                <a:lnTo>
                  <a:pt x="0" y="0"/>
                </a:lnTo>
                <a:close/>
              </a:path>
            </a:pathLst>
          </a:custGeom>
          <a:blipFill>
            <a:blip r:embed="rId8"/>
            <a:stretch>
              <a:fillRect l="0" t="0" r="0" b="0"/>
            </a:stretch>
          </a:blipFill>
        </p:spPr>
      </p:sp>
      <p:grpSp>
        <p:nvGrpSpPr>
          <p:cNvPr name="Group 18" id="18"/>
          <p:cNvGrpSpPr/>
          <p:nvPr/>
        </p:nvGrpSpPr>
        <p:grpSpPr>
          <a:xfrm rot="0">
            <a:off x="8139487" y="4532004"/>
            <a:ext cx="1298460" cy="714936"/>
            <a:chOff x="0" y="0"/>
            <a:chExt cx="935909" cy="515314"/>
          </a:xfrm>
        </p:grpSpPr>
        <p:sp>
          <p:nvSpPr>
            <p:cNvPr name="Freeform 19" id="19"/>
            <p:cNvSpPr/>
            <p:nvPr/>
          </p:nvSpPr>
          <p:spPr>
            <a:xfrm flipH="false" flipV="false" rot="0">
              <a:off x="0" y="0"/>
              <a:ext cx="935909" cy="515314"/>
            </a:xfrm>
            <a:custGeom>
              <a:avLst/>
              <a:gdLst/>
              <a:ahLst/>
              <a:cxnLst/>
              <a:rect r="r" b="b" t="t" l="l"/>
              <a:pathLst>
                <a:path h="515314" w="935909">
                  <a:moveTo>
                    <a:pt x="935909" y="257657"/>
                  </a:moveTo>
                  <a:lnTo>
                    <a:pt x="529509" y="0"/>
                  </a:lnTo>
                  <a:lnTo>
                    <a:pt x="529509" y="203200"/>
                  </a:lnTo>
                  <a:lnTo>
                    <a:pt x="0" y="203200"/>
                  </a:lnTo>
                  <a:lnTo>
                    <a:pt x="0" y="312114"/>
                  </a:lnTo>
                  <a:lnTo>
                    <a:pt x="529509" y="312114"/>
                  </a:lnTo>
                  <a:lnTo>
                    <a:pt x="529509" y="515314"/>
                  </a:lnTo>
                  <a:lnTo>
                    <a:pt x="935909" y="257657"/>
                  </a:lnTo>
                  <a:close/>
                </a:path>
              </a:pathLst>
            </a:custGeom>
            <a:solidFill>
              <a:srgbClr val="56AEFF"/>
            </a:solidFill>
          </p:spPr>
        </p:sp>
        <p:sp>
          <p:nvSpPr>
            <p:cNvPr name="TextBox 20" id="20"/>
            <p:cNvSpPr txBox="true"/>
            <p:nvPr/>
          </p:nvSpPr>
          <p:spPr>
            <a:xfrm>
              <a:off x="0" y="165100"/>
              <a:ext cx="834309" cy="147014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05"/>
                </a:lnSpc>
              </a:pPr>
            </a:p>
          </p:txBody>
        </p:sp>
      </p:grpSp>
      <p:grpSp>
        <p:nvGrpSpPr>
          <p:cNvPr name="Group 21" id="21"/>
          <p:cNvGrpSpPr/>
          <p:nvPr/>
        </p:nvGrpSpPr>
        <p:grpSpPr>
          <a:xfrm rot="0">
            <a:off x="12672926" y="4532004"/>
            <a:ext cx="1852836" cy="714936"/>
            <a:chOff x="0" y="0"/>
            <a:chExt cx="1335495" cy="515314"/>
          </a:xfrm>
        </p:grpSpPr>
        <p:sp>
          <p:nvSpPr>
            <p:cNvPr name="Freeform 22" id="22"/>
            <p:cNvSpPr/>
            <p:nvPr/>
          </p:nvSpPr>
          <p:spPr>
            <a:xfrm flipH="false" flipV="false" rot="0">
              <a:off x="0" y="0"/>
              <a:ext cx="1335495" cy="515314"/>
            </a:xfrm>
            <a:custGeom>
              <a:avLst/>
              <a:gdLst/>
              <a:ahLst/>
              <a:cxnLst/>
              <a:rect r="r" b="b" t="t" l="l"/>
              <a:pathLst>
                <a:path h="515314" w="1335495">
                  <a:moveTo>
                    <a:pt x="1335495" y="257657"/>
                  </a:moveTo>
                  <a:lnTo>
                    <a:pt x="929095" y="0"/>
                  </a:lnTo>
                  <a:lnTo>
                    <a:pt x="929095" y="203200"/>
                  </a:lnTo>
                  <a:lnTo>
                    <a:pt x="0" y="203200"/>
                  </a:lnTo>
                  <a:lnTo>
                    <a:pt x="0" y="312114"/>
                  </a:lnTo>
                  <a:lnTo>
                    <a:pt x="929095" y="312114"/>
                  </a:lnTo>
                  <a:lnTo>
                    <a:pt x="929095" y="515314"/>
                  </a:lnTo>
                  <a:lnTo>
                    <a:pt x="1335495" y="257657"/>
                  </a:lnTo>
                  <a:close/>
                </a:path>
              </a:pathLst>
            </a:custGeom>
            <a:solidFill>
              <a:srgbClr val="56AEFF"/>
            </a:solidFill>
          </p:spPr>
        </p:sp>
        <p:sp>
          <p:nvSpPr>
            <p:cNvPr name="TextBox 23" id="23"/>
            <p:cNvSpPr txBox="true"/>
            <p:nvPr/>
          </p:nvSpPr>
          <p:spPr>
            <a:xfrm>
              <a:off x="0" y="165100"/>
              <a:ext cx="1233895" cy="147014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05"/>
                </a:lnSpc>
              </a:pPr>
            </a:p>
          </p:txBody>
        </p:sp>
      </p:grpSp>
      <p:grpSp>
        <p:nvGrpSpPr>
          <p:cNvPr name="Group 24" id="24"/>
          <p:cNvGrpSpPr/>
          <p:nvPr/>
        </p:nvGrpSpPr>
        <p:grpSpPr>
          <a:xfrm rot="0">
            <a:off x="9437947" y="3098914"/>
            <a:ext cx="3234979" cy="3299738"/>
            <a:chOff x="0" y="0"/>
            <a:chExt cx="840854" cy="857687"/>
          </a:xfrm>
        </p:grpSpPr>
        <p:sp>
          <p:nvSpPr>
            <p:cNvPr name="Freeform 25" id="25"/>
            <p:cNvSpPr/>
            <p:nvPr/>
          </p:nvSpPr>
          <p:spPr>
            <a:xfrm flipH="false" flipV="false" rot="0">
              <a:off x="0" y="0"/>
              <a:ext cx="840854" cy="857687"/>
            </a:xfrm>
            <a:custGeom>
              <a:avLst/>
              <a:gdLst/>
              <a:ahLst/>
              <a:cxnLst/>
              <a:rect r="r" b="b" t="t" l="l"/>
              <a:pathLst>
                <a:path h="857687" w="840854">
                  <a:moveTo>
                    <a:pt x="122053" y="0"/>
                  </a:moveTo>
                  <a:lnTo>
                    <a:pt x="718802" y="0"/>
                  </a:lnTo>
                  <a:cubicBezTo>
                    <a:pt x="786210" y="0"/>
                    <a:pt x="840854" y="54645"/>
                    <a:pt x="840854" y="122053"/>
                  </a:cubicBezTo>
                  <a:lnTo>
                    <a:pt x="840854" y="735634"/>
                  </a:lnTo>
                  <a:cubicBezTo>
                    <a:pt x="840854" y="803042"/>
                    <a:pt x="786210" y="857687"/>
                    <a:pt x="718802" y="857687"/>
                  </a:cubicBezTo>
                  <a:lnTo>
                    <a:pt x="122053" y="857687"/>
                  </a:lnTo>
                  <a:cubicBezTo>
                    <a:pt x="54645" y="857687"/>
                    <a:pt x="0" y="803042"/>
                    <a:pt x="0" y="735634"/>
                  </a:cubicBezTo>
                  <a:lnTo>
                    <a:pt x="0" y="122053"/>
                  </a:lnTo>
                  <a:cubicBezTo>
                    <a:pt x="0" y="54645"/>
                    <a:pt x="54645" y="0"/>
                    <a:pt x="122053" y="0"/>
                  </a:cubicBezTo>
                  <a:close/>
                </a:path>
              </a:pathLst>
            </a:custGeom>
            <a:solidFill>
              <a:srgbClr val="CFF4FF"/>
            </a:solidFill>
          </p:spPr>
        </p:sp>
        <p:sp>
          <p:nvSpPr>
            <p:cNvPr name="TextBox 26" id="26"/>
            <p:cNvSpPr txBox="true"/>
            <p:nvPr/>
          </p:nvSpPr>
          <p:spPr>
            <a:xfrm>
              <a:off x="0" y="-38100"/>
              <a:ext cx="840854" cy="895787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05"/>
                </a:lnSpc>
              </a:pPr>
            </a:p>
          </p:txBody>
        </p:sp>
      </p:grpSp>
      <p:sp>
        <p:nvSpPr>
          <p:cNvPr name="Freeform 27" id="27"/>
          <p:cNvSpPr/>
          <p:nvPr/>
        </p:nvSpPr>
        <p:spPr>
          <a:xfrm flipH="false" flipV="false" rot="0">
            <a:off x="11667416" y="3511273"/>
            <a:ext cx="880043" cy="880043"/>
          </a:xfrm>
          <a:custGeom>
            <a:avLst/>
            <a:gdLst/>
            <a:ahLst/>
            <a:cxnLst/>
            <a:rect r="r" b="b" t="t" l="l"/>
            <a:pathLst>
              <a:path h="880043" w="880043">
                <a:moveTo>
                  <a:pt x="0" y="0"/>
                </a:moveTo>
                <a:lnTo>
                  <a:pt x="880042" y="0"/>
                </a:lnTo>
                <a:lnTo>
                  <a:pt x="880042" y="880042"/>
                </a:lnTo>
                <a:lnTo>
                  <a:pt x="0" y="880042"/>
                </a:lnTo>
                <a:lnTo>
                  <a:pt x="0" y="0"/>
                </a:lnTo>
                <a:close/>
              </a:path>
            </a:pathLst>
          </a:custGeom>
          <a:blipFill>
            <a:blip r:embed="rId9"/>
            <a:stretch>
              <a:fillRect l="0" t="0" r="0" b="0"/>
            </a:stretch>
          </a:blipFill>
        </p:spPr>
      </p:sp>
      <p:grpSp>
        <p:nvGrpSpPr>
          <p:cNvPr name="Group 28" id="28"/>
          <p:cNvGrpSpPr/>
          <p:nvPr/>
        </p:nvGrpSpPr>
        <p:grpSpPr>
          <a:xfrm rot="0">
            <a:off x="14574019" y="3397756"/>
            <a:ext cx="3234979" cy="3000896"/>
            <a:chOff x="0" y="0"/>
            <a:chExt cx="840854" cy="780010"/>
          </a:xfrm>
        </p:grpSpPr>
        <p:sp>
          <p:nvSpPr>
            <p:cNvPr name="Freeform 29" id="29"/>
            <p:cNvSpPr/>
            <p:nvPr/>
          </p:nvSpPr>
          <p:spPr>
            <a:xfrm flipH="false" flipV="false" rot="0">
              <a:off x="0" y="0"/>
              <a:ext cx="840854" cy="780010"/>
            </a:xfrm>
            <a:custGeom>
              <a:avLst/>
              <a:gdLst/>
              <a:ahLst/>
              <a:cxnLst/>
              <a:rect r="r" b="b" t="t" l="l"/>
              <a:pathLst>
                <a:path h="780010" w="840854">
                  <a:moveTo>
                    <a:pt x="122053" y="0"/>
                  </a:moveTo>
                  <a:lnTo>
                    <a:pt x="718802" y="0"/>
                  </a:lnTo>
                  <a:cubicBezTo>
                    <a:pt x="786210" y="0"/>
                    <a:pt x="840854" y="54645"/>
                    <a:pt x="840854" y="122053"/>
                  </a:cubicBezTo>
                  <a:lnTo>
                    <a:pt x="840854" y="657958"/>
                  </a:lnTo>
                  <a:cubicBezTo>
                    <a:pt x="840854" y="725365"/>
                    <a:pt x="786210" y="780010"/>
                    <a:pt x="718802" y="780010"/>
                  </a:cubicBezTo>
                  <a:lnTo>
                    <a:pt x="122053" y="780010"/>
                  </a:lnTo>
                  <a:cubicBezTo>
                    <a:pt x="54645" y="780010"/>
                    <a:pt x="0" y="725365"/>
                    <a:pt x="0" y="657958"/>
                  </a:cubicBezTo>
                  <a:lnTo>
                    <a:pt x="0" y="122053"/>
                  </a:lnTo>
                  <a:cubicBezTo>
                    <a:pt x="0" y="54645"/>
                    <a:pt x="54645" y="0"/>
                    <a:pt x="122053" y="0"/>
                  </a:cubicBezTo>
                  <a:close/>
                </a:path>
              </a:pathLst>
            </a:custGeom>
            <a:solidFill>
              <a:srgbClr val="CFF4FF"/>
            </a:solidFill>
          </p:spPr>
        </p:sp>
        <p:sp>
          <p:nvSpPr>
            <p:cNvPr name="TextBox 30" id="30"/>
            <p:cNvSpPr txBox="true"/>
            <p:nvPr/>
          </p:nvSpPr>
          <p:spPr>
            <a:xfrm>
              <a:off x="0" y="-38100"/>
              <a:ext cx="840854" cy="81811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05"/>
                </a:lnSpc>
              </a:pPr>
            </a:p>
          </p:txBody>
        </p:sp>
      </p:grpSp>
      <p:sp>
        <p:nvSpPr>
          <p:cNvPr name="Freeform 31" id="31"/>
          <p:cNvSpPr/>
          <p:nvPr/>
        </p:nvSpPr>
        <p:spPr>
          <a:xfrm flipH="false" flipV="false" rot="0">
            <a:off x="16755392" y="3560477"/>
            <a:ext cx="937790" cy="937790"/>
          </a:xfrm>
          <a:custGeom>
            <a:avLst/>
            <a:gdLst/>
            <a:ahLst/>
            <a:cxnLst/>
            <a:rect r="r" b="b" t="t" l="l"/>
            <a:pathLst>
              <a:path h="937790" w="937790">
                <a:moveTo>
                  <a:pt x="0" y="0"/>
                </a:moveTo>
                <a:lnTo>
                  <a:pt x="937790" y="0"/>
                </a:lnTo>
                <a:lnTo>
                  <a:pt x="937790" y="937790"/>
                </a:lnTo>
                <a:lnTo>
                  <a:pt x="0" y="937790"/>
                </a:lnTo>
                <a:lnTo>
                  <a:pt x="0" y="0"/>
                </a:lnTo>
                <a:close/>
              </a:path>
            </a:pathLst>
          </a:custGeom>
          <a:blipFill>
            <a:blip r:embed="rId10"/>
            <a:stretch>
              <a:fillRect l="0" t="0" r="0" b="0"/>
            </a:stretch>
          </a:blipFill>
        </p:spPr>
      </p:sp>
      <p:grpSp>
        <p:nvGrpSpPr>
          <p:cNvPr name="Group 32" id="32"/>
          <p:cNvGrpSpPr/>
          <p:nvPr/>
        </p:nvGrpSpPr>
        <p:grpSpPr>
          <a:xfrm rot="-10800000">
            <a:off x="14274374" y="7410193"/>
            <a:ext cx="1716183" cy="661782"/>
            <a:chOff x="0" y="0"/>
            <a:chExt cx="1336352" cy="515314"/>
          </a:xfrm>
        </p:grpSpPr>
        <p:sp>
          <p:nvSpPr>
            <p:cNvPr name="Freeform 33" id="33"/>
            <p:cNvSpPr/>
            <p:nvPr/>
          </p:nvSpPr>
          <p:spPr>
            <a:xfrm flipH="false" flipV="false" rot="0">
              <a:off x="0" y="0"/>
              <a:ext cx="1336352" cy="515314"/>
            </a:xfrm>
            <a:custGeom>
              <a:avLst/>
              <a:gdLst/>
              <a:ahLst/>
              <a:cxnLst/>
              <a:rect r="r" b="b" t="t" l="l"/>
              <a:pathLst>
                <a:path h="515314" w="1336352">
                  <a:moveTo>
                    <a:pt x="1336352" y="257657"/>
                  </a:moveTo>
                  <a:lnTo>
                    <a:pt x="929952" y="0"/>
                  </a:lnTo>
                  <a:lnTo>
                    <a:pt x="929952" y="203200"/>
                  </a:lnTo>
                  <a:lnTo>
                    <a:pt x="0" y="203200"/>
                  </a:lnTo>
                  <a:lnTo>
                    <a:pt x="0" y="312114"/>
                  </a:lnTo>
                  <a:lnTo>
                    <a:pt x="929952" y="312114"/>
                  </a:lnTo>
                  <a:lnTo>
                    <a:pt x="929952" y="515314"/>
                  </a:lnTo>
                  <a:lnTo>
                    <a:pt x="1336352" y="257657"/>
                  </a:lnTo>
                  <a:close/>
                </a:path>
              </a:pathLst>
            </a:custGeom>
            <a:solidFill>
              <a:srgbClr val="56AEFF"/>
            </a:solidFill>
          </p:spPr>
        </p:sp>
        <p:sp>
          <p:nvSpPr>
            <p:cNvPr name="TextBox 34" id="34"/>
            <p:cNvSpPr txBox="true"/>
            <p:nvPr/>
          </p:nvSpPr>
          <p:spPr>
            <a:xfrm>
              <a:off x="0" y="165100"/>
              <a:ext cx="1234752" cy="147014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05"/>
                </a:lnSpc>
              </a:pPr>
            </a:p>
          </p:txBody>
        </p:sp>
      </p:grpSp>
      <p:grpSp>
        <p:nvGrpSpPr>
          <p:cNvPr name="Group 35" id="35"/>
          <p:cNvGrpSpPr/>
          <p:nvPr/>
        </p:nvGrpSpPr>
        <p:grpSpPr>
          <a:xfrm rot="0">
            <a:off x="11039395" y="6877394"/>
            <a:ext cx="3234979" cy="2673948"/>
            <a:chOff x="0" y="0"/>
            <a:chExt cx="840854" cy="695028"/>
          </a:xfrm>
        </p:grpSpPr>
        <p:sp>
          <p:nvSpPr>
            <p:cNvPr name="Freeform 36" id="36"/>
            <p:cNvSpPr/>
            <p:nvPr/>
          </p:nvSpPr>
          <p:spPr>
            <a:xfrm flipH="false" flipV="false" rot="0">
              <a:off x="0" y="0"/>
              <a:ext cx="840854" cy="695028"/>
            </a:xfrm>
            <a:custGeom>
              <a:avLst/>
              <a:gdLst/>
              <a:ahLst/>
              <a:cxnLst/>
              <a:rect r="r" b="b" t="t" l="l"/>
              <a:pathLst>
                <a:path h="695028" w="840854">
                  <a:moveTo>
                    <a:pt x="122053" y="0"/>
                  </a:moveTo>
                  <a:lnTo>
                    <a:pt x="718802" y="0"/>
                  </a:lnTo>
                  <a:cubicBezTo>
                    <a:pt x="786210" y="0"/>
                    <a:pt x="840854" y="54645"/>
                    <a:pt x="840854" y="122053"/>
                  </a:cubicBezTo>
                  <a:lnTo>
                    <a:pt x="840854" y="572975"/>
                  </a:lnTo>
                  <a:cubicBezTo>
                    <a:pt x="840854" y="640383"/>
                    <a:pt x="786210" y="695028"/>
                    <a:pt x="718802" y="695028"/>
                  </a:cubicBezTo>
                  <a:lnTo>
                    <a:pt x="122053" y="695028"/>
                  </a:lnTo>
                  <a:cubicBezTo>
                    <a:pt x="54645" y="695028"/>
                    <a:pt x="0" y="640383"/>
                    <a:pt x="0" y="572975"/>
                  </a:cubicBezTo>
                  <a:lnTo>
                    <a:pt x="0" y="122053"/>
                  </a:lnTo>
                  <a:cubicBezTo>
                    <a:pt x="0" y="54645"/>
                    <a:pt x="54645" y="0"/>
                    <a:pt x="122053" y="0"/>
                  </a:cubicBezTo>
                  <a:close/>
                </a:path>
              </a:pathLst>
            </a:custGeom>
            <a:solidFill>
              <a:srgbClr val="CFF4FF"/>
            </a:solidFill>
          </p:spPr>
        </p:sp>
        <p:sp>
          <p:nvSpPr>
            <p:cNvPr name="TextBox 37" id="37"/>
            <p:cNvSpPr txBox="true"/>
            <p:nvPr/>
          </p:nvSpPr>
          <p:spPr>
            <a:xfrm>
              <a:off x="0" y="-38100"/>
              <a:ext cx="840854" cy="73312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05"/>
                </a:lnSpc>
              </a:pPr>
            </a:p>
          </p:txBody>
        </p:sp>
      </p:grpSp>
      <p:sp>
        <p:nvSpPr>
          <p:cNvPr name="Freeform 38" id="38"/>
          <p:cNvSpPr/>
          <p:nvPr/>
        </p:nvSpPr>
        <p:spPr>
          <a:xfrm flipH="false" flipV="false" rot="0">
            <a:off x="13131748" y="7190224"/>
            <a:ext cx="884889" cy="884889"/>
          </a:xfrm>
          <a:custGeom>
            <a:avLst/>
            <a:gdLst/>
            <a:ahLst/>
            <a:cxnLst/>
            <a:rect r="r" b="b" t="t" l="l"/>
            <a:pathLst>
              <a:path h="884889" w="884889">
                <a:moveTo>
                  <a:pt x="0" y="0"/>
                </a:moveTo>
                <a:lnTo>
                  <a:pt x="884888" y="0"/>
                </a:lnTo>
                <a:lnTo>
                  <a:pt x="884888" y="884889"/>
                </a:lnTo>
                <a:lnTo>
                  <a:pt x="0" y="884889"/>
                </a:lnTo>
                <a:lnTo>
                  <a:pt x="0" y="0"/>
                </a:lnTo>
                <a:close/>
              </a:path>
            </a:pathLst>
          </a:custGeom>
          <a:blipFill>
            <a:blip r:embed="rId11"/>
            <a:stretch>
              <a:fillRect l="0" t="0" r="0" b="0"/>
            </a:stretch>
          </a:blipFill>
        </p:spPr>
      </p:sp>
      <p:grpSp>
        <p:nvGrpSpPr>
          <p:cNvPr name="Group 39" id="39"/>
          <p:cNvGrpSpPr/>
          <p:nvPr/>
        </p:nvGrpSpPr>
        <p:grpSpPr>
          <a:xfrm rot="0">
            <a:off x="5899915" y="6877394"/>
            <a:ext cx="3234979" cy="2673948"/>
            <a:chOff x="0" y="0"/>
            <a:chExt cx="840854" cy="695028"/>
          </a:xfrm>
        </p:grpSpPr>
        <p:sp>
          <p:nvSpPr>
            <p:cNvPr name="Freeform 40" id="40"/>
            <p:cNvSpPr/>
            <p:nvPr/>
          </p:nvSpPr>
          <p:spPr>
            <a:xfrm flipH="false" flipV="false" rot="0">
              <a:off x="0" y="0"/>
              <a:ext cx="840854" cy="695028"/>
            </a:xfrm>
            <a:custGeom>
              <a:avLst/>
              <a:gdLst/>
              <a:ahLst/>
              <a:cxnLst/>
              <a:rect r="r" b="b" t="t" l="l"/>
              <a:pathLst>
                <a:path h="695028" w="840854">
                  <a:moveTo>
                    <a:pt x="122053" y="0"/>
                  </a:moveTo>
                  <a:lnTo>
                    <a:pt x="718802" y="0"/>
                  </a:lnTo>
                  <a:cubicBezTo>
                    <a:pt x="786210" y="0"/>
                    <a:pt x="840854" y="54645"/>
                    <a:pt x="840854" y="122053"/>
                  </a:cubicBezTo>
                  <a:lnTo>
                    <a:pt x="840854" y="572975"/>
                  </a:lnTo>
                  <a:cubicBezTo>
                    <a:pt x="840854" y="640383"/>
                    <a:pt x="786210" y="695028"/>
                    <a:pt x="718802" y="695028"/>
                  </a:cubicBezTo>
                  <a:lnTo>
                    <a:pt x="122053" y="695028"/>
                  </a:lnTo>
                  <a:cubicBezTo>
                    <a:pt x="54645" y="695028"/>
                    <a:pt x="0" y="640383"/>
                    <a:pt x="0" y="572975"/>
                  </a:cubicBezTo>
                  <a:lnTo>
                    <a:pt x="0" y="122053"/>
                  </a:lnTo>
                  <a:cubicBezTo>
                    <a:pt x="0" y="54645"/>
                    <a:pt x="54645" y="0"/>
                    <a:pt x="122053" y="0"/>
                  </a:cubicBezTo>
                  <a:close/>
                </a:path>
              </a:pathLst>
            </a:custGeom>
            <a:solidFill>
              <a:srgbClr val="CFF4FF"/>
            </a:solidFill>
          </p:spPr>
        </p:sp>
        <p:sp>
          <p:nvSpPr>
            <p:cNvPr name="TextBox 41" id="41"/>
            <p:cNvSpPr txBox="true"/>
            <p:nvPr/>
          </p:nvSpPr>
          <p:spPr>
            <a:xfrm>
              <a:off x="0" y="-38100"/>
              <a:ext cx="840854" cy="73312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05"/>
                </a:lnSpc>
              </a:pPr>
            </a:p>
          </p:txBody>
        </p:sp>
      </p:grpSp>
      <p:sp>
        <p:nvSpPr>
          <p:cNvPr name="Freeform 42" id="42"/>
          <p:cNvSpPr/>
          <p:nvPr/>
        </p:nvSpPr>
        <p:spPr>
          <a:xfrm flipH="false" flipV="false" rot="0">
            <a:off x="7930361" y="7194418"/>
            <a:ext cx="879655" cy="879655"/>
          </a:xfrm>
          <a:custGeom>
            <a:avLst/>
            <a:gdLst/>
            <a:ahLst/>
            <a:cxnLst/>
            <a:rect r="r" b="b" t="t" l="l"/>
            <a:pathLst>
              <a:path h="879655" w="879655">
                <a:moveTo>
                  <a:pt x="0" y="0"/>
                </a:moveTo>
                <a:lnTo>
                  <a:pt x="879654" y="0"/>
                </a:lnTo>
                <a:lnTo>
                  <a:pt x="879654" y="879655"/>
                </a:lnTo>
                <a:lnTo>
                  <a:pt x="0" y="879655"/>
                </a:lnTo>
                <a:lnTo>
                  <a:pt x="0" y="0"/>
                </a:lnTo>
                <a:close/>
              </a:path>
            </a:pathLst>
          </a:custGeom>
          <a:blipFill>
            <a:blip r:embed="rId12"/>
            <a:stretch>
              <a:fillRect l="0" t="0" r="0" b="0"/>
            </a:stretch>
          </a:blipFill>
        </p:spPr>
      </p:sp>
      <p:grpSp>
        <p:nvGrpSpPr>
          <p:cNvPr name="Group 43" id="43"/>
          <p:cNvGrpSpPr/>
          <p:nvPr/>
        </p:nvGrpSpPr>
        <p:grpSpPr>
          <a:xfrm rot="0">
            <a:off x="15617399" y="6398652"/>
            <a:ext cx="798904" cy="1371385"/>
            <a:chOff x="0" y="0"/>
            <a:chExt cx="511323" cy="877728"/>
          </a:xfrm>
        </p:grpSpPr>
        <p:sp>
          <p:nvSpPr>
            <p:cNvPr name="Freeform 44" id="44"/>
            <p:cNvSpPr/>
            <p:nvPr/>
          </p:nvSpPr>
          <p:spPr>
            <a:xfrm flipH="false" flipV="false" rot="0">
              <a:off x="0" y="0"/>
              <a:ext cx="511323" cy="877728"/>
            </a:xfrm>
            <a:custGeom>
              <a:avLst/>
              <a:gdLst/>
              <a:ahLst/>
              <a:cxnLst/>
              <a:rect r="r" b="b" t="t" l="l"/>
              <a:pathLst>
                <a:path h="877728" w="511323">
                  <a:moveTo>
                    <a:pt x="255661" y="877728"/>
                  </a:moveTo>
                  <a:lnTo>
                    <a:pt x="0" y="471328"/>
                  </a:lnTo>
                  <a:lnTo>
                    <a:pt x="203200" y="471328"/>
                  </a:lnTo>
                  <a:lnTo>
                    <a:pt x="203200" y="0"/>
                  </a:lnTo>
                  <a:lnTo>
                    <a:pt x="308123" y="0"/>
                  </a:lnTo>
                  <a:lnTo>
                    <a:pt x="308123" y="471328"/>
                  </a:lnTo>
                  <a:lnTo>
                    <a:pt x="511323" y="471328"/>
                  </a:lnTo>
                  <a:lnTo>
                    <a:pt x="255661" y="877728"/>
                  </a:lnTo>
                  <a:close/>
                </a:path>
              </a:pathLst>
            </a:custGeom>
            <a:solidFill>
              <a:srgbClr val="56AEFF"/>
            </a:solidFill>
          </p:spPr>
        </p:sp>
        <p:sp>
          <p:nvSpPr>
            <p:cNvPr name="TextBox 45" id="45"/>
            <p:cNvSpPr txBox="true"/>
            <p:nvPr/>
          </p:nvSpPr>
          <p:spPr>
            <a:xfrm>
              <a:off x="203200" y="-38100"/>
              <a:ext cx="104923" cy="81422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05"/>
                </a:lnSpc>
              </a:pPr>
            </a:p>
          </p:txBody>
        </p:sp>
      </p:grpSp>
      <p:sp>
        <p:nvSpPr>
          <p:cNvPr name="TextBox 46" id="46"/>
          <p:cNvSpPr txBox="true"/>
          <p:nvPr/>
        </p:nvSpPr>
        <p:spPr>
          <a:xfrm rot="0">
            <a:off x="9437947" y="4555745"/>
            <a:ext cx="3187235" cy="213328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 marL="447863" indent="-223932" lvl="1">
              <a:lnSpc>
                <a:spcPts val="2862"/>
              </a:lnSpc>
              <a:buFont typeface="Arial"/>
              <a:buChar char="•"/>
            </a:pPr>
            <a:r>
              <a:rPr lang="en-US" sz="2074">
                <a:solidFill>
                  <a:srgbClr val="051D40"/>
                </a:solidFill>
                <a:latin typeface="DM Sans"/>
                <a:ea typeface="DM Sans"/>
                <a:cs typeface="DM Sans"/>
                <a:sym typeface="DM Sans"/>
              </a:rPr>
              <a:t>Customer Segmentation</a:t>
            </a:r>
          </a:p>
          <a:p>
            <a:pPr algn="just" marL="447863" indent="-223932" lvl="1">
              <a:lnSpc>
                <a:spcPts val="2862"/>
              </a:lnSpc>
              <a:buFont typeface="Arial"/>
              <a:buChar char="•"/>
            </a:pPr>
            <a:r>
              <a:rPr lang="en-US" sz="2074">
                <a:solidFill>
                  <a:srgbClr val="051D40"/>
                </a:solidFill>
                <a:latin typeface="DM Sans"/>
                <a:ea typeface="DM Sans"/>
                <a:cs typeface="DM Sans"/>
                <a:sym typeface="DM Sans"/>
              </a:rPr>
              <a:t>Sales and product trends </a:t>
            </a:r>
          </a:p>
          <a:p>
            <a:pPr algn="just" marL="447863" indent="-223932" lvl="1">
              <a:lnSpc>
                <a:spcPts val="2862"/>
              </a:lnSpc>
              <a:buFont typeface="Arial"/>
              <a:buChar char="•"/>
            </a:pPr>
            <a:r>
              <a:rPr lang="en-US" sz="2074">
                <a:solidFill>
                  <a:srgbClr val="051D40"/>
                </a:solidFill>
                <a:latin typeface="DM Sans"/>
                <a:ea typeface="DM Sans"/>
                <a:cs typeface="DM Sans"/>
                <a:sym typeface="DM Sans"/>
              </a:rPr>
              <a:t>Time-based insights</a:t>
            </a:r>
          </a:p>
          <a:p>
            <a:pPr algn="just">
              <a:lnSpc>
                <a:spcPts val="2862"/>
              </a:lnSpc>
            </a:pPr>
            <a:r>
              <a:rPr lang="en-US" sz="2074">
                <a:solidFill>
                  <a:srgbClr val="051D40"/>
                </a:solidFill>
                <a:latin typeface="DM Sans"/>
                <a:ea typeface="DM Sans"/>
                <a:cs typeface="DM Sans"/>
                <a:sym typeface="DM Sans"/>
              </a:rPr>
              <a:t> </a:t>
            </a:r>
          </a:p>
        </p:txBody>
      </p:sp>
      <p:sp>
        <p:nvSpPr>
          <p:cNvPr name="TextBox 47" id="47"/>
          <p:cNvSpPr txBox="true"/>
          <p:nvPr/>
        </p:nvSpPr>
        <p:spPr>
          <a:xfrm rot="0">
            <a:off x="14574019" y="4596208"/>
            <a:ext cx="3187235" cy="141908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 marL="447863" indent="-223932" lvl="1">
              <a:lnSpc>
                <a:spcPts val="2862"/>
              </a:lnSpc>
              <a:buFont typeface="Arial"/>
              <a:buChar char="•"/>
            </a:pPr>
            <a:r>
              <a:rPr lang="en-US" sz="2074">
                <a:solidFill>
                  <a:srgbClr val="051D40"/>
                </a:solidFill>
                <a:latin typeface="DM Sans"/>
                <a:ea typeface="DM Sans"/>
                <a:cs typeface="DM Sans"/>
                <a:sym typeface="DM Sans"/>
              </a:rPr>
              <a:t>Top products, cities</a:t>
            </a:r>
          </a:p>
          <a:p>
            <a:pPr algn="just" marL="447863" indent="-223932" lvl="1">
              <a:lnSpc>
                <a:spcPts val="2862"/>
              </a:lnSpc>
              <a:buFont typeface="Arial"/>
              <a:buChar char="•"/>
            </a:pPr>
            <a:r>
              <a:rPr lang="en-US" sz="2074">
                <a:solidFill>
                  <a:srgbClr val="051D40"/>
                </a:solidFill>
                <a:latin typeface="DM Sans"/>
                <a:ea typeface="DM Sans"/>
                <a:cs typeface="DM Sans"/>
                <a:sym typeface="DM Sans"/>
              </a:rPr>
              <a:t>Revenue by region</a:t>
            </a:r>
          </a:p>
          <a:p>
            <a:pPr algn="just" marL="447863" indent="-223932" lvl="1">
              <a:lnSpc>
                <a:spcPts val="2862"/>
              </a:lnSpc>
              <a:buFont typeface="Arial"/>
              <a:buChar char="•"/>
            </a:pPr>
            <a:r>
              <a:rPr lang="en-US" sz="2074">
                <a:solidFill>
                  <a:srgbClr val="051D40"/>
                </a:solidFill>
                <a:latin typeface="DM Sans"/>
                <a:ea typeface="DM Sans"/>
                <a:cs typeface="DM Sans"/>
                <a:sym typeface="DM Sans"/>
              </a:rPr>
              <a:t>Repeat customer logic</a:t>
            </a:r>
          </a:p>
          <a:p>
            <a:pPr algn="just" marL="447863" indent="-223932" lvl="1">
              <a:lnSpc>
                <a:spcPts val="2862"/>
              </a:lnSpc>
              <a:buFont typeface="Arial"/>
              <a:buChar char="•"/>
            </a:pPr>
            <a:r>
              <a:rPr lang="en-US" sz="2074">
                <a:solidFill>
                  <a:srgbClr val="051D40"/>
                </a:solidFill>
                <a:latin typeface="DM Sans"/>
                <a:ea typeface="DM Sans"/>
                <a:cs typeface="DM Sans"/>
                <a:sym typeface="DM Sans"/>
              </a:rPr>
              <a:t>Data validation </a:t>
            </a:r>
          </a:p>
        </p:txBody>
      </p:sp>
      <p:sp>
        <p:nvSpPr>
          <p:cNvPr name="TextBox 48" id="48"/>
          <p:cNvSpPr txBox="true"/>
          <p:nvPr/>
        </p:nvSpPr>
        <p:spPr>
          <a:xfrm rot="0">
            <a:off x="719515" y="3522377"/>
            <a:ext cx="1936150" cy="90643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667"/>
              </a:lnSpc>
              <a:spcBef>
                <a:spcPct val="0"/>
              </a:spcBef>
            </a:pPr>
            <a:r>
              <a:rPr lang="en-US" b="true" sz="2657">
                <a:solidFill>
                  <a:srgbClr val="051D40"/>
                </a:solidFill>
                <a:latin typeface="DM Sans Bold"/>
                <a:ea typeface="DM Sans Bold"/>
                <a:cs typeface="DM Sans Bold"/>
                <a:sym typeface="DM Sans Bold"/>
              </a:rPr>
              <a:t>1. Data Collection</a:t>
            </a:r>
          </a:p>
        </p:txBody>
      </p:sp>
      <p:sp>
        <p:nvSpPr>
          <p:cNvPr name="TextBox 49" id="49"/>
          <p:cNvSpPr txBox="true"/>
          <p:nvPr/>
        </p:nvSpPr>
        <p:spPr>
          <a:xfrm rot="0">
            <a:off x="4952252" y="3470022"/>
            <a:ext cx="2307752" cy="117316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142"/>
              </a:lnSpc>
              <a:spcBef>
                <a:spcPct val="0"/>
              </a:spcBef>
            </a:pPr>
            <a:r>
              <a:rPr lang="en-US" b="true" sz="2277">
                <a:solidFill>
                  <a:srgbClr val="051D40"/>
                </a:solidFill>
                <a:latin typeface="DM Sans Bold"/>
                <a:ea typeface="DM Sans Bold"/>
                <a:cs typeface="DM Sans Bold"/>
                <a:sym typeface="DM Sans Bold"/>
              </a:rPr>
              <a:t>2.Data Cleaning &amp; Preprocessing (Python)</a:t>
            </a:r>
          </a:p>
        </p:txBody>
      </p:sp>
      <p:sp>
        <p:nvSpPr>
          <p:cNvPr name="TextBox 50" id="50"/>
          <p:cNvSpPr txBox="true"/>
          <p:nvPr/>
        </p:nvSpPr>
        <p:spPr>
          <a:xfrm rot="0">
            <a:off x="4904508" y="4937718"/>
            <a:ext cx="3187235" cy="177618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 marL="447863" indent="-223932" lvl="1">
              <a:lnSpc>
                <a:spcPts val="2862"/>
              </a:lnSpc>
              <a:buFont typeface="Arial"/>
              <a:buChar char="•"/>
            </a:pPr>
            <a:r>
              <a:rPr lang="en-US" sz="2074">
                <a:solidFill>
                  <a:srgbClr val="051D40"/>
                </a:solidFill>
                <a:latin typeface="DM Sans"/>
                <a:ea typeface="DM Sans"/>
                <a:cs typeface="DM Sans"/>
                <a:sym typeface="DM Sans"/>
              </a:rPr>
              <a:t>Handle nulls </a:t>
            </a:r>
          </a:p>
          <a:p>
            <a:pPr algn="just" marL="447863" indent="-223932" lvl="1">
              <a:lnSpc>
                <a:spcPts val="2862"/>
              </a:lnSpc>
              <a:buFont typeface="Arial"/>
              <a:buChar char="•"/>
            </a:pPr>
            <a:r>
              <a:rPr lang="en-US" sz="2074">
                <a:solidFill>
                  <a:srgbClr val="051D40"/>
                </a:solidFill>
                <a:latin typeface="DM Sans"/>
                <a:ea typeface="DM Sans"/>
                <a:cs typeface="DM Sans"/>
                <a:sym typeface="DM Sans"/>
              </a:rPr>
              <a:t>Handle duplicates</a:t>
            </a:r>
          </a:p>
          <a:p>
            <a:pPr algn="just" marL="447863" indent="-223932" lvl="1">
              <a:lnSpc>
                <a:spcPts val="2862"/>
              </a:lnSpc>
              <a:buFont typeface="Arial"/>
              <a:buChar char="•"/>
            </a:pPr>
            <a:r>
              <a:rPr lang="en-US" sz="2074">
                <a:solidFill>
                  <a:srgbClr val="051D40"/>
                </a:solidFill>
                <a:latin typeface="DM Sans"/>
                <a:ea typeface="DM Sans"/>
                <a:cs typeface="DM Sans"/>
                <a:sym typeface="DM Sans"/>
              </a:rPr>
              <a:t>Format date &amp; time</a:t>
            </a:r>
          </a:p>
          <a:p>
            <a:pPr algn="just" marL="447863" indent="-223932" lvl="1">
              <a:lnSpc>
                <a:spcPts val="2862"/>
              </a:lnSpc>
              <a:buFont typeface="Arial"/>
              <a:buChar char="•"/>
            </a:pPr>
            <a:r>
              <a:rPr lang="en-US" sz="2074">
                <a:solidFill>
                  <a:srgbClr val="051D40"/>
                </a:solidFill>
                <a:latin typeface="DM Sans"/>
                <a:ea typeface="DM Sans"/>
                <a:cs typeface="DM Sans"/>
                <a:sym typeface="DM Sans"/>
              </a:rPr>
              <a:t>Feature Engineering</a:t>
            </a:r>
          </a:p>
          <a:p>
            <a:pPr algn="just">
              <a:lnSpc>
                <a:spcPts val="2862"/>
              </a:lnSpc>
              <a:spcBef>
                <a:spcPct val="0"/>
              </a:spcBef>
            </a:pPr>
          </a:p>
        </p:txBody>
      </p:sp>
      <p:sp>
        <p:nvSpPr>
          <p:cNvPr name="TextBox 51" id="51"/>
          <p:cNvSpPr txBox="true"/>
          <p:nvPr/>
        </p:nvSpPr>
        <p:spPr>
          <a:xfrm rot="0">
            <a:off x="9437947" y="3273511"/>
            <a:ext cx="2307752" cy="117316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142"/>
              </a:lnSpc>
              <a:spcBef>
                <a:spcPct val="0"/>
              </a:spcBef>
            </a:pPr>
            <a:r>
              <a:rPr lang="en-US" b="true" sz="2277">
                <a:solidFill>
                  <a:srgbClr val="051D40"/>
                </a:solidFill>
                <a:latin typeface="DM Sans Bold"/>
                <a:ea typeface="DM Sans Bold"/>
                <a:cs typeface="DM Sans Bold"/>
                <a:sym typeface="DM Sans Bold"/>
              </a:rPr>
              <a:t>3.Exploratory Data Analysis (EDA) in Python</a:t>
            </a:r>
          </a:p>
        </p:txBody>
      </p:sp>
      <p:sp>
        <p:nvSpPr>
          <p:cNvPr name="TextBox 52" id="52"/>
          <p:cNvSpPr txBox="true"/>
          <p:nvPr/>
        </p:nvSpPr>
        <p:spPr>
          <a:xfrm rot="0">
            <a:off x="14574019" y="3522377"/>
            <a:ext cx="2307752" cy="117316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142"/>
              </a:lnSpc>
              <a:spcBef>
                <a:spcPct val="0"/>
              </a:spcBef>
            </a:pPr>
            <a:r>
              <a:rPr lang="en-US" b="true" sz="2277">
                <a:solidFill>
                  <a:srgbClr val="051D40"/>
                </a:solidFill>
                <a:latin typeface="DM Sans Bold"/>
                <a:ea typeface="DM Sans Bold"/>
                <a:cs typeface="DM Sans Bold"/>
                <a:sym typeface="DM Sans Bold"/>
              </a:rPr>
              <a:t>5. Insight Extraction via SQL</a:t>
            </a:r>
          </a:p>
        </p:txBody>
      </p:sp>
      <p:sp>
        <p:nvSpPr>
          <p:cNvPr name="TextBox 53" id="53"/>
          <p:cNvSpPr txBox="true"/>
          <p:nvPr/>
        </p:nvSpPr>
        <p:spPr>
          <a:xfrm rot="0">
            <a:off x="11011910" y="7041202"/>
            <a:ext cx="2307752" cy="117316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142"/>
              </a:lnSpc>
              <a:spcBef>
                <a:spcPct val="0"/>
              </a:spcBef>
            </a:pPr>
            <a:r>
              <a:rPr lang="en-US" b="true" sz="2277">
                <a:solidFill>
                  <a:srgbClr val="051D40"/>
                </a:solidFill>
                <a:latin typeface="DM Sans Bold"/>
                <a:ea typeface="DM Sans Bold"/>
                <a:cs typeface="DM Sans Bold"/>
                <a:sym typeface="DM Sans Bold"/>
              </a:rPr>
              <a:t>6. Dashboard Creation in Power BI</a:t>
            </a:r>
          </a:p>
        </p:txBody>
      </p:sp>
      <p:sp>
        <p:nvSpPr>
          <p:cNvPr name="TextBox 54" id="54"/>
          <p:cNvSpPr txBox="true"/>
          <p:nvPr/>
        </p:nvSpPr>
        <p:spPr>
          <a:xfrm rot="0">
            <a:off x="11087138" y="8177766"/>
            <a:ext cx="3187235" cy="106198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 marL="447863" indent="-223932" lvl="1">
              <a:lnSpc>
                <a:spcPts val="2862"/>
              </a:lnSpc>
              <a:buFont typeface="Arial"/>
              <a:buChar char="•"/>
            </a:pPr>
            <a:r>
              <a:rPr lang="en-US" sz="2074">
                <a:solidFill>
                  <a:srgbClr val="051D40"/>
                </a:solidFill>
                <a:latin typeface="DM Sans"/>
                <a:ea typeface="DM Sans"/>
                <a:cs typeface="DM Sans"/>
                <a:sym typeface="DM Sans"/>
              </a:rPr>
              <a:t>Sales overview</a:t>
            </a:r>
          </a:p>
          <a:p>
            <a:pPr algn="just" marL="447863" indent="-223932" lvl="1">
              <a:lnSpc>
                <a:spcPts val="2862"/>
              </a:lnSpc>
              <a:buFont typeface="Arial"/>
              <a:buChar char="•"/>
            </a:pPr>
            <a:r>
              <a:rPr lang="en-US" sz="2074">
                <a:solidFill>
                  <a:srgbClr val="051D40"/>
                </a:solidFill>
                <a:latin typeface="DM Sans"/>
                <a:ea typeface="DM Sans"/>
                <a:cs typeface="DM Sans"/>
                <a:sym typeface="DM Sans"/>
              </a:rPr>
              <a:t>Customer behavior</a:t>
            </a:r>
          </a:p>
          <a:p>
            <a:pPr algn="just" marL="447863" indent="-223932" lvl="1">
              <a:lnSpc>
                <a:spcPts val="2862"/>
              </a:lnSpc>
              <a:buFont typeface="Arial"/>
              <a:buChar char="•"/>
            </a:pPr>
            <a:r>
              <a:rPr lang="en-US" sz="2074">
                <a:solidFill>
                  <a:srgbClr val="051D40"/>
                </a:solidFill>
                <a:latin typeface="DM Sans"/>
                <a:ea typeface="DM Sans"/>
                <a:cs typeface="DM Sans"/>
                <a:sym typeface="DM Sans"/>
              </a:rPr>
              <a:t>Operational KPIs</a:t>
            </a:r>
          </a:p>
        </p:txBody>
      </p:sp>
      <p:sp>
        <p:nvSpPr>
          <p:cNvPr name="TextBox 55" id="55"/>
          <p:cNvSpPr txBox="true"/>
          <p:nvPr/>
        </p:nvSpPr>
        <p:spPr>
          <a:xfrm rot="0">
            <a:off x="5855559" y="7002015"/>
            <a:ext cx="2307752" cy="117316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142"/>
              </a:lnSpc>
              <a:spcBef>
                <a:spcPct val="0"/>
              </a:spcBef>
            </a:pPr>
            <a:r>
              <a:rPr lang="en-US" b="true" sz="2277">
                <a:solidFill>
                  <a:srgbClr val="051D40"/>
                </a:solidFill>
                <a:latin typeface="DM Sans Bold"/>
                <a:ea typeface="DM Sans Bold"/>
                <a:cs typeface="DM Sans Bold"/>
                <a:sym typeface="DM Sans Bold"/>
              </a:rPr>
              <a:t>7. Report &amp; Business Insights</a:t>
            </a:r>
          </a:p>
        </p:txBody>
      </p:sp>
      <p:sp>
        <p:nvSpPr>
          <p:cNvPr name="TextBox 56" id="56"/>
          <p:cNvSpPr txBox="true"/>
          <p:nvPr/>
        </p:nvSpPr>
        <p:spPr>
          <a:xfrm rot="0">
            <a:off x="5970649" y="8432946"/>
            <a:ext cx="3187235" cy="70488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 marL="447863" indent="-223932" lvl="1">
              <a:lnSpc>
                <a:spcPts val="2862"/>
              </a:lnSpc>
              <a:buFont typeface="Arial"/>
              <a:buChar char="•"/>
            </a:pPr>
            <a:r>
              <a:rPr lang="en-US" sz="2074">
                <a:solidFill>
                  <a:srgbClr val="051D40"/>
                </a:solidFill>
                <a:latin typeface="DM Sans"/>
                <a:ea typeface="DM Sans"/>
                <a:cs typeface="DM Sans"/>
                <a:sym typeface="DM Sans"/>
              </a:rPr>
              <a:t>Recommendations</a:t>
            </a:r>
          </a:p>
          <a:p>
            <a:pPr algn="just" marL="447863" indent="-223932" lvl="1">
              <a:lnSpc>
                <a:spcPts val="2862"/>
              </a:lnSpc>
              <a:buFont typeface="Arial"/>
              <a:buChar char="•"/>
            </a:pPr>
            <a:r>
              <a:rPr lang="en-US" sz="2074">
                <a:solidFill>
                  <a:srgbClr val="051D40"/>
                </a:solidFill>
                <a:latin typeface="DM Sans"/>
                <a:ea typeface="DM Sans"/>
                <a:cs typeface="DM Sans"/>
                <a:sym typeface="DM Sans"/>
              </a:rPr>
              <a:t>Visual summaries</a:t>
            </a:r>
          </a:p>
        </p:txBody>
      </p:sp>
      <p:sp>
        <p:nvSpPr>
          <p:cNvPr name="TextBox 57" id="57"/>
          <p:cNvSpPr txBox="true"/>
          <p:nvPr/>
        </p:nvSpPr>
        <p:spPr>
          <a:xfrm rot="0">
            <a:off x="371188" y="4710683"/>
            <a:ext cx="3187235" cy="141908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 marL="447863" indent="-223932" lvl="1">
              <a:lnSpc>
                <a:spcPts val="2862"/>
              </a:lnSpc>
              <a:buFont typeface="Arial"/>
              <a:buChar char="•"/>
            </a:pPr>
            <a:r>
              <a:rPr lang="en-US" sz="2074">
                <a:solidFill>
                  <a:srgbClr val="051D40"/>
                </a:solidFill>
                <a:latin typeface="DM Sans"/>
                <a:ea typeface="DM Sans"/>
                <a:cs typeface="DM Sans"/>
                <a:sym typeface="DM Sans"/>
              </a:rPr>
              <a:t>Collected 3,00,000 transaction and customer records</a:t>
            </a:r>
          </a:p>
          <a:p>
            <a:pPr algn="just">
              <a:lnSpc>
                <a:spcPts val="2862"/>
              </a:lnSpc>
              <a:spcBef>
                <a:spcPct val="0"/>
              </a:spcBef>
            </a:pPr>
          </a:p>
        </p:txBody>
      </p:sp>
      <p:grpSp>
        <p:nvGrpSpPr>
          <p:cNvPr name="Group 58" id="58"/>
          <p:cNvGrpSpPr/>
          <p:nvPr/>
        </p:nvGrpSpPr>
        <p:grpSpPr>
          <a:xfrm rot="-10800000">
            <a:off x="9134894" y="7741083"/>
            <a:ext cx="1952245" cy="661782"/>
            <a:chOff x="0" y="0"/>
            <a:chExt cx="1520168" cy="515314"/>
          </a:xfrm>
        </p:grpSpPr>
        <p:sp>
          <p:nvSpPr>
            <p:cNvPr name="Freeform 59" id="59"/>
            <p:cNvSpPr/>
            <p:nvPr/>
          </p:nvSpPr>
          <p:spPr>
            <a:xfrm flipH="false" flipV="false" rot="0">
              <a:off x="0" y="0"/>
              <a:ext cx="1520168" cy="515314"/>
            </a:xfrm>
            <a:custGeom>
              <a:avLst/>
              <a:gdLst/>
              <a:ahLst/>
              <a:cxnLst/>
              <a:rect r="r" b="b" t="t" l="l"/>
              <a:pathLst>
                <a:path h="515314" w="1520168">
                  <a:moveTo>
                    <a:pt x="1520168" y="257657"/>
                  </a:moveTo>
                  <a:lnTo>
                    <a:pt x="1113768" y="0"/>
                  </a:lnTo>
                  <a:lnTo>
                    <a:pt x="1113768" y="203200"/>
                  </a:lnTo>
                  <a:lnTo>
                    <a:pt x="0" y="203200"/>
                  </a:lnTo>
                  <a:lnTo>
                    <a:pt x="0" y="312114"/>
                  </a:lnTo>
                  <a:lnTo>
                    <a:pt x="1113768" y="312114"/>
                  </a:lnTo>
                  <a:lnTo>
                    <a:pt x="1113768" y="515314"/>
                  </a:lnTo>
                  <a:lnTo>
                    <a:pt x="1520168" y="257657"/>
                  </a:lnTo>
                  <a:close/>
                </a:path>
              </a:pathLst>
            </a:custGeom>
            <a:solidFill>
              <a:srgbClr val="56AEFF"/>
            </a:solidFill>
          </p:spPr>
        </p:sp>
        <p:sp>
          <p:nvSpPr>
            <p:cNvPr name="TextBox 60" id="60"/>
            <p:cNvSpPr txBox="true"/>
            <p:nvPr/>
          </p:nvSpPr>
          <p:spPr>
            <a:xfrm>
              <a:off x="0" y="165100"/>
              <a:ext cx="1418568" cy="147014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05"/>
                </a:lnSpc>
              </a:pPr>
            </a:p>
          </p:txBody>
        </p:sp>
      </p:grpSp>
    </p:spTree>
  </p:cSld>
  <p:clrMapOvr>
    <a:masterClrMapping/>
  </p:clrMapOvr>
</p:sld>
</file>

<file path=ppt/slides/slide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2204" t="0" r="-2204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-1584626" y="-740607"/>
            <a:ext cx="5226651" cy="4114800"/>
          </a:xfrm>
          <a:custGeom>
            <a:avLst/>
            <a:gdLst/>
            <a:ahLst/>
            <a:cxnLst/>
            <a:rect r="r" b="b" t="t" l="l"/>
            <a:pathLst>
              <a:path h="4114800" w="5226651">
                <a:moveTo>
                  <a:pt x="0" y="0"/>
                </a:moveTo>
                <a:lnTo>
                  <a:pt x="5226652" y="0"/>
                </a:lnTo>
                <a:lnTo>
                  <a:pt x="5226652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true" flipV="true" rot="0">
            <a:off x="14645974" y="7042697"/>
            <a:ext cx="5226651" cy="4114800"/>
          </a:xfrm>
          <a:custGeom>
            <a:avLst/>
            <a:gdLst/>
            <a:ahLst/>
            <a:cxnLst/>
            <a:rect r="r" b="b" t="t" l="l"/>
            <a:pathLst>
              <a:path h="4114800" w="5226651">
                <a:moveTo>
                  <a:pt x="5226652" y="4114800"/>
                </a:moveTo>
                <a:lnTo>
                  <a:pt x="0" y="4114800"/>
                </a:lnTo>
                <a:lnTo>
                  <a:pt x="0" y="0"/>
                </a:lnTo>
                <a:lnTo>
                  <a:pt x="5226652" y="0"/>
                </a:lnTo>
                <a:lnTo>
                  <a:pt x="5226652" y="411480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0">
            <a:off x="15729343" y="-740607"/>
            <a:ext cx="3059915" cy="4114800"/>
          </a:xfrm>
          <a:custGeom>
            <a:avLst/>
            <a:gdLst/>
            <a:ahLst/>
            <a:cxnLst/>
            <a:rect r="r" b="b" t="t" l="l"/>
            <a:pathLst>
              <a:path h="4114800" w="3059915">
                <a:moveTo>
                  <a:pt x="0" y="0"/>
                </a:moveTo>
                <a:lnTo>
                  <a:pt x="3059914" y="0"/>
                </a:lnTo>
                <a:lnTo>
                  <a:pt x="3059914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0">
            <a:off x="13959236" y="3503417"/>
            <a:ext cx="2619067" cy="3539280"/>
          </a:xfrm>
          <a:custGeom>
            <a:avLst/>
            <a:gdLst/>
            <a:ahLst/>
            <a:cxnLst/>
            <a:rect r="r" b="b" t="t" l="l"/>
            <a:pathLst>
              <a:path h="3539280" w="2619067">
                <a:moveTo>
                  <a:pt x="0" y="0"/>
                </a:moveTo>
                <a:lnTo>
                  <a:pt x="2619068" y="0"/>
                </a:lnTo>
                <a:lnTo>
                  <a:pt x="2619068" y="3539280"/>
                </a:lnTo>
                <a:lnTo>
                  <a:pt x="0" y="3539280"/>
                </a:lnTo>
                <a:lnTo>
                  <a:pt x="0" y="0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7" id="7"/>
          <p:cNvSpPr txBox="true"/>
          <p:nvPr/>
        </p:nvSpPr>
        <p:spPr>
          <a:xfrm rot="0">
            <a:off x="3417780" y="499745"/>
            <a:ext cx="11228195" cy="95313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7839"/>
              </a:lnSpc>
            </a:pPr>
            <a:r>
              <a:rPr lang="en-US" b="true" sz="5599">
                <a:solidFill>
                  <a:srgbClr val="050E9B"/>
                </a:solidFill>
                <a:latin typeface="Merriweather Sans Bold"/>
                <a:ea typeface="Merriweather Sans Bold"/>
                <a:cs typeface="Merriweather Sans Bold"/>
                <a:sym typeface="Merriweather Sans Bold"/>
              </a:rPr>
              <a:t>DATASET DESCRIPTION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532854" y="2401126"/>
            <a:ext cx="11697913" cy="758023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 marL="661886" indent="-330943" lvl="1">
              <a:lnSpc>
                <a:spcPts val="4291"/>
              </a:lnSpc>
              <a:buFont typeface="Arial"/>
              <a:buChar char="•"/>
            </a:pPr>
            <a:r>
              <a:rPr lang="en-US" sz="3065">
                <a:solidFill>
                  <a:srgbClr val="050E9B"/>
                </a:solidFill>
                <a:latin typeface="Monda"/>
                <a:ea typeface="Monda"/>
                <a:cs typeface="Monda"/>
                <a:sym typeface="Monda"/>
              </a:rPr>
              <a:t>Dataset Source: Kaggle – Retail Transactional Dataset (</a:t>
            </a:r>
            <a:r>
              <a:rPr lang="en-US" sz="3065" u="sng">
                <a:solidFill>
                  <a:srgbClr val="050E9B"/>
                </a:solidFill>
                <a:latin typeface="Monda"/>
                <a:ea typeface="Monda"/>
                <a:cs typeface="Monda"/>
                <a:sym typeface="Monda"/>
                <a:hlinkClick r:id="rId9" tooltip="https://www.kaggle.com/datasets/bhavikjikadara/retail-transactional-dataset"/>
              </a:rPr>
              <a:t>https://www.kaggle.com/datasets/bhavikjikadara/retail-transactional-dataset</a:t>
            </a:r>
            <a:r>
              <a:rPr lang="en-US" sz="3065">
                <a:solidFill>
                  <a:srgbClr val="050E9B"/>
                </a:solidFill>
                <a:latin typeface="Monda"/>
                <a:ea typeface="Monda"/>
                <a:cs typeface="Monda"/>
                <a:sym typeface="Monda"/>
              </a:rPr>
              <a:t>)</a:t>
            </a:r>
          </a:p>
          <a:p>
            <a:pPr algn="just" marL="661886" indent="-330943" lvl="1">
              <a:lnSpc>
                <a:spcPts val="4291"/>
              </a:lnSpc>
              <a:buFont typeface="Arial"/>
              <a:buChar char="•"/>
            </a:pPr>
            <a:r>
              <a:rPr lang="en-US" sz="3065">
                <a:solidFill>
                  <a:srgbClr val="050E9B"/>
                </a:solidFill>
                <a:latin typeface="Monda"/>
                <a:ea typeface="Monda"/>
                <a:cs typeface="Monda"/>
                <a:sym typeface="Monda"/>
              </a:rPr>
              <a:t>Initial Records: ~3,00,000 transaction and customer records</a:t>
            </a:r>
          </a:p>
          <a:p>
            <a:pPr algn="just" marL="661886" indent="-330943" lvl="1">
              <a:lnSpc>
                <a:spcPts val="4291"/>
              </a:lnSpc>
              <a:buFont typeface="Arial"/>
              <a:buChar char="•"/>
            </a:pPr>
            <a:r>
              <a:rPr lang="en-US" sz="3065">
                <a:solidFill>
                  <a:srgbClr val="050E9B"/>
                </a:solidFill>
                <a:latin typeface="Monda"/>
                <a:ea typeface="Monda"/>
                <a:cs typeface="Monda"/>
                <a:sym typeface="Monda"/>
              </a:rPr>
              <a:t>Total Columns: 28 attributes</a:t>
            </a:r>
          </a:p>
          <a:p>
            <a:pPr algn="just" marL="661886" indent="-330943" lvl="1">
              <a:lnSpc>
                <a:spcPts val="4291"/>
              </a:lnSpc>
              <a:buFont typeface="Arial"/>
              <a:buChar char="•"/>
            </a:pPr>
            <a:r>
              <a:rPr lang="en-US" sz="3065">
                <a:solidFill>
                  <a:srgbClr val="050E9B"/>
                </a:solidFill>
                <a:latin typeface="Monda"/>
                <a:ea typeface="Monda"/>
                <a:cs typeface="Monda"/>
                <a:sym typeface="Monda"/>
              </a:rPr>
              <a:t>Data Type: Transactional, Demographic, and Feedback data</a:t>
            </a:r>
          </a:p>
          <a:p>
            <a:pPr algn="just" marL="661886" indent="-330943" lvl="1">
              <a:lnSpc>
                <a:spcPts val="4291"/>
              </a:lnSpc>
              <a:buFont typeface="Arial"/>
              <a:buChar char="•"/>
            </a:pPr>
            <a:r>
              <a:rPr lang="en-US" sz="3065">
                <a:solidFill>
                  <a:srgbClr val="050E9B"/>
                </a:solidFill>
                <a:latin typeface="Monda"/>
                <a:ea typeface="Monda"/>
                <a:cs typeface="Monda"/>
                <a:sym typeface="Monda"/>
              </a:rPr>
              <a:t>Key Features: Customer_ID, Age, Gender, Product_Category, Payment_Method, Total_Amount, Ratings, Feedback, Date, Time, etc.</a:t>
            </a:r>
          </a:p>
          <a:p>
            <a:pPr algn="just" marL="661886" indent="-330943" lvl="1">
              <a:lnSpc>
                <a:spcPts val="4291"/>
              </a:lnSpc>
              <a:buFont typeface="Arial"/>
              <a:buChar char="•"/>
            </a:pPr>
            <a:r>
              <a:rPr lang="en-US" sz="3065">
                <a:solidFill>
                  <a:srgbClr val="050E9B"/>
                </a:solidFill>
                <a:latin typeface="Monda"/>
                <a:ea typeface="Monda"/>
                <a:cs typeface="Monda"/>
                <a:sym typeface="Monda"/>
              </a:rPr>
              <a:t>Purpose: To analyze customer purchasing patterns, product performance, and operational efficiency.</a:t>
            </a:r>
          </a:p>
          <a:p>
            <a:pPr algn="just">
              <a:lnSpc>
                <a:spcPts val="4291"/>
              </a:lnSpc>
              <a:spcBef>
                <a:spcPct val="0"/>
              </a:spcBef>
            </a:pPr>
          </a:p>
        </p:txBody>
      </p:sp>
    </p:spTree>
  </p:cSld>
  <p:clrMapOvr>
    <a:masterClrMapping/>
  </p:clrMapOvr>
</p:sld>
</file>

<file path=ppt/slides/slide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2204" t="0" r="-2204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-1584626" y="-740607"/>
            <a:ext cx="5226651" cy="4114800"/>
          </a:xfrm>
          <a:custGeom>
            <a:avLst/>
            <a:gdLst/>
            <a:ahLst/>
            <a:cxnLst/>
            <a:rect r="r" b="b" t="t" l="l"/>
            <a:pathLst>
              <a:path h="4114800" w="5226651">
                <a:moveTo>
                  <a:pt x="0" y="0"/>
                </a:moveTo>
                <a:lnTo>
                  <a:pt x="5226652" y="0"/>
                </a:lnTo>
                <a:lnTo>
                  <a:pt x="5226652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true" flipV="true" rot="0">
            <a:off x="14645974" y="7042697"/>
            <a:ext cx="5226651" cy="4114800"/>
          </a:xfrm>
          <a:custGeom>
            <a:avLst/>
            <a:gdLst/>
            <a:ahLst/>
            <a:cxnLst/>
            <a:rect r="r" b="b" t="t" l="l"/>
            <a:pathLst>
              <a:path h="4114800" w="5226651">
                <a:moveTo>
                  <a:pt x="5226652" y="4114800"/>
                </a:moveTo>
                <a:lnTo>
                  <a:pt x="0" y="4114800"/>
                </a:lnTo>
                <a:lnTo>
                  <a:pt x="0" y="0"/>
                </a:lnTo>
                <a:lnTo>
                  <a:pt x="5226652" y="0"/>
                </a:lnTo>
                <a:lnTo>
                  <a:pt x="5226652" y="411480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0">
            <a:off x="15729343" y="-740607"/>
            <a:ext cx="3059915" cy="4114800"/>
          </a:xfrm>
          <a:custGeom>
            <a:avLst/>
            <a:gdLst/>
            <a:ahLst/>
            <a:cxnLst/>
            <a:rect r="r" b="b" t="t" l="l"/>
            <a:pathLst>
              <a:path h="4114800" w="3059915">
                <a:moveTo>
                  <a:pt x="0" y="0"/>
                </a:moveTo>
                <a:lnTo>
                  <a:pt x="3059914" y="0"/>
                </a:lnTo>
                <a:lnTo>
                  <a:pt x="3059914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6" id="6"/>
          <p:cNvGrpSpPr/>
          <p:nvPr/>
        </p:nvGrpSpPr>
        <p:grpSpPr>
          <a:xfrm rot="0">
            <a:off x="12111068" y="2466894"/>
            <a:ext cx="2534906" cy="2534906"/>
            <a:chOff x="0" y="0"/>
            <a:chExt cx="812800" cy="812800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70245" y="0"/>
                  </a:moveTo>
                  <a:lnTo>
                    <a:pt x="742555" y="0"/>
                  </a:lnTo>
                  <a:cubicBezTo>
                    <a:pt x="761185" y="0"/>
                    <a:pt x="779052" y="7401"/>
                    <a:pt x="792226" y="20574"/>
                  </a:cubicBezTo>
                  <a:cubicBezTo>
                    <a:pt x="805399" y="33748"/>
                    <a:pt x="812800" y="51615"/>
                    <a:pt x="812800" y="70245"/>
                  </a:cubicBezTo>
                  <a:lnTo>
                    <a:pt x="812800" y="742555"/>
                  </a:lnTo>
                  <a:cubicBezTo>
                    <a:pt x="812800" y="761185"/>
                    <a:pt x="805399" y="779052"/>
                    <a:pt x="792226" y="792226"/>
                  </a:cubicBezTo>
                  <a:cubicBezTo>
                    <a:pt x="779052" y="805399"/>
                    <a:pt x="761185" y="812800"/>
                    <a:pt x="742555" y="812800"/>
                  </a:cubicBezTo>
                  <a:lnTo>
                    <a:pt x="70245" y="812800"/>
                  </a:lnTo>
                  <a:cubicBezTo>
                    <a:pt x="51615" y="812800"/>
                    <a:pt x="33748" y="805399"/>
                    <a:pt x="20574" y="792226"/>
                  </a:cubicBezTo>
                  <a:cubicBezTo>
                    <a:pt x="7401" y="779052"/>
                    <a:pt x="0" y="761185"/>
                    <a:pt x="0" y="742555"/>
                  </a:cubicBezTo>
                  <a:lnTo>
                    <a:pt x="0" y="70245"/>
                  </a:lnTo>
                  <a:cubicBezTo>
                    <a:pt x="0" y="51615"/>
                    <a:pt x="7401" y="33748"/>
                    <a:pt x="20574" y="20574"/>
                  </a:cubicBezTo>
                  <a:cubicBezTo>
                    <a:pt x="33748" y="7401"/>
                    <a:pt x="51615" y="0"/>
                    <a:pt x="70245" y="0"/>
                  </a:cubicBezTo>
                  <a:close/>
                </a:path>
              </a:pathLst>
            </a:custGeom>
            <a:blipFill>
              <a:blip r:embed="rId7"/>
              <a:stretch>
                <a:fillRect l="0" t="0" r="0" b="0"/>
              </a:stretch>
            </a:blipFill>
          </p:spPr>
        </p:sp>
      </p:grpSp>
      <p:grpSp>
        <p:nvGrpSpPr>
          <p:cNvPr name="Group 8" id="8"/>
          <p:cNvGrpSpPr/>
          <p:nvPr/>
        </p:nvGrpSpPr>
        <p:grpSpPr>
          <a:xfrm rot="0">
            <a:off x="11302851" y="5373564"/>
            <a:ext cx="3308410" cy="1340471"/>
            <a:chOff x="0" y="0"/>
            <a:chExt cx="1025118" cy="415348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1025118" cy="415348"/>
            </a:xfrm>
            <a:custGeom>
              <a:avLst/>
              <a:gdLst/>
              <a:ahLst/>
              <a:cxnLst/>
              <a:rect r="r" b="b" t="t" l="l"/>
              <a:pathLst>
                <a:path h="415348" w="1025118">
                  <a:moveTo>
                    <a:pt x="53822" y="0"/>
                  </a:moveTo>
                  <a:lnTo>
                    <a:pt x="971297" y="0"/>
                  </a:lnTo>
                  <a:cubicBezTo>
                    <a:pt x="1001022" y="0"/>
                    <a:pt x="1025118" y="24097"/>
                    <a:pt x="1025118" y="53822"/>
                  </a:cubicBezTo>
                  <a:lnTo>
                    <a:pt x="1025118" y="361526"/>
                  </a:lnTo>
                  <a:cubicBezTo>
                    <a:pt x="1025118" y="375801"/>
                    <a:pt x="1019448" y="389490"/>
                    <a:pt x="1009354" y="399584"/>
                  </a:cubicBezTo>
                  <a:cubicBezTo>
                    <a:pt x="999261" y="409678"/>
                    <a:pt x="985571" y="415348"/>
                    <a:pt x="971297" y="415348"/>
                  </a:cubicBezTo>
                  <a:lnTo>
                    <a:pt x="53822" y="415348"/>
                  </a:lnTo>
                  <a:cubicBezTo>
                    <a:pt x="24097" y="415348"/>
                    <a:pt x="0" y="391251"/>
                    <a:pt x="0" y="361526"/>
                  </a:cubicBezTo>
                  <a:lnTo>
                    <a:pt x="0" y="53822"/>
                  </a:lnTo>
                  <a:cubicBezTo>
                    <a:pt x="0" y="24097"/>
                    <a:pt x="24097" y="0"/>
                    <a:pt x="53822" y="0"/>
                  </a:cubicBezTo>
                  <a:close/>
                </a:path>
              </a:pathLst>
            </a:custGeom>
            <a:blipFill>
              <a:blip r:embed="rId8"/>
              <a:stretch>
                <a:fillRect l="0" t="-8117" r="0" b="-8117"/>
              </a:stretch>
            </a:blipFill>
          </p:spPr>
        </p:sp>
      </p:grpSp>
      <p:grpSp>
        <p:nvGrpSpPr>
          <p:cNvPr name="Group 10" id="10"/>
          <p:cNvGrpSpPr/>
          <p:nvPr/>
        </p:nvGrpSpPr>
        <p:grpSpPr>
          <a:xfrm rot="0">
            <a:off x="15258960" y="4484039"/>
            <a:ext cx="2558657" cy="2558657"/>
            <a:chOff x="0" y="0"/>
            <a:chExt cx="812800" cy="812800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69593" y="0"/>
                  </a:moveTo>
                  <a:lnTo>
                    <a:pt x="743207" y="0"/>
                  </a:lnTo>
                  <a:cubicBezTo>
                    <a:pt x="761664" y="0"/>
                    <a:pt x="779366" y="7332"/>
                    <a:pt x="792417" y="20383"/>
                  </a:cubicBezTo>
                  <a:cubicBezTo>
                    <a:pt x="805468" y="33434"/>
                    <a:pt x="812800" y="51136"/>
                    <a:pt x="812800" y="69593"/>
                  </a:cubicBezTo>
                  <a:lnTo>
                    <a:pt x="812800" y="743207"/>
                  </a:lnTo>
                  <a:cubicBezTo>
                    <a:pt x="812800" y="761664"/>
                    <a:pt x="805468" y="779366"/>
                    <a:pt x="792417" y="792417"/>
                  </a:cubicBezTo>
                  <a:cubicBezTo>
                    <a:pt x="779366" y="805468"/>
                    <a:pt x="761664" y="812800"/>
                    <a:pt x="743207" y="812800"/>
                  </a:cubicBezTo>
                  <a:lnTo>
                    <a:pt x="69593" y="812800"/>
                  </a:lnTo>
                  <a:cubicBezTo>
                    <a:pt x="51136" y="812800"/>
                    <a:pt x="33434" y="805468"/>
                    <a:pt x="20383" y="792417"/>
                  </a:cubicBezTo>
                  <a:cubicBezTo>
                    <a:pt x="7332" y="779366"/>
                    <a:pt x="0" y="761664"/>
                    <a:pt x="0" y="743207"/>
                  </a:cubicBezTo>
                  <a:lnTo>
                    <a:pt x="0" y="69593"/>
                  </a:lnTo>
                  <a:cubicBezTo>
                    <a:pt x="0" y="51136"/>
                    <a:pt x="7332" y="33434"/>
                    <a:pt x="20383" y="20383"/>
                  </a:cubicBezTo>
                  <a:cubicBezTo>
                    <a:pt x="33434" y="7332"/>
                    <a:pt x="51136" y="0"/>
                    <a:pt x="69593" y="0"/>
                  </a:cubicBezTo>
                  <a:close/>
                </a:path>
              </a:pathLst>
            </a:custGeom>
            <a:blipFill>
              <a:blip r:embed="rId9"/>
              <a:stretch>
                <a:fillRect l="-12437" t="0" r="-12437" b="0"/>
              </a:stretch>
            </a:blipFill>
          </p:spPr>
        </p:sp>
      </p:grpSp>
      <p:sp>
        <p:nvSpPr>
          <p:cNvPr name="TextBox 12" id="12"/>
          <p:cNvSpPr txBox="true"/>
          <p:nvPr/>
        </p:nvSpPr>
        <p:spPr>
          <a:xfrm rot="0">
            <a:off x="328662" y="2409744"/>
            <a:ext cx="10323678" cy="728241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 marL="683487" indent="-341744" lvl="1">
              <a:lnSpc>
                <a:spcPts val="4432"/>
              </a:lnSpc>
              <a:buFont typeface="Arial"/>
              <a:buChar char="•"/>
            </a:pPr>
            <a:r>
              <a:rPr lang="en-US" sz="3165">
                <a:solidFill>
                  <a:srgbClr val="050E9B"/>
                </a:solidFill>
                <a:latin typeface="Monda"/>
                <a:ea typeface="Monda"/>
                <a:cs typeface="Monda"/>
                <a:sym typeface="Monda"/>
              </a:rPr>
              <a:t>Python (Jupyter Notebook): Used for data cleaning, preprocessing, and EDA.</a:t>
            </a:r>
          </a:p>
          <a:p>
            <a:pPr algn="just" marL="683487" indent="-341744" lvl="1">
              <a:lnSpc>
                <a:spcPts val="4432"/>
              </a:lnSpc>
              <a:buFont typeface="Arial"/>
              <a:buChar char="•"/>
            </a:pPr>
            <a:r>
              <a:rPr lang="en-US" sz="3165">
                <a:solidFill>
                  <a:srgbClr val="050E9B"/>
                </a:solidFill>
                <a:latin typeface="Monda"/>
                <a:ea typeface="Monda"/>
                <a:cs typeface="Monda"/>
                <a:sym typeface="Monda"/>
              </a:rPr>
              <a:t>SQLite3: Used for storing, querying, and extracting structured insights from cleaned data.</a:t>
            </a:r>
          </a:p>
          <a:p>
            <a:pPr algn="just" marL="683487" indent="-341744" lvl="1">
              <a:lnSpc>
                <a:spcPts val="4432"/>
              </a:lnSpc>
              <a:buFont typeface="Arial"/>
              <a:buChar char="•"/>
            </a:pPr>
            <a:r>
              <a:rPr lang="en-US" sz="3165">
                <a:solidFill>
                  <a:srgbClr val="050E9B"/>
                </a:solidFill>
                <a:latin typeface="Monda"/>
                <a:ea typeface="Monda"/>
                <a:cs typeface="Monda"/>
                <a:sym typeface="Monda"/>
              </a:rPr>
              <a:t>Power BI: Used for creating interactive dashboards and visual storytelling.</a:t>
            </a:r>
          </a:p>
          <a:p>
            <a:pPr algn="just" marL="683487" indent="-341744" lvl="1">
              <a:lnSpc>
                <a:spcPts val="4432"/>
              </a:lnSpc>
              <a:buFont typeface="Arial"/>
              <a:buChar char="•"/>
            </a:pPr>
            <a:r>
              <a:rPr lang="en-US" sz="3165">
                <a:solidFill>
                  <a:srgbClr val="050E9B"/>
                </a:solidFill>
                <a:latin typeface="Monda"/>
                <a:ea typeface="Monda"/>
                <a:cs typeface="Monda"/>
                <a:sym typeface="Monda"/>
              </a:rPr>
              <a:t>Power Query: Used for data transformation and integration before visualization.</a:t>
            </a:r>
          </a:p>
          <a:p>
            <a:pPr algn="just" marL="683487" indent="-341744" lvl="1">
              <a:lnSpc>
                <a:spcPts val="4432"/>
              </a:lnSpc>
              <a:buFont typeface="Arial"/>
              <a:buChar char="•"/>
            </a:pPr>
            <a:r>
              <a:rPr lang="en-US" sz="3165">
                <a:solidFill>
                  <a:srgbClr val="050E9B"/>
                </a:solidFill>
                <a:latin typeface="Monda"/>
                <a:ea typeface="Monda"/>
                <a:cs typeface="Monda"/>
                <a:sym typeface="Monda"/>
              </a:rPr>
              <a:t>DAX (Data Analysis Expressions): Used for creating KPIs, calculated columns, and measures in Power BI.</a:t>
            </a:r>
          </a:p>
          <a:p>
            <a:pPr algn="just" marL="683487" indent="-341744" lvl="1">
              <a:lnSpc>
                <a:spcPts val="4432"/>
              </a:lnSpc>
              <a:buFont typeface="Arial"/>
              <a:buChar char="•"/>
            </a:pPr>
            <a:r>
              <a:rPr lang="en-US" sz="3165">
                <a:solidFill>
                  <a:srgbClr val="050E9B"/>
                </a:solidFill>
                <a:latin typeface="Monda"/>
                <a:ea typeface="Monda"/>
                <a:cs typeface="Monda"/>
                <a:sym typeface="Monda"/>
              </a:rPr>
              <a:t>Excel: Used for quick data checks, exports, and intermediate reviews.</a:t>
            </a:r>
          </a:p>
        </p:txBody>
      </p:sp>
      <p:grpSp>
        <p:nvGrpSpPr>
          <p:cNvPr name="Group 13" id="13"/>
          <p:cNvGrpSpPr/>
          <p:nvPr/>
        </p:nvGrpSpPr>
        <p:grpSpPr>
          <a:xfrm rot="0">
            <a:off x="12367873" y="7387792"/>
            <a:ext cx="2562425" cy="2562425"/>
            <a:chOff x="0" y="0"/>
            <a:chExt cx="812800" cy="812800"/>
          </a:xfrm>
        </p:grpSpPr>
        <p:sp>
          <p:nvSpPr>
            <p:cNvPr name="Freeform 14" id="14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69490" y="0"/>
                  </a:moveTo>
                  <a:lnTo>
                    <a:pt x="743310" y="0"/>
                  </a:lnTo>
                  <a:cubicBezTo>
                    <a:pt x="761740" y="0"/>
                    <a:pt x="779415" y="7321"/>
                    <a:pt x="792447" y="20353"/>
                  </a:cubicBezTo>
                  <a:cubicBezTo>
                    <a:pt x="805479" y="33385"/>
                    <a:pt x="812800" y="51060"/>
                    <a:pt x="812800" y="69490"/>
                  </a:cubicBezTo>
                  <a:lnTo>
                    <a:pt x="812800" y="743310"/>
                  </a:lnTo>
                  <a:cubicBezTo>
                    <a:pt x="812800" y="761740"/>
                    <a:pt x="805479" y="779415"/>
                    <a:pt x="792447" y="792447"/>
                  </a:cubicBezTo>
                  <a:cubicBezTo>
                    <a:pt x="779415" y="805479"/>
                    <a:pt x="761740" y="812800"/>
                    <a:pt x="743310" y="812800"/>
                  </a:cubicBezTo>
                  <a:lnTo>
                    <a:pt x="69490" y="812800"/>
                  </a:lnTo>
                  <a:cubicBezTo>
                    <a:pt x="51060" y="812800"/>
                    <a:pt x="33385" y="805479"/>
                    <a:pt x="20353" y="792447"/>
                  </a:cubicBezTo>
                  <a:cubicBezTo>
                    <a:pt x="7321" y="779415"/>
                    <a:pt x="0" y="761740"/>
                    <a:pt x="0" y="743310"/>
                  </a:cubicBezTo>
                  <a:lnTo>
                    <a:pt x="0" y="69490"/>
                  </a:lnTo>
                  <a:cubicBezTo>
                    <a:pt x="0" y="51060"/>
                    <a:pt x="7321" y="33385"/>
                    <a:pt x="20353" y="20353"/>
                  </a:cubicBezTo>
                  <a:cubicBezTo>
                    <a:pt x="33385" y="7321"/>
                    <a:pt x="51060" y="0"/>
                    <a:pt x="69490" y="0"/>
                  </a:cubicBezTo>
                  <a:close/>
                </a:path>
              </a:pathLst>
            </a:custGeom>
            <a:blipFill>
              <a:blip r:embed="rId10"/>
              <a:stretch>
                <a:fillRect l="-2981" t="0" r="-2981" b="0"/>
              </a:stretch>
            </a:blipFill>
          </p:spPr>
        </p:sp>
      </p:grpSp>
      <p:sp>
        <p:nvSpPr>
          <p:cNvPr name="TextBox 15" id="15"/>
          <p:cNvSpPr txBox="true"/>
          <p:nvPr/>
        </p:nvSpPr>
        <p:spPr>
          <a:xfrm rot="0">
            <a:off x="3143932" y="266700"/>
            <a:ext cx="12585410" cy="7620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6299"/>
              </a:lnSpc>
            </a:pPr>
            <a:r>
              <a:rPr lang="en-US" b="true" sz="4500">
                <a:solidFill>
                  <a:srgbClr val="050E9B"/>
                </a:solidFill>
                <a:latin typeface="Merriweather Sans Bold"/>
                <a:ea typeface="Merriweather Sans Bold"/>
                <a:cs typeface="Merriweather Sans Bold"/>
                <a:sym typeface="Merriweather Sans Bold"/>
              </a:rPr>
              <a:t>TOOLS &amp; TECHNOLOGIES USED</a:t>
            </a:r>
          </a:p>
        </p:txBody>
      </p:sp>
    </p:spTree>
  </p:cSld>
  <p:clrMapOvr>
    <a:masterClrMapping/>
  </p:clrMapOvr>
</p:sld>
</file>

<file path=ppt/slides/slide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2204" t="0" r="-2204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-1584626" y="-740607"/>
            <a:ext cx="5226651" cy="4114800"/>
          </a:xfrm>
          <a:custGeom>
            <a:avLst/>
            <a:gdLst/>
            <a:ahLst/>
            <a:cxnLst/>
            <a:rect r="r" b="b" t="t" l="l"/>
            <a:pathLst>
              <a:path h="4114800" w="5226651">
                <a:moveTo>
                  <a:pt x="0" y="0"/>
                </a:moveTo>
                <a:lnTo>
                  <a:pt x="5226652" y="0"/>
                </a:lnTo>
                <a:lnTo>
                  <a:pt x="5226652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true" flipV="true" rot="0">
            <a:off x="14645974" y="7042697"/>
            <a:ext cx="5226651" cy="4114800"/>
          </a:xfrm>
          <a:custGeom>
            <a:avLst/>
            <a:gdLst/>
            <a:ahLst/>
            <a:cxnLst/>
            <a:rect r="r" b="b" t="t" l="l"/>
            <a:pathLst>
              <a:path h="4114800" w="5226651">
                <a:moveTo>
                  <a:pt x="5226652" y="4114800"/>
                </a:moveTo>
                <a:lnTo>
                  <a:pt x="0" y="4114800"/>
                </a:lnTo>
                <a:lnTo>
                  <a:pt x="0" y="0"/>
                </a:lnTo>
                <a:lnTo>
                  <a:pt x="5226652" y="0"/>
                </a:lnTo>
                <a:lnTo>
                  <a:pt x="5226652" y="411480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0">
            <a:off x="15729343" y="-740607"/>
            <a:ext cx="3059915" cy="4114800"/>
          </a:xfrm>
          <a:custGeom>
            <a:avLst/>
            <a:gdLst/>
            <a:ahLst/>
            <a:cxnLst/>
            <a:rect r="r" b="b" t="t" l="l"/>
            <a:pathLst>
              <a:path h="4114800" w="3059915">
                <a:moveTo>
                  <a:pt x="0" y="0"/>
                </a:moveTo>
                <a:lnTo>
                  <a:pt x="3059914" y="0"/>
                </a:lnTo>
                <a:lnTo>
                  <a:pt x="3059914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  <p:graphicFrame>
        <p:nvGraphicFramePr>
          <p:cNvPr name="Object 6" id="6"/>
          <p:cNvGraphicFramePr/>
          <p:nvPr/>
        </p:nvGraphicFramePr>
        <p:xfrm>
          <a:off x="1544638" y="2840585"/>
          <a:ext cx="5657850" cy="5029200"/>
        </p:xfrm>
        <a:graphic>
          <a:graphicData uri="http://schemas.openxmlformats.org/presentationml/2006/ole">
            <p:oleObj imgW="6781800" imgH="6159500" r:id="rId8" progId="Excel.Sheet.12" name="Worksheet">
              <p:embed/>
              <p:pic>
                <p:nvPicPr>
                  <p:cNvPr name="" id="0"/>
                  <p:cNvPicPr/>
                  <p:nvPr/>
                </p:nvPicPr>
                <p:blipFill>
                  <a:blip r:embed="rId7"/>
                  <a:stretch>
                    <a:fillRect/>
                  </a:stretch>
                </p:blipFill>
                <p:spPr>
                  <a:xfrm>
                    <a:off x="1270000" y="1270000"/>
                    <a:ext cx="1270000" cy="1270000"/>
                  </a:xfrm>
                  <a:prstGeom prst="rect"/>
                </p:spPr>
              </p:pic>
            </p:oleObj>
          </a:graphicData>
        </a:graphic>
      </p:graphicFrame>
      <p:sp>
        <p:nvSpPr>
          <p:cNvPr name="TextBox 7" id="7"/>
          <p:cNvSpPr txBox="true"/>
          <p:nvPr/>
        </p:nvSpPr>
        <p:spPr>
          <a:xfrm rot="0">
            <a:off x="3143932" y="266700"/>
            <a:ext cx="12585410" cy="7620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6299"/>
              </a:lnSpc>
            </a:pPr>
            <a:r>
              <a:rPr lang="en-US" b="true" sz="4500">
                <a:solidFill>
                  <a:srgbClr val="050E9B"/>
                </a:solidFill>
                <a:latin typeface="Merriweather Sans Bold"/>
                <a:ea typeface="Merriweather Sans Bold"/>
                <a:cs typeface="Merriweather Sans Bold"/>
                <a:sym typeface="Merriweather Sans Bold"/>
              </a:rPr>
              <a:t>DATA CHALLENGES &amp; INCONSISTENCIES</a:t>
            </a:r>
          </a:p>
        </p:txBody>
      </p:sp>
    </p:spTree>
  </p:cSld>
  <p:clrMapOvr>
    <a:masterClrMapping/>
  </p:clrMapOvr>
</p:sld>
</file>

<file path=ppt/slides/slide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2204" t="0" r="-2204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-1584626" y="-740607"/>
            <a:ext cx="5226651" cy="4114800"/>
          </a:xfrm>
          <a:custGeom>
            <a:avLst/>
            <a:gdLst/>
            <a:ahLst/>
            <a:cxnLst/>
            <a:rect r="r" b="b" t="t" l="l"/>
            <a:pathLst>
              <a:path h="4114800" w="5226651">
                <a:moveTo>
                  <a:pt x="0" y="0"/>
                </a:moveTo>
                <a:lnTo>
                  <a:pt x="5226652" y="0"/>
                </a:lnTo>
                <a:lnTo>
                  <a:pt x="5226652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true" flipV="true" rot="0">
            <a:off x="14645974" y="7042697"/>
            <a:ext cx="5226651" cy="4114800"/>
          </a:xfrm>
          <a:custGeom>
            <a:avLst/>
            <a:gdLst/>
            <a:ahLst/>
            <a:cxnLst/>
            <a:rect r="r" b="b" t="t" l="l"/>
            <a:pathLst>
              <a:path h="4114800" w="5226651">
                <a:moveTo>
                  <a:pt x="5226652" y="4114800"/>
                </a:moveTo>
                <a:lnTo>
                  <a:pt x="0" y="4114800"/>
                </a:lnTo>
                <a:lnTo>
                  <a:pt x="0" y="0"/>
                </a:lnTo>
                <a:lnTo>
                  <a:pt x="5226652" y="0"/>
                </a:lnTo>
                <a:lnTo>
                  <a:pt x="5226652" y="411480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0">
            <a:off x="15729343" y="-740607"/>
            <a:ext cx="3059915" cy="4114800"/>
          </a:xfrm>
          <a:custGeom>
            <a:avLst/>
            <a:gdLst/>
            <a:ahLst/>
            <a:cxnLst/>
            <a:rect r="r" b="b" t="t" l="l"/>
            <a:pathLst>
              <a:path h="4114800" w="3059915">
                <a:moveTo>
                  <a:pt x="0" y="0"/>
                </a:moveTo>
                <a:lnTo>
                  <a:pt x="3059914" y="0"/>
                </a:lnTo>
                <a:lnTo>
                  <a:pt x="3059914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6" id="6"/>
          <p:cNvSpPr txBox="true"/>
          <p:nvPr/>
        </p:nvSpPr>
        <p:spPr>
          <a:xfrm rot="0">
            <a:off x="3417780" y="518795"/>
            <a:ext cx="11228195" cy="7715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6300"/>
              </a:lnSpc>
            </a:pPr>
            <a:r>
              <a:rPr lang="en-US" b="true" sz="4500">
                <a:solidFill>
                  <a:srgbClr val="050E9B"/>
                </a:solidFill>
                <a:latin typeface="Merriweather Sans Bold"/>
                <a:ea typeface="Merriweather Sans Bold"/>
                <a:cs typeface="Merriweather Sans Bold"/>
                <a:sym typeface="Merriweather Sans Bold"/>
              </a:rPr>
              <a:t>PHASE 1: DATA CLEANING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898718" y="1685297"/>
            <a:ext cx="16266319" cy="849780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3592"/>
              </a:lnSpc>
            </a:pPr>
            <a:r>
              <a:rPr lang="en-US" sz="2565">
                <a:solidFill>
                  <a:srgbClr val="050E9B"/>
                </a:solidFill>
                <a:latin typeface="Monda"/>
                <a:ea typeface="Monda"/>
                <a:cs typeface="Monda"/>
                <a:sym typeface="Monda"/>
              </a:rPr>
              <a:t>1. Removed Duplicates:</a:t>
            </a:r>
          </a:p>
          <a:p>
            <a:pPr algn="just">
              <a:lnSpc>
                <a:spcPts val="3592"/>
              </a:lnSpc>
            </a:pPr>
            <a:r>
              <a:rPr lang="en-US" sz="2565">
                <a:solidFill>
                  <a:srgbClr val="050E9B"/>
                </a:solidFill>
                <a:latin typeface="Monda"/>
                <a:ea typeface="Monda"/>
                <a:cs typeface="Monda"/>
                <a:sym typeface="Monda"/>
              </a:rPr>
              <a:t> → Eliminated redundant Transaction_ID records using the drop_duplicates() function.</a:t>
            </a:r>
          </a:p>
          <a:p>
            <a:pPr algn="just">
              <a:lnSpc>
                <a:spcPts val="3592"/>
              </a:lnSpc>
            </a:pPr>
            <a:r>
              <a:rPr lang="en-US" sz="2565">
                <a:solidFill>
                  <a:srgbClr val="050E9B"/>
                </a:solidFill>
                <a:latin typeface="Monda"/>
                <a:ea typeface="Monda"/>
                <a:cs typeface="Monda"/>
                <a:sym typeface="Monda"/>
              </a:rPr>
              <a:t>2. Handled Missing Values:</a:t>
            </a:r>
          </a:p>
          <a:p>
            <a:pPr algn="just">
              <a:lnSpc>
                <a:spcPts val="3592"/>
              </a:lnSpc>
            </a:pPr>
            <a:r>
              <a:rPr lang="en-US" sz="2565">
                <a:solidFill>
                  <a:srgbClr val="050E9B"/>
                </a:solidFill>
                <a:latin typeface="Monda"/>
                <a:ea typeface="Monda"/>
                <a:cs typeface="Monda"/>
                <a:sym typeface="Monda"/>
              </a:rPr>
              <a:t> → Filled missing numeric fields (like Age and Ratings) with median values.</a:t>
            </a:r>
          </a:p>
          <a:p>
            <a:pPr algn="just">
              <a:lnSpc>
                <a:spcPts val="3592"/>
              </a:lnSpc>
            </a:pPr>
            <a:r>
              <a:rPr lang="en-US" sz="2565">
                <a:solidFill>
                  <a:srgbClr val="050E9B"/>
                </a:solidFill>
                <a:latin typeface="Monda"/>
                <a:ea typeface="Monda"/>
                <a:cs typeface="Monda"/>
                <a:sym typeface="Monda"/>
              </a:rPr>
              <a:t> → Categorical fields (Gender, Income, Customer_Segment) filled using mode or labeled as “Unknown.”</a:t>
            </a:r>
          </a:p>
          <a:p>
            <a:pPr algn="just">
              <a:lnSpc>
                <a:spcPts val="3592"/>
              </a:lnSpc>
            </a:pPr>
            <a:r>
              <a:rPr lang="en-US" sz="2565">
                <a:solidFill>
                  <a:srgbClr val="050E9B"/>
                </a:solidFill>
                <a:latin typeface="Monda"/>
                <a:ea typeface="Monda"/>
                <a:cs typeface="Monda"/>
                <a:sym typeface="Monda"/>
              </a:rPr>
              <a:t>3. Standardized Date &amp; Time Formats:</a:t>
            </a:r>
          </a:p>
          <a:p>
            <a:pPr algn="just">
              <a:lnSpc>
                <a:spcPts val="3592"/>
              </a:lnSpc>
            </a:pPr>
            <a:r>
              <a:rPr lang="en-US" sz="2565">
                <a:solidFill>
                  <a:srgbClr val="050E9B"/>
                </a:solidFill>
                <a:latin typeface="Monda"/>
                <a:ea typeface="Monda"/>
                <a:cs typeface="Monda"/>
                <a:sym typeface="Monda"/>
              </a:rPr>
              <a:t> Converted all mixed date formats to YYYY-MM-DD.</a:t>
            </a:r>
          </a:p>
          <a:p>
            <a:pPr algn="just">
              <a:lnSpc>
                <a:spcPts val="3592"/>
              </a:lnSpc>
            </a:pPr>
            <a:r>
              <a:rPr lang="en-US" sz="2565">
                <a:solidFill>
                  <a:srgbClr val="050E9B"/>
                </a:solidFill>
                <a:latin typeface="Monda"/>
                <a:ea typeface="Monda"/>
                <a:cs typeface="Monda"/>
                <a:sym typeface="Monda"/>
              </a:rPr>
              <a:t> → Extracted new columns such as Year, Month, Hour, and Time_Slot (Morning, Afternoon, Evening, Night).</a:t>
            </a:r>
          </a:p>
          <a:p>
            <a:pPr algn="just">
              <a:lnSpc>
                <a:spcPts val="3592"/>
              </a:lnSpc>
            </a:pPr>
            <a:r>
              <a:rPr lang="en-US" sz="2565">
                <a:solidFill>
                  <a:srgbClr val="050E9B"/>
                </a:solidFill>
                <a:latin typeface="Monda"/>
                <a:ea typeface="Monda"/>
                <a:cs typeface="Monda"/>
                <a:sym typeface="Monda"/>
              </a:rPr>
              <a:t>4. Feature Engineering:</a:t>
            </a:r>
          </a:p>
          <a:p>
            <a:pPr algn="just">
              <a:lnSpc>
                <a:spcPts val="3592"/>
              </a:lnSpc>
            </a:pPr>
            <a:r>
              <a:rPr lang="en-US" sz="2565">
                <a:solidFill>
                  <a:srgbClr val="050E9B"/>
                </a:solidFill>
                <a:latin typeface="Monda"/>
                <a:ea typeface="Monda"/>
                <a:cs typeface="Monda"/>
                <a:sym typeface="Monda"/>
              </a:rPr>
              <a:t> →  Created analytical columns like Total_Purchases, Time_Slot, and Customer_Segment.</a:t>
            </a:r>
          </a:p>
          <a:p>
            <a:pPr algn="just">
              <a:lnSpc>
                <a:spcPts val="3592"/>
              </a:lnSpc>
            </a:pPr>
            <a:r>
              <a:rPr lang="en-US" sz="2565">
                <a:solidFill>
                  <a:srgbClr val="050E9B"/>
                </a:solidFill>
                <a:latin typeface="Monda"/>
                <a:ea typeface="Monda"/>
                <a:cs typeface="Monda"/>
                <a:sym typeface="Monda"/>
              </a:rPr>
              <a:t> → Added derived fields to support time-based and behavioral insights.</a:t>
            </a:r>
          </a:p>
          <a:p>
            <a:pPr algn="just">
              <a:lnSpc>
                <a:spcPts val="3592"/>
              </a:lnSpc>
            </a:pPr>
            <a:r>
              <a:rPr lang="en-US" sz="2565">
                <a:solidFill>
                  <a:srgbClr val="050E9B"/>
                </a:solidFill>
                <a:latin typeface="Monda"/>
                <a:ea typeface="Monda"/>
                <a:cs typeface="Monda"/>
                <a:sym typeface="Monda"/>
              </a:rPr>
              <a:t>5. Data Reduction:</a:t>
            </a:r>
          </a:p>
          <a:p>
            <a:pPr algn="just">
              <a:lnSpc>
                <a:spcPts val="3592"/>
              </a:lnSpc>
            </a:pPr>
            <a:r>
              <a:rPr lang="en-US" sz="2565">
                <a:solidFill>
                  <a:srgbClr val="050E9B"/>
                </a:solidFill>
                <a:latin typeface="Monda"/>
                <a:ea typeface="Monda"/>
                <a:cs typeface="Monda"/>
                <a:sym typeface="Monda"/>
              </a:rPr>
              <a:t> → Retained only valid and complete transaction records.</a:t>
            </a:r>
          </a:p>
          <a:p>
            <a:pPr algn="just">
              <a:lnSpc>
                <a:spcPts val="3592"/>
              </a:lnSpc>
            </a:pPr>
            <a:r>
              <a:rPr lang="en-US" sz="2565">
                <a:solidFill>
                  <a:srgbClr val="050E9B"/>
                </a:solidFill>
                <a:latin typeface="Monda"/>
                <a:ea typeface="Monda"/>
                <a:cs typeface="Monda"/>
                <a:sym typeface="Monda"/>
              </a:rPr>
              <a:t> → Removed rows with missing or logically inconsistent values.</a:t>
            </a:r>
          </a:p>
          <a:p>
            <a:pPr algn="just">
              <a:lnSpc>
                <a:spcPts val="3592"/>
              </a:lnSpc>
            </a:pPr>
            <a:r>
              <a:rPr lang="en-US" sz="2565">
                <a:solidFill>
                  <a:srgbClr val="050E9B"/>
                </a:solidFill>
                <a:latin typeface="Monda"/>
                <a:ea typeface="Monda"/>
                <a:cs typeface="Monda"/>
                <a:sym typeface="Monda"/>
              </a:rPr>
              <a:t>Final Outputs:</a:t>
            </a:r>
          </a:p>
          <a:p>
            <a:pPr algn="just" marL="553939" indent="-276969" lvl="1">
              <a:lnSpc>
                <a:spcPts val="3592"/>
              </a:lnSpc>
              <a:buFont typeface="Arial"/>
              <a:buChar char="•"/>
            </a:pPr>
            <a:r>
              <a:rPr lang="en-US" sz="2565">
                <a:solidFill>
                  <a:srgbClr val="050E9B"/>
                </a:solidFill>
                <a:latin typeface="Monda"/>
                <a:ea typeface="Monda"/>
                <a:cs typeface="Monda"/>
                <a:sym typeface="Monda"/>
              </a:rPr>
              <a:t>df_full_cleaned.csv → Cleaned &amp; complete dataset (≈ 2.93 lakh rows)</a:t>
            </a:r>
          </a:p>
          <a:p>
            <a:pPr algn="just" marL="553939" indent="-276969" lvl="1">
              <a:lnSpc>
                <a:spcPts val="3592"/>
              </a:lnSpc>
              <a:buFont typeface="Arial"/>
              <a:buChar char="•"/>
            </a:pPr>
            <a:r>
              <a:rPr lang="en-US" sz="2565">
                <a:solidFill>
                  <a:srgbClr val="050E9B"/>
                </a:solidFill>
                <a:latin typeface="Monda"/>
                <a:ea typeface="Monda"/>
                <a:cs typeface="Monda"/>
                <a:sym typeface="Monda"/>
              </a:rPr>
              <a:t>df_time_cleaned.csv → Time-based dataset (≈ 1.77 lakh rows)</a:t>
            </a:r>
          </a:p>
          <a:p>
            <a:pPr algn="just">
              <a:lnSpc>
                <a:spcPts val="3592"/>
              </a:lnSpc>
              <a:spcBef>
                <a:spcPct val="0"/>
              </a:spcBef>
            </a:pPr>
          </a:p>
        </p:txBody>
      </p:sp>
    </p:spTree>
  </p:cSld>
  <p:clrMapOvr>
    <a:masterClrMapping/>
  </p:clrMapOvr>
</p:sld>
</file>

<file path=ppt/slides/slide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2204" t="0" r="-2204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-1584626" y="-740607"/>
            <a:ext cx="5226651" cy="4114800"/>
          </a:xfrm>
          <a:custGeom>
            <a:avLst/>
            <a:gdLst/>
            <a:ahLst/>
            <a:cxnLst/>
            <a:rect r="r" b="b" t="t" l="l"/>
            <a:pathLst>
              <a:path h="4114800" w="5226651">
                <a:moveTo>
                  <a:pt x="0" y="0"/>
                </a:moveTo>
                <a:lnTo>
                  <a:pt x="5226652" y="0"/>
                </a:lnTo>
                <a:lnTo>
                  <a:pt x="5226652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true" flipV="true" rot="0">
            <a:off x="14645974" y="7042697"/>
            <a:ext cx="5226651" cy="4114800"/>
          </a:xfrm>
          <a:custGeom>
            <a:avLst/>
            <a:gdLst/>
            <a:ahLst/>
            <a:cxnLst/>
            <a:rect r="r" b="b" t="t" l="l"/>
            <a:pathLst>
              <a:path h="4114800" w="5226651">
                <a:moveTo>
                  <a:pt x="5226652" y="4114800"/>
                </a:moveTo>
                <a:lnTo>
                  <a:pt x="0" y="4114800"/>
                </a:lnTo>
                <a:lnTo>
                  <a:pt x="0" y="0"/>
                </a:lnTo>
                <a:lnTo>
                  <a:pt x="5226652" y="0"/>
                </a:lnTo>
                <a:lnTo>
                  <a:pt x="5226652" y="411480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0">
            <a:off x="15729343" y="-740607"/>
            <a:ext cx="3059915" cy="4114800"/>
          </a:xfrm>
          <a:custGeom>
            <a:avLst/>
            <a:gdLst/>
            <a:ahLst/>
            <a:cxnLst/>
            <a:rect r="r" b="b" t="t" l="l"/>
            <a:pathLst>
              <a:path h="4114800" w="3059915">
                <a:moveTo>
                  <a:pt x="0" y="0"/>
                </a:moveTo>
                <a:lnTo>
                  <a:pt x="3059914" y="0"/>
                </a:lnTo>
                <a:lnTo>
                  <a:pt x="3059914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6" id="6"/>
          <p:cNvSpPr txBox="true"/>
          <p:nvPr/>
        </p:nvSpPr>
        <p:spPr>
          <a:xfrm rot="0">
            <a:off x="7628895" y="2049985"/>
            <a:ext cx="10264710" cy="792740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4196"/>
              </a:lnSpc>
            </a:pPr>
            <a:r>
              <a:rPr lang="en-US" sz="2997" b="true">
                <a:solidFill>
                  <a:srgbClr val="050E9B"/>
                </a:solidFill>
                <a:latin typeface="Monda Bold"/>
                <a:ea typeface="Monda Bold"/>
                <a:cs typeface="Monda Bold"/>
                <a:sym typeface="Monda Bold"/>
              </a:rPr>
              <a:t>Key Analyses &amp; Charts (14 Total):</a:t>
            </a:r>
          </a:p>
          <a:p>
            <a:pPr algn="just" marL="603974" indent="-301987" lvl="1">
              <a:lnSpc>
                <a:spcPts val="3916"/>
              </a:lnSpc>
              <a:buAutoNum type="arabicPeriod" startAt="1"/>
            </a:pPr>
            <a:r>
              <a:rPr lang="en-US" sz="2797">
                <a:solidFill>
                  <a:srgbClr val="050E9B"/>
                </a:solidFill>
                <a:latin typeface="Monda"/>
                <a:ea typeface="Monda"/>
                <a:cs typeface="Monda"/>
                <a:sym typeface="Monda"/>
              </a:rPr>
              <a:t>Top 10 Cities by Transactions</a:t>
            </a:r>
          </a:p>
          <a:p>
            <a:pPr algn="just" marL="603974" indent="-301987" lvl="1">
              <a:lnSpc>
                <a:spcPts val="3916"/>
              </a:lnSpc>
              <a:buAutoNum type="arabicPeriod" startAt="1"/>
            </a:pPr>
            <a:r>
              <a:rPr lang="en-US" sz="2797">
                <a:solidFill>
                  <a:srgbClr val="050E9B"/>
                </a:solidFill>
                <a:latin typeface="Monda"/>
                <a:ea typeface="Monda"/>
                <a:cs typeface="Monda"/>
                <a:sym typeface="Monda"/>
              </a:rPr>
              <a:t>Top Product Categories by Transactions</a:t>
            </a:r>
          </a:p>
          <a:p>
            <a:pPr algn="just" marL="603974" indent="-301987" lvl="1">
              <a:lnSpc>
                <a:spcPts val="3916"/>
              </a:lnSpc>
              <a:buAutoNum type="arabicPeriod" startAt="1"/>
            </a:pPr>
            <a:r>
              <a:rPr lang="en-US" sz="2797">
                <a:solidFill>
                  <a:srgbClr val="050E9B"/>
                </a:solidFill>
                <a:latin typeface="Monda"/>
                <a:ea typeface="Monda"/>
                <a:cs typeface="Monda"/>
                <a:sym typeface="Monda"/>
              </a:rPr>
              <a:t>Top Brands by Purchase Amount</a:t>
            </a:r>
          </a:p>
          <a:p>
            <a:pPr algn="just" marL="603974" indent="-301987" lvl="1">
              <a:lnSpc>
                <a:spcPts val="3916"/>
              </a:lnSpc>
              <a:buAutoNum type="arabicPeriod" startAt="1"/>
            </a:pPr>
            <a:r>
              <a:rPr lang="en-US" sz="2797">
                <a:solidFill>
                  <a:srgbClr val="050E9B"/>
                </a:solidFill>
                <a:latin typeface="Monda"/>
                <a:ea typeface="Monda"/>
                <a:cs typeface="Monda"/>
                <a:sym typeface="Monda"/>
              </a:rPr>
              <a:t>Monthly Sales Trend</a:t>
            </a:r>
          </a:p>
          <a:p>
            <a:pPr algn="just" marL="603974" indent="-301987" lvl="1">
              <a:lnSpc>
                <a:spcPts val="3916"/>
              </a:lnSpc>
              <a:buAutoNum type="arabicPeriod" startAt="1"/>
            </a:pPr>
            <a:r>
              <a:rPr lang="en-US" sz="2797">
                <a:solidFill>
                  <a:srgbClr val="050E9B"/>
                </a:solidFill>
                <a:latin typeface="Monda"/>
                <a:ea typeface="Monda"/>
                <a:cs typeface="Monda"/>
                <a:sym typeface="Monda"/>
              </a:rPr>
              <a:t>Country-wise Purchases</a:t>
            </a:r>
          </a:p>
          <a:p>
            <a:pPr algn="just" marL="603974" indent="-301987" lvl="1">
              <a:lnSpc>
                <a:spcPts val="3916"/>
              </a:lnSpc>
              <a:buAutoNum type="arabicPeriod" startAt="1"/>
            </a:pPr>
            <a:r>
              <a:rPr lang="en-US" sz="2797">
                <a:solidFill>
                  <a:srgbClr val="050E9B"/>
                </a:solidFill>
                <a:latin typeface="Monda"/>
                <a:ea typeface="Monda"/>
                <a:cs typeface="Monda"/>
                <a:sym typeface="Monda"/>
              </a:rPr>
              <a:t>Income vs Total Amount Spent</a:t>
            </a:r>
          </a:p>
          <a:p>
            <a:pPr algn="just" marL="603974" indent="-301987" lvl="1">
              <a:lnSpc>
                <a:spcPts val="3916"/>
              </a:lnSpc>
              <a:buAutoNum type="arabicPeriod" startAt="1"/>
            </a:pPr>
            <a:r>
              <a:rPr lang="en-US" sz="2797">
                <a:solidFill>
                  <a:srgbClr val="050E9B"/>
                </a:solidFill>
                <a:latin typeface="Monda"/>
                <a:ea typeface="Monda"/>
                <a:cs typeface="Monda"/>
                <a:sym typeface="Monda"/>
              </a:rPr>
              <a:t>Gender-based Spending</a:t>
            </a:r>
          </a:p>
          <a:p>
            <a:pPr algn="just" marL="603974" indent="-301987" lvl="1">
              <a:lnSpc>
                <a:spcPts val="3916"/>
              </a:lnSpc>
              <a:buAutoNum type="arabicPeriod" startAt="1"/>
            </a:pPr>
            <a:r>
              <a:rPr lang="en-US" sz="2797">
                <a:solidFill>
                  <a:srgbClr val="050E9B"/>
                </a:solidFill>
                <a:latin typeface="Monda"/>
                <a:ea typeface="Monda"/>
                <a:cs typeface="Monda"/>
                <a:sym typeface="Monda"/>
              </a:rPr>
              <a:t>Customer Segment vs Average Spend</a:t>
            </a:r>
          </a:p>
          <a:p>
            <a:pPr algn="just" marL="603974" indent="-301987" lvl="1">
              <a:lnSpc>
                <a:spcPts val="3916"/>
              </a:lnSpc>
              <a:buAutoNum type="arabicPeriod" startAt="1"/>
            </a:pPr>
            <a:r>
              <a:rPr lang="en-US" sz="2797">
                <a:solidFill>
                  <a:srgbClr val="050E9B"/>
                </a:solidFill>
                <a:latin typeface="Monda"/>
                <a:ea typeface="Monda"/>
                <a:cs typeface="Monda"/>
                <a:sym typeface="Monda"/>
              </a:rPr>
              <a:t>Shipping Method Performance</a:t>
            </a:r>
          </a:p>
          <a:p>
            <a:pPr algn="just" marL="603974" indent="-301987" lvl="1">
              <a:lnSpc>
                <a:spcPts val="3916"/>
              </a:lnSpc>
              <a:buAutoNum type="arabicPeriod" startAt="1"/>
            </a:pPr>
            <a:r>
              <a:rPr lang="en-US" sz="2797">
                <a:solidFill>
                  <a:srgbClr val="050E9B"/>
                </a:solidFill>
                <a:latin typeface="Monda"/>
                <a:ea typeface="Monda"/>
                <a:cs typeface="Monda"/>
                <a:sym typeface="Monda"/>
              </a:rPr>
              <a:t>Payment Method Preference</a:t>
            </a:r>
          </a:p>
          <a:p>
            <a:pPr algn="just" marL="603974" indent="-301987" lvl="1">
              <a:lnSpc>
                <a:spcPts val="3916"/>
              </a:lnSpc>
              <a:buAutoNum type="arabicPeriod" startAt="1"/>
            </a:pPr>
            <a:r>
              <a:rPr lang="en-US" sz="2797">
                <a:solidFill>
                  <a:srgbClr val="050E9B"/>
                </a:solidFill>
                <a:latin typeface="Monda"/>
                <a:ea typeface="Monda"/>
                <a:cs typeface="Monda"/>
                <a:sym typeface="Monda"/>
              </a:rPr>
              <a:t>Ratings vs Feedback</a:t>
            </a:r>
          </a:p>
          <a:p>
            <a:pPr algn="just" marL="603974" indent="-301987" lvl="1">
              <a:lnSpc>
                <a:spcPts val="3916"/>
              </a:lnSpc>
              <a:buAutoNum type="arabicPeriod" startAt="1"/>
            </a:pPr>
            <a:r>
              <a:rPr lang="en-US" sz="2797">
                <a:solidFill>
                  <a:srgbClr val="050E9B"/>
                </a:solidFill>
                <a:latin typeface="Monda"/>
                <a:ea typeface="Monda"/>
                <a:cs typeface="Monda"/>
                <a:sym typeface="Monda"/>
              </a:rPr>
              <a:t>Time-of-Day Analysis</a:t>
            </a:r>
          </a:p>
          <a:p>
            <a:pPr algn="just" marL="603974" indent="-301987" lvl="1">
              <a:lnSpc>
                <a:spcPts val="3916"/>
              </a:lnSpc>
              <a:buAutoNum type="arabicPeriod" startAt="1"/>
            </a:pPr>
            <a:r>
              <a:rPr lang="en-US" sz="2797">
                <a:solidFill>
                  <a:srgbClr val="050E9B"/>
                </a:solidFill>
                <a:latin typeface="Monda"/>
                <a:ea typeface="Monda"/>
                <a:cs typeface="Monda"/>
                <a:sym typeface="Monda"/>
              </a:rPr>
              <a:t>Repeat vs One-time Customers</a:t>
            </a:r>
          </a:p>
          <a:p>
            <a:pPr algn="just" marL="603974" indent="-301987" lvl="1">
              <a:lnSpc>
                <a:spcPts val="3916"/>
              </a:lnSpc>
              <a:buAutoNum type="arabicPeriod" startAt="1"/>
            </a:pPr>
            <a:r>
              <a:rPr lang="en-US" sz="2797">
                <a:solidFill>
                  <a:srgbClr val="050E9B"/>
                </a:solidFill>
                <a:latin typeface="Monda"/>
                <a:ea typeface="Monda"/>
                <a:cs typeface="Monda"/>
                <a:sym typeface="Monda"/>
              </a:rPr>
              <a:t>Ratings vs Amount Spent</a:t>
            </a:r>
          </a:p>
          <a:p>
            <a:pPr algn="just">
              <a:lnSpc>
                <a:spcPts val="3916"/>
              </a:lnSpc>
              <a:spcBef>
                <a:spcPct val="0"/>
              </a:spcBef>
            </a:pPr>
          </a:p>
        </p:txBody>
      </p:sp>
      <p:sp>
        <p:nvSpPr>
          <p:cNvPr name="Freeform 7" id="7"/>
          <p:cNvSpPr/>
          <p:nvPr/>
        </p:nvSpPr>
        <p:spPr>
          <a:xfrm flipH="false" flipV="false" rot="0">
            <a:off x="1537099" y="5496939"/>
            <a:ext cx="3761361" cy="3761361"/>
          </a:xfrm>
          <a:custGeom>
            <a:avLst/>
            <a:gdLst/>
            <a:ahLst/>
            <a:cxnLst/>
            <a:rect r="r" b="b" t="t" l="l"/>
            <a:pathLst>
              <a:path h="3761361" w="3761361">
                <a:moveTo>
                  <a:pt x="0" y="0"/>
                </a:moveTo>
                <a:lnTo>
                  <a:pt x="3761361" y="0"/>
                </a:lnTo>
                <a:lnTo>
                  <a:pt x="3761361" y="3761361"/>
                </a:lnTo>
                <a:lnTo>
                  <a:pt x="0" y="3761361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>
              <a:fillRect l="0" t="0" r="0" b="0"/>
            </a:stretch>
          </a:blipFill>
        </p:spPr>
      </p:sp>
      <p:sp>
        <p:nvSpPr>
          <p:cNvPr name="TextBox 8" id="8"/>
          <p:cNvSpPr txBox="true"/>
          <p:nvPr/>
        </p:nvSpPr>
        <p:spPr>
          <a:xfrm rot="0">
            <a:off x="3417780" y="227330"/>
            <a:ext cx="11228195" cy="152654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6160"/>
              </a:lnSpc>
            </a:pPr>
            <a:r>
              <a:rPr lang="en-US" b="true" sz="4400">
                <a:solidFill>
                  <a:srgbClr val="050E9B"/>
                </a:solidFill>
                <a:latin typeface="Merriweather Sans Bold"/>
                <a:ea typeface="Merriweather Sans Bold"/>
                <a:cs typeface="Merriweather Sans Bold"/>
                <a:sym typeface="Merriweather Sans Bold"/>
              </a:rPr>
              <a:t>PHASE 2: EXPLORATORY DATA ANALYSIS (EDA)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350179" y="2785740"/>
            <a:ext cx="6583693" cy="198380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4196"/>
              </a:lnSpc>
            </a:pPr>
            <a:r>
              <a:rPr lang="en-US" sz="2997" b="true">
                <a:solidFill>
                  <a:srgbClr val="050E9B"/>
                </a:solidFill>
                <a:latin typeface="Monda Bold"/>
                <a:ea typeface="Monda Bold"/>
                <a:cs typeface="Monda Bold"/>
                <a:sym typeface="Monda Bold"/>
              </a:rPr>
              <a:t>Objective:</a:t>
            </a:r>
          </a:p>
          <a:p>
            <a:pPr algn="just">
              <a:lnSpc>
                <a:spcPts val="3916"/>
              </a:lnSpc>
              <a:spcBef>
                <a:spcPct val="0"/>
              </a:spcBef>
            </a:pPr>
            <a:r>
              <a:rPr lang="en-US" sz="2797">
                <a:solidFill>
                  <a:srgbClr val="050E9B"/>
                </a:solidFill>
                <a:latin typeface="Monda"/>
                <a:ea typeface="Monda"/>
                <a:cs typeface="Monda"/>
                <a:sym typeface="Monda"/>
              </a:rPr>
              <a:t> To explore customer, product, and transaction patterns and uncover initial business insights.</a:t>
            </a:r>
          </a:p>
        </p:txBody>
      </p:sp>
    </p:spTree>
  </p:cSld>
  <p:clrMapOvr>
    <a:masterClrMapping/>
  </p:clrMapOvr>
</p:sld>
</file>

<file path=ppt/slides/slide9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2204" t="0" r="-2204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-1584626" y="-740607"/>
            <a:ext cx="5226651" cy="4114800"/>
          </a:xfrm>
          <a:custGeom>
            <a:avLst/>
            <a:gdLst/>
            <a:ahLst/>
            <a:cxnLst/>
            <a:rect r="r" b="b" t="t" l="l"/>
            <a:pathLst>
              <a:path h="4114800" w="5226651">
                <a:moveTo>
                  <a:pt x="0" y="0"/>
                </a:moveTo>
                <a:lnTo>
                  <a:pt x="5226652" y="0"/>
                </a:lnTo>
                <a:lnTo>
                  <a:pt x="5226652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true" flipV="true" rot="0">
            <a:off x="14645974" y="7042697"/>
            <a:ext cx="5226651" cy="4114800"/>
          </a:xfrm>
          <a:custGeom>
            <a:avLst/>
            <a:gdLst/>
            <a:ahLst/>
            <a:cxnLst/>
            <a:rect r="r" b="b" t="t" l="l"/>
            <a:pathLst>
              <a:path h="4114800" w="5226651">
                <a:moveTo>
                  <a:pt x="5226652" y="4114800"/>
                </a:moveTo>
                <a:lnTo>
                  <a:pt x="0" y="4114800"/>
                </a:lnTo>
                <a:lnTo>
                  <a:pt x="0" y="0"/>
                </a:lnTo>
                <a:lnTo>
                  <a:pt x="5226652" y="0"/>
                </a:lnTo>
                <a:lnTo>
                  <a:pt x="5226652" y="411480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0">
            <a:off x="15729343" y="-740607"/>
            <a:ext cx="3059915" cy="4114800"/>
          </a:xfrm>
          <a:custGeom>
            <a:avLst/>
            <a:gdLst/>
            <a:ahLst/>
            <a:cxnLst/>
            <a:rect r="r" b="b" t="t" l="l"/>
            <a:pathLst>
              <a:path h="4114800" w="3059915">
                <a:moveTo>
                  <a:pt x="0" y="0"/>
                </a:moveTo>
                <a:lnTo>
                  <a:pt x="3059914" y="0"/>
                </a:lnTo>
                <a:lnTo>
                  <a:pt x="3059914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6" id="6"/>
          <p:cNvSpPr txBox="true"/>
          <p:nvPr/>
        </p:nvSpPr>
        <p:spPr>
          <a:xfrm rot="0">
            <a:off x="3385229" y="13970"/>
            <a:ext cx="11517542" cy="17399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7000"/>
              </a:lnSpc>
            </a:pPr>
            <a:r>
              <a:rPr lang="en-US" b="true" sz="5000">
                <a:solidFill>
                  <a:srgbClr val="050E9B"/>
                </a:solidFill>
                <a:latin typeface="Merriweather Sans Bold"/>
                <a:ea typeface="Merriweather Sans Bold"/>
                <a:cs typeface="Merriweather Sans Bold"/>
                <a:sym typeface="Merriweather Sans Bold"/>
              </a:rPr>
              <a:t>PHASE 3: SQL INTEGRATION &amp; DATA MODELING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657324" y="2318291"/>
            <a:ext cx="15842388" cy="147027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4221"/>
              </a:lnSpc>
            </a:pPr>
            <a:r>
              <a:rPr lang="en-US" sz="3015" b="true">
                <a:solidFill>
                  <a:srgbClr val="050E9B"/>
                </a:solidFill>
                <a:latin typeface="Monda Bold"/>
                <a:ea typeface="Monda Bold"/>
                <a:cs typeface="Monda Bold"/>
                <a:sym typeface="Monda Bold"/>
              </a:rPr>
              <a:t>Objective:</a:t>
            </a:r>
          </a:p>
          <a:p>
            <a:pPr algn="just">
              <a:lnSpc>
                <a:spcPts val="3801"/>
              </a:lnSpc>
            </a:pPr>
            <a:r>
              <a:rPr lang="en-US" sz="2715">
                <a:solidFill>
                  <a:srgbClr val="050E9B"/>
                </a:solidFill>
                <a:latin typeface="Monda"/>
                <a:ea typeface="Monda"/>
                <a:cs typeface="Monda"/>
                <a:sym typeface="Monda"/>
              </a:rPr>
              <a:t> To structure the cleaned data into a relational model using SQLite3 and connect it with Power BI for efficient querying, relationships, and KPI generation.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657324" y="4664559"/>
            <a:ext cx="15842388" cy="337527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221"/>
              </a:lnSpc>
            </a:pPr>
            <a:r>
              <a:rPr lang="en-US" sz="3015" b="true">
                <a:solidFill>
                  <a:srgbClr val="050E9B"/>
                </a:solidFill>
                <a:latin typeface="Monda Bold"/>
                <a:ea typeface="Monda Bold"/>
                <a:cs typeface="Monda Bold"/>
                <a:sym typeface="Monda Bold"/>
              </a:rPr>
              <a:t>Key Steps Performed:</a:t>
            </a:r>
          </a:p>
          <a:p>
            <a:pPr algn="l" marL="586175" indent="-293087" lvl="1">
              <a:lnSpc>
                <a:spcPts val="3801"/>
              </a:lnSpc>
              <a:buFont typeface="Arial"/>
              <a:buChar char="•"/>
            </a:pPr>
            <a:r>
              <a:rPr lang="en-US" sz="2715">
                <a:solidFill>
                  <a:srgbClr val="050E9B"/>
                </a:solidFill>
                <a:latin typeface="Monda"/>
                <a:ea typeface="Monda"/>
                <a:cs typeface="Monda"/>
                <a:sym typeface="Monda"/>
              </a:rPr>
              <a:t>Imported cleaned datasets (df_full_cleaned.csv, df_time_cleaned.csv) into SQLite3 using Python.</a:t>
            </a:r>
          </a:p>
          <a:p>
            <a:pPr algn="l" marL="586175" indent="-293087" lvl="1">
              <a:lnSpc>
                <a:spcPts val="3801"/>
              </a:lnSpc>
              <a:buFont typeface="Arial"/>
              <a:buChar char="•"/>
            </a:pPr>
            <a:r>
              <a:rPr lang="en-US" sz="2715">
                <a:solidFill>
                  <a:srgbClr val="050E9B"/>
                </a:solidFill>
                <a:latin typeface="Monda"/>
                <a:ea typeface="Monda"/>
                <a:cs typeface="Monda"/>
                <a:sym typeface="Monda"/>
              </a:rPr>
              <a:t>Designed a Star Schema for analytical efficiency and simplified reporting.</a:t>
            </a:r>
          </a:p>
          <a:p>
            <a:pPr algn="l" marL="586175" indent="-293087" lvl="1">
              <a:lnSpc>
                <a:spcPts val="3801"/>
              </a:lnSpc>
              <a:buFont typeface="Arial"/>
              <a:buChar char="•"/>
            </a:pPr>
            <a:r>
              <a:rPr lang="en-US" sz="2715">
                <a:solidFill>
                  <a:srgbClr val="050E9B"/>
                </a:solidFill>
                <a:latin typeface="Monda"/>
                <a:ea typeface="Monda"/>
                <a:cs typeface="Monda"/>
                <a:sym typeface="Monda"/>
              </a:rPr>
              <a:t>Created and validated Fact and Dimension tables.</a:t>
            </a:r>
          </a:p>
          <a:p>
            <a:pPr algn="l" marL="586175" indent="-293087" lvl="1">
              <a:lnSpc>
                <a:spcPts val="3801"/>
              </a:lnSpc>
              <a:buFont typeface="Arial"/>
              <a:buChar char="•"/>
            </a:pPr>
            <a:r>
              <a:rPr lang="en-US" sz="2715">
                <a:solidFill>
                  <a:srgbClr val="050E9B"/>
                </a:solidFill>
                <a:latin typeface="Monda"/>
                <a:ea typeface="Monda"/>
                <a:cs typeface="Monda"/>
                <a:sym typeface="Monda"/>
              </a:rPr>
              <a:t>Verified key relationships using SQL join queries.</a:t>
            </a:r>
          </a:p>
          <a:p>
            <a:pPr algn="l">
              <a:lnSpc>
                <a:spcPts val="3801"/>
              </a:lnSpc>
            </a:pPr>
          </a:p>
        </p:txBody>
      </p:sp>
    </p:spTree>
  </p:cSld>
  <p:clrMapOvr>
    <a:masterClrMapping/>
  </p:clrMapOvr>
</p:sld>
</file>

<file path=ppt/slides/slide10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2204" t="0" r="-2204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-1584626" y="-740607"/>
            <a:ext cx="5226651" cy="4114800"/>
          </a:xfrm>
          <a:custGeom>
            <a:avLst/>
            <a:gdLst/>
            <a:ahLst/>
            <a:cxnLst/>
            <a:rect r="r" b="b" t="t" l="l"/>
            <a:pathLst>
              <a:path h="4114800" w="5226651">
                <a:moveTo>
                  <a:pt x="0" y="0"/>
                </a:moveTo>
                <a:lnTo>
                  <a:pt x="5226652" y="0"/>
                </a:lnTo>
                <a:lnTo>
                  <a:pt x="5226652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true" flipV="true" rot="0">
            <a:off x="14645974" y="7042697"/>
            <a:ext cx="5226651" cy="4114800"/>
          </a:xfrm>
          <a:custGeom>
            <a:avLst/>
            <a:gdLst/>
            <a:ahLst/>
            <a:cxnLst/>
            <a:rect r="r" b="b" t="t" l="l"/>
            <a:pathLst>
              <a:path h="4114800" w="5226651">
                <a:moveTo>
                  <a:pt x="5226652" y="4114800"/>
                </a:moveTo>
                <a:lnTo>
                  <a:pt x="0" y="4114800"/>
                </a:lnTo>
                <a:lnTo>
                  <a:pt x="0" y="0"/>
                </a:lnTo>
                <a:lnTo>
                  <a:pt x="5226652" y="0"/>
                </a:lnTo>
                <a:lnTo>
                  <a:pt x="5226652" y="411480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0">
            <a:off x="15729343" y="-740607"/>
            <a:ext cx="3059915" cy="4114800"/>
          </a:xfrm>
          <a:custGeom>
            <a:avLst/>
            <a:gdLst/>
            <a:ahLst/>
            <a:cxnLst/>
            <a:rect r="r" b="b" t="t" l="l"/>
            <a:pathLst>
              <a:path h="4114800" w="3059915">
                <a:moveTo>
                  <a:pt x="0" y="0"/>
                </a:moveTo>
                <a:lnTo>
                  <a:pt x="3059914" y="0"/>
                </a:lnTo>
                <a:lnTo>
                  <a:pt x="3059914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6" id="6"/>
          <p:cNvSpPr txBox="true"/>
          <p:nvPr/>
        </p:nvSpPr>
        <p:spPr>
          <a:xfrm rot="0">
            <a:off x="3385229" y="23495"/>
            <a:ext cx="11517542" cy="157162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6300"/>
              </a:lnSpc>
            </a:pPr>
            <a:r>
              <a:rPr lang="en-US" b="true" sz="4500">
                <a:solidFill>
                  <a:srgbClr val="050E9B"/>
                </a:solidFill>
                <a:latin typeface="Merriweather Sans Bold"/>
                <a:ea typeface="Merriweather Sans Bold"/>
                <a:cs typeface="Merriweather Sans Bold"/>
                <a:sym typeface="Merriweather Sans Bold"/>
              </a:rPr>
              <a:t>PHASE 3: SQL INTEGRATION &amp; DATA MODELING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1222806" y="1537969"/>
            <a:ext cx="15842388" cy="478116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4221"/>
              </a:lnSpc>
            </a:pPr>
            <a:r>
              <a:rPr lang="en-US" sz="3015" b="true">
                <a:solidFill>
                  <a:srgbClr val="050E9B"/>
                </a:solidFill>
                <a:latin typeface="Monda Bold"/>
                <a:ea typeface="Monda Bold"/>
                <a:cs typeface="Monda Bold"/>
                <a:sym typeface="Monda Bold"/>
              </a:rPr>
              <a:t>Star Schema Design:</a:t>
            </a:r>
          </a:p>
          <a:p>
            <a:pPr algn="just" marL="650943" indent="-325472" lvl="1">
              <a:lnSpc>
                <a:spcPts val="4221"/>
              </a:lnSpc>
              <a:buFont typeface="Arial"/>
              <a:buChar char="•"/>
            </a:pPr>
            <a:r>
              <a:rPr lang="en-US" sz="3015">
                <a:solidFill>
                  <a:srgbClr val="050E9B"/>
                </a:solidFill>
                <a:latin typeface="Monda"/>
                <a:ea typeface="Monda"/>
                <a:cs typeface="Monda"/>
                <a:sym typeface="Monda"/>
              </a:rPr>
              <a:t>Fact_Transaction → Contains transaction metrics (Amount, Total_Purchases, Date_Key, Customer_ID, Product_Key).</a:t>
            </a:r>
          </a:p>
          <a:p>
            <a:pPr algn="just" marL="650943" indent="-325472" lvl="1">
              <a:lnSpc>
                <a:spcPts val="4221"/>
              </a:lnSpc>
              <a:buFont typeface="Arial"/>
              <a:buChar char="•"/>
            </a:pPr>
            <a:r>
              <a:rPr lang="en-US" sz="3015">
                <a:solidFill>
                  <a:srgbClr val="050E9B"/>
                </a:solidFill>
                <a:latin typeface="Monda"/>
                <a:ea typeface="Monda"/>
                <a:cs typeface="Monda"/>
                <a:sym typeface="Monda"/>
              </a:rPr>
              <a:t>Dim_Customer → Stores demographics (Customer_ID, Gender, Age_Group, Income, Segment).</a:t>
            </a:r>
          </a:p>
          <a:p>
            <a:pPr algn="just" marL="650943" indent="-325472" lvl="1">
              <a:lnSpc>
                <a:spcPts val="4221"/>
              </a:lnSpc>
              <a:buFont typeface="Arial"/>
              <a:buChar char="•"/>
            </a:pPr>
            <a:r>
              <a:rPr lang="en-US" sz="3015">
                <a:solidFill>
                  <a:srgbClr val="050E9B"/>
                </a:solidFill>
                <a:latin typeface="Monda"/>
                <a:ea typeface="Monda"/>
                <a:cs typeface="Monda"/>
                <a:sym typeface="Monda"/>
              </a:rPr>
              <a:t>Dim_Product → Contains product details (Product_Key, Product_Brand, Product_Category).</a:t>
            </a:r>
          </a:p>
          <a:p>
            <a:pPr algn="just" marL="650943" indent="-325472" lvl="1">
              <a:lnSpc>
                <a:spcPts val="4221"/>
              </a:lnSpc>
              <a:buFont typeface="Arial"/>
              <a:buChar char="•"/>
            </a:pPr>
            <a:r>
              <a:rPr lang="en-US" sz="3015">
                <a:solidFill>
                  <a:srgbClr val="050E9B"/>
                </a:solidFill>
                <a:latin typeface="Monda"/>
                <a:ea typeface="Monda"/>
                <a:cs typeface="Monda"/>
                <a:sym typeface="Monda"/>
              </a:rPr>
              <a:t>Dim_Date → Derived from Date column (Date_Key, Year, Month, Day).</a:t>
            </a:r>
          </a:p>
          <a:p>
            <a:pPr algn="just">
              <a:lnSpc>
                <a:spcPts val="4221"/>
              </a:lnSpc>
            </a:pPr>
          </a:p>
        </p:txBody>
      </p:sp>
      <p:sp>
        <p:nvSpPr>
          <p:cNvPr name="TextBox 8" id="8"/>
          <p:cNvSpPr txBox="true"/>
          <p:nvPr/>
        </p:nvSpPr>
        <p:spPr>
          <a:xfrm rot="0">
            <a:off x="1222806" y="5740578"/>
            <a:ext cx="15842388" cy="211416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4221"/>
              </a:lnSpc>
            </a:pPr>
            <a:r>
              <a:rPr lang="en-US" sz="3015" b="true">
                <a:solidFill>
                  <a:srgbClr val="050E9B"/>
                </a:solidFill>
                <a:latin typeface="Monda Bold"/>
                <a:ea typeface="Monda Bold"/>
                <a:cs typeface="Monda Bold"/>
                <a:sym typeface="Monda Bold"/>
              </a:rPr>
              <a:t>Key Relationships:</a:t>
            </a:r>
          </a:p>
          <a:p>
            <a:pPr algn="just" marL="650943" indent="-325472" lvl="1">
              <a:lnSpc>
                <a:spcPts val="4221"/>
              </a:lnSpc>
              <a:buFont typeface="Arial"/>
              <a:buChar char="•"/>
            </a:pPr>
            <a:r>
              <a:rPr lang="en-US" sz="3015">
                <a:solidFill>
                  <a:srgbClr val="050E9B"/>
                </a:solidFill>
                <a:latin typeface="Monda"/>
                <a:ea typeface="Monda"/>
                <a:cs typeface="Monda"/>
                <a:sym typeface="Monda"/>
              </a:rPr>
              <a:t>Dim_Customer (1:M) → Fact_Transaction</a:t>
            </a:r>
          </a:p>
          <a:p>
            <a:pPr algn="just" marL="650943" indent="-325472" lvl="1">
              <a:lnSpc>
                <a:spcPts val="4221"/>
              </a:lnSpc>
              <a:buFont typeface="Arial"/>
              <a:buChar char="•"/>
            </a:pPr>
            <a:r>
              <a:rPr lang="en-US" sz="3015">
                <a:solidFill>
                  <a:srgbClr val="050E9B"/>
                </a:solidFill>
                <a:latin typeface="Monda"/>
                <a:ea typeface="Monda"/>
                <a:cs typeface="Monda"/>
                <a:sym typeface="Monda"/>
              </a:rPr>
              <a:t>Dim_Product (1:M) → Fact_Transaction</a:t>
            </a:r>
          </a:p>
          <a:p>
            <a:pPr algn="just" marL="650943" indent="-325472" lvl="1">
              <a:lnSpc>
                <a:spcPts val="4221"/>
              </a:lnSpc>
              <a:buFont typeface="Arial"/>
              <a:buChar char="•"/>
            </a:pPr>
            <a:r>
              <a:rPr lang="en-US" sz="3015">
                <a:solidFill>
                  <a:srgbClr val="050E9B"/>
                </a:solidFill>
                <a:latin typeface="Monda"/>
                <a:ea typeface="Monda"/>
                <a:cs typeface="Monda"/>
                <a:sym typeface="Monda"/>
              </a:rPr>
              <a:t>Dim_Date (1:M) → Fact_Transaction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1222806" y="8068067"/>
            <a:ext cx="15016316" cy="200386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4000"/>
              </a:lnSpc>
            </a:pPr>
            <a:r>
              <a:rPr lang="en-US" sz="2857" b="true">
                <a:solidFill>
                  <a:srgbClr val="050E9B"/>
                </a:solidFill>
                <a:latin typeface="Monda Bold"/>
                <a:ea typeface="Monda Bold"/>
                <a:cs typeface="Monda Bold"/>
                <a:sym typeface="Monda Bold"/>
              </a:rPr>
              <a:t>Validation:</a:t>
            </a:r>
          </a:p>
          <a:p>
            <a:pPr algn="just">
              <a:lnSpc>
                <a:spcPts val="4000"/>
              </a:lnSpc>
            </a:pPr>
            <a:r>
              <a:rPr lang="en-US" sz="2857">
                <a:solidFill>
                  <a:srgbClr val="050E9B"/>
                </a:solidFill>
                <a:latin typeface="Monda"/>
                <a:ea typeface="Monda"/>
                <a:cs typeface="Monda"/>
                <a:sym typeface="Monda"/>
              </a:rPr>
              <a:t> Executed SQL queries in Python to verify aggregation accuracy (e.g., total sales, customer counts, average spend).</a:t>
            </a:r>
          </a:p>
          <a:p>
            <a:pPr algn="just">
              <a:lnSpc>
                <a:spcPts val="4000"/>
              </a:lnSpc>
            </a:pPr>
          </a:p>
        </p:txBody>
      </p:sp>
    </p:spTree>
  </p:cSld>
  <p:clrMapOvr>
    <a:masterClrMapping/>
  </p:clrMapOvr>
</p:sld>
</file>

<file path=ppt/slides/slide1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2204" t="0" r="-2204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-1584626" y="-740607"/>
            <a:ext cx="5226651" cy="4114800"/>
          </a:xfrm>
          <a:custGeom>
            <a:avLst/>
            <a:gdLst/>
            <a:ahLst/>
            <a:cxnLst/>
            <a:rect r="r" b="b" t="t" l="l"/>
            <a:pathLst>
              <a:path h="4114800" w="5226651">
                <a:moveTo>
                  <a:pt x="0" y="0"/>
                </a:moveTo>
                <a:lnTo>
                  <a:pt x="5226652" y="0"/>
                </a:lnTo>
                <a:lnTo>
                  <a:pt x="5226652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true" flipV="true" rot="0">
            <a:off x="14645974" y="7042697"/>
            <a:ext cx="5226651" cy="4114800"/>
          </a:xfrm>
          <a:custGeom>
            <a:avLst/>
            <a:gdLst/>
            <a:ahLst/>
            <a:cxnLst/>
            <a:rect r="r" b="b" t="t" l="l"/>
            <a:pathLst>
              <a:path h="4114800" w="5226651">
                <a:moveTo>
                  <a:pt x="5226652" y="4114800"/>
                </a:moveTo>
                <a:lnTo>
                  <a:pt x="0" y="4114800"/>
                </a:lnTo>
                <a:lnTo>
                  <a:pt x="0" y="0"/>
                </a:lnTo>
                <a:lnTo>
                  <a:pt x="5226652" y="0"/>
                </a:lnTo>
                <a:lnTo>
                  <a:pt x="5226652" y="411480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0">
            <a:off x="15729343" y="-740607"/>
            <a:ext cx="3059915" cy="4114800"/>
          </a:xfrm>
          <a:custGeom>
            <a:avLst/>
            <a:gdLst/>
            <a:ahLst/>
            <a:cxnLst/>
            <a:rect r="r" b="b" t="t" l="l"/>
            <a:pathLst>
              <a:path h="4114800" w="3059915">
                <a:moveTo>
                  <a:pt x="0" y="0"/>
                </a:moveTo>
                <a:lnTo>
                  <a:pt x="3059914" y="0"/>
                </a:lnTo>
                <a:lnTo>
                  <a:pt x="3059914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6" id="6"/>
          <p:cNvGrpSpPr/>
          <p:nvPr/>
        </p:nvGrpSpPr>
        <p:grpSpPr>
          <a:xfrm rot="0">
            <a:off x="1558015" y="1842759"/>
            <a:ext cx="14777575" cy="7415541"/>
            <a:chOff x="0" y="0"/>
            <a:chExt cx="2289433" cy="1148861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2289433" cy="1148861"/>
            </a:xfrm>
            <a:custGeom>
              <a:avLst/>
              <a:gdLst/>
              <a:ahLst/>
              <a:cxnLst/>
              <a:rect r="r" b="b" t="t" l="l"/>
              <a:pathLst>
                <a:path h="1148861" w="2289433">
                  <a:moveTo>
                    <a:pt x="12050" y="0"/>
                  </a:moveTo>
                  <a:lnTo>
                    <a:pt x="2277383" y="0"/>
                  </a:lnTo>
                  <a:cubicBezTo>
                    <a:pt x="2284038" y="0"/>
                    <a:pt x="2289433" y="5395"/>
                    <a:pt x="2289433" y="12050"/>
                  </a:cubicBezTo>
                  <a:lnTo>
                    <a:pt x="2289433" y="1136812"/>
                  </a:lnTo>
                  <a:cubicBezTo>
                    <a:pt x="2289433" y="1143467"/>
                    <a:pt x="2284038" y="1148861"/>
                    <a:pt x="2277383" y="1148861"/>
                  </a:cubicBezTo>
                  <a:lnTo>
                    <a:pt x="12050" y="1148861"/>
                  </a:lnTo>
                  <a:cubicBezTo>
                    <a:pt x="5395" y="1148861"/>
                    <a:pt x="0" y="1143467"/>
                    <a:pt x="0" y="1136812"/>
                  </a:cubicBezTo>
                  <a:lnTo>
                    <a:pt x="0" y="12050"/>
                  </a:lnTo>
                  <a:cubicBezTo>
                    <a:pt x="0" y="5395"/>
                    <a:pt x="5395" y="0"/>
                    <a:pt x="12050" y="0"/>
                  </a:cubicBezTo>
                  <a:close/>
                </a:path>
              </a:pathLst>
            </a:custGeom>
            <a:blipFill>
              <a:blip r:embed="rId7"/>
              <a:stretch>
                <a:fillRect l="0" t="-32202" r="0" b="-32202"/>
              </a:stretch>
            </a:blipFill>
          </p:spPr>
        </p:sp>
      </p:grpSp>
      <p:sp>
        <p:nvSpPr>
          <p:cNvPr name="TextBox 8" id="8"/>
          <p:cNvSpPr txBox="true"/>
          <p:nvPr/>
        </p:nvSpPr>
        <p:spPr>
          <a:xfrm rot="0">
            <a:off x="3385229" y="23495"/>
            <a:ext cx="11517542" cy="157162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6300"/>
              </a:lnSpc>
            </a:pPr>
            <a:r>
              <a:rPr lang="en-US" b="true" sz="4500">
                <a:solidFill>
                  <a:srgbClr val="050E9B"/>
                </a:solidFill>
                <a:latin typeface="Merriweather Sans Bold"/>
                <a:ea typeface="Merriweather Sans Bold"/>
                <a:cs typeface="Merriweather Sans Bold"/>
                <a:sym typeface="Merriweather Sans Bold"/>
              </a:rPr>
              <a:t>PHASE 3: SQL INTEGRATION &amp; DATA MODELING</a:t>
            </a:r>
          </a:p>
        </p:txBody>
      </p:sp>
    </p:spTree>
  </p:cSld>
  <p:clrMapOvr>
    <a:masterClrMapping/>
  </p:clrMapOvr>
</p:sld>
</file>

<file path=ppt/slides/slide1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2204" t="0" r="-2204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-1584626" y="-740607"/>
            <a:ext cx="5226651" cy="4114800"/>
          </a:xfrm>
          <a:custGeom>
            <a:avLst/>
            <a:gdLst/>
            <a:ahLst/>
            <a:cxnLst/>
            <a:rect r="r" b="b" t="t" l="l"/>
            <a:pathLst>
              <a:path h="4114800" w="5226651">
                <a:moveTo>
                  <a:pt x="0" y="0"/>
                </a:moveTo>
                <a:lnTo>
                  <a:pt x="5226652" y="0"/>
                </a:lnTo>
                <a:lnTo>
                  <a:pt x="5226652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true" flipV="true" rot="0">
            <a:off x="14645974" y="7042697"/>
            <a:ext cx="5226651" cy="4114800"/>
          </a:xfrm>
          <a:custGeom>
            <a:avLst/>
            <a:gdLst/>
            <a:ahLst/>
            <a:cxnLst/>
            <a:rect r="r" b="b" t="t" l="l"/>
            <a:pathLst>
              <a:path h="4114800" w="5226651">
                <a:moveTo>
                  <a:pt x="5226652" y="4114800"/>
                </a:moveTo>
                <a:lnTo>
                  <a:pt x="0" y="4114800"/>
                </a:lnTo>
                <a:lnTo>
                  <a:pt x="0" y="0"/>
                </a:lnTo>
                <a:lnTo>
                  <a:pt x="5226652" y="0"/>
                </a:lnTo>
                <a:lnTo>
                  <a:pt x="5226652" y="411480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0">
            <a:off x="15729343" y="-740607"/>
            <a:ext cx="3059915" cy="4114800"/>
          </a:xfrm>
          <a:custGeom>
            <a:avLst/>
            <a:gdLst/>
            <a:ahLst/>
            <a:cxnLst/>
            <a:rect r="r" b="b" t="t" l="l"/>
            <a:pathLst>
              <a:path h="4114800" w="3059915">
                <a:moveTo>
                  <a:pt x="0" y="0"/>
                </a:moveTo>
                <a:lnTo>
                  <a:pt x="3059914" y="0"/>
                </a:lnTo>
                <a:lnTo>
                  <a:pt x="3059914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  <p:graphicFrame>
        <p:nvGraphicFramePr>
          <p:cNvPr name="Object 6" id="6"/>
          <p:cNvGraphicFramePr/>
          <p:nvPr/>
        </p:nvGraphicFramePr>
        <p:xfrm>
          <a:off x="1604406" y="3631368"/>
          <a:ext cx="5657850" cy="3143250"/>
        </p:xfrm>
        <a:graphic>
          <a:graphicData uri="http://schemas.openxmlformats.org/presentationml/2006/ole">
            <p:oleObj imgW="6781800" imgH="4267200" r:id="rId8" progId="Excel.Sheet.12" name="Worksheet">
              <p:embed/>
              <p:pic>
                <p:nvPicPr>
                  <p:cNvPr name="" id="0"/>
                  <p:cNvPicPr/>
                  <p:nvPr/>
                </p:nvPicPr>
                <p:blipFill>
                  <a:blip r:embed="rId7"/>
                  <a:stretch>
                    <a:fillRect/>
                  </a:stretch>
                </p:blipFill>
                <p:spPr>
                  <a:xfrm>
                    <a:off x="1270000" y="1270000"/>
                    <a:ext cx="1270000" cy="1270000"/>
                  </a:xfrm>
                  <a:prstGeom prst="rect"/>
                </p:spPr>
              </p:pic>
            </p:oleObj>
          </a:graphicData>
        </a:graphic>
      </p:graphicFrame>
      <p:sp>
        <p:nvSpPr>
          <p:cNvPr name="TextBox 7" id="7"/>
          <p:cNvSpPr txBox="true"/>
          <p:nvPr/>
        </p:nvSpPr>
        <p:spPr>
          <a:xfrm rot="0">
            <a:off x="3385229" y="23495"/>
            <a:ext cx="11517542" cy="157162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6300"/>
              </a:lnSpc>
            </a:pPr>
            <a:r>
              <a:rPr lang="en-US" b="true" sz="4500">
                <a:solidFill>
                  <a:srgbClr val="050E9B"/>
                </a:solidFill>
                <a:latin typeface="Merriweather Sans Bold"/>
                <a:ea typeface="Merriweather Sans Bold"/>
                <a:cs typeface="Merriweather Sans Bold"/>
                <a:sym typeface="Merriweather Sans Bold"/>
              </a:rPr>
              <a:t>PHASE 4: POWER BI VISUALIZATION OVERVIEW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1028700" y="1793425"/>
            <a:ext cx="15842388" cy="158076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4221"/>
              </a:lnSpc>
            </a:pPr>
            <a:r>
              <a:rPr lang="en-US" sz="3015" b="true">
                <a:solidFill>
                  <a:srgbClr val="050E9B"/>
                </a:solidFill>
                <a:latin typeface="Monda Bold"/>
                <a:ea typeface="Monda Bold"/>
                <a:cs typeface="Monda Bold"/>
                <a:sym typeface="Monda Bold"/>
              </a:rPr>
              <a:t>Objective:</a:t>
            </a:r>
          </a:p>
          <a:p>
            <a:pPr algn="just">
              <a:lnSpc>
                <a:spcPts val="4221"/>
              </a:lnSpc>
            </a:pPr>
            <a:r>
              <a:rPr lang="en-US" sz="3015">
                <a:solidFill>
                  <a:srgbClr val="050E9B"/>
                </a:solidFill>
                <a:latin typeface="Monda"/>
                <a:ea typeface="Monda"/>
                <a:cs typeface="Monda"/>
                <a:sym typeface="Monda"/>
              </a:rPr>
              <a:t> To transform analyzed data into interactive and business-ready dashboards for strategic insights, performance monitoring, and decision-making.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452994" y="8171283"/>
            <a:ext cx="15842388" cy="181000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3661"/>
              </a:lnSpc>
            </a:pPr>
            <a:r>
              <a:rPr lang="en-US" sz="2615" b="true">
                <a:solidFill>
                  <a:srgbClr val="050E9B"/>
                </a:solidFill>
                <a:latin typeface="Monda Bold"/>
                <a:ea typeface="Monda Bold"/>
                <a:cs typeface="Monda Bold"/>
                <a:sym typeface="Monda Bold"/>
              </a:rPr>
              <a:t>Outcome:</a:t>
            </a:r>
          </a:p>
          <a:p>
            <a:pPr algn="just">
              <a:lnSpc>
                <a:spcPts val="3661"/>
              </a:lnSpc>
            </a:pPr>
            <a:r>
              <a:rPr lang="en-US" sz="2615">
                <a:solidFill>
                  <a:srgbClr val="050E9B"/>
                </a:solidFill>
                <a:latin typeface="Monda"/>
                <a:ea typeface="Monda"/>
                <a:cs typeface="Monda"/>
                <a:sym typeface="Monda"/>
              </a:rPr>
              <a:t> All four dashboards together deliver a 360° Retail Business Intelligence Solution, connecting sales, customers, products, and operations into one unified analytical system.</a:t>
            </a:r>
          </a:p>
          <a:p>
            <a:pPr algn="just">
              <a:lnSpc>
                <a:spcPts val="3661"/>
              </a:lnSpc>
            </a:pPr>
          </a:p>
        </p:txBody>
      </p:sp>
    </p:spTree>
  </p:cSld>
  <p:clrMapOvr>
    <a:masterClrMapping/>
  </p:clrMapOvr>
</p:sld>
</file>

<file path=ppt/slides/slide1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2204" t="0" r="-2204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-1584626" y="-740607"/>
            <a:ext cx="5226651" cy="4114800"/>
          </a:xfrm>
          <a:custGeom>
            <a:avLst/>
            <a:gdLst/>
            <a:ahLst/>
            <a:cxnLst/>
            <a:rect r="r" b="b" t="t" l="l"/>
            <a:pathLst>
              <a:path h="4114800" w="5226651">
                <a:moveTo>
                  <a:pt x="0" y="0"/>
                </a:moveTo>
                <a:lnTo>
                  <a:pt x="5226652" y="0"/>
                </a:lnTo>
                <a:lnTo>
                  <a:pt x="5226652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true" flipV="true" rot="0">
            <a:off x="14645974" y="7042697"/>
            <a:ext cx="5226651" cy="4114800"/>
          </a:xfrm>
          <a:custGeom>
            <a:avLst/>
            <a:gdLst/>
            <a:ahLst/>
            <a:cxnLst/>
            <a:rect r="r" b="b" t="t" l="l"/>
            <a:pathLst>
              <a:path h="4114800" w="5226651">
                <a:moveTo>
                  <a:pt x="5226652" y="4114800"/>
                </a:moveTo>
                <a:lnTo>
                  <a:pt x="0" y="4114800"/>
                </a:lnTo>
                <a:lnTo>
                  <a:pt x="0" y="0"/>
                </a:lnTo>
                <a:lnTo>
                  <a:pt x="5226652" y="0"/>
                </a:lnTo>
                <a:lnTo>
                  <a:pt x="5226652" y="411480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0">
            <a:off x="15729343" y="-740607"/>
            <a:ext cx="3059915" cy="4114800"/>
          </a:xfrm>
          <a:custGeom>
            <a:avLst/>
            <a:gdLst/>
            <a:ahLst/>
            <a:cxnLst/>
            <a:rect r="r" b="b" t="t" l="l"/>
            <a:pathLst>
              <a:path h="4114800" w="3059915">
                <a:moveTo>
                  <a:pt x="0" y="0"/>
                </a:moveTo>
                <a:lnTo>
                  <a:pt x="3059914" y="0"/>
                </a:lnTo>
                <a:lnTo>
                  <a:pt x="3059914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6" id="6"/>
          <p:cNvGrpSpPr/>
          <p:nvPr/>
        </p:nvGrpSpPr>
        <p:grpSpPr>
          <a:xfrm rot="0">
            <a:off x="1459416" y="1316793"/>
            <a:ext cx="14810441" cy="8229600"/>
            <a:chOff x="0" y="0"/>
            <a:chExt cx="2294525" cy="1274980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2294525" cy="1274980"/>
            </a:xfrm>
            <a:custGeom>
              <a:avLst/>
              <a:gdLst/>
              <a:ahLst/>
              <a:cxnLst/>
              <a:rect r="r" b="b" t="t" l="l"/>
              <a:pathLst>
                <a:path h="1274980" w="2294525">
                  <a:moveTo>
                    <a:pt x="12023" y="0"/>
                  </a:moveTo>
                  <a:lnTo>
                    <a:pt x="2282502" y="0"/>
                  </a:lnTo>
                  <a:cubicBezTo>
                    <a:pt x="2285691" y="0"/>
                    <a:pt x="2288749" y="1267"/>
                    <a:pt x="2291003" y="3521"/>
                  </a:cubicBezTo>
                  <a:cubicBezTo>
                    <a:pt x="2293258" y="5776"/>
                    <a:pt x="2294525" y="8834"/>
                    <a:pt x="2294525" y="12023"/>
                  </a:cubicBezTo>
                  <a:lnTo>
                    <a:pt x="2294525" y="1262958"/>
                  </a:lnTo>
                  <a:cubicBezTo>
                    <a:pt x="2294525" y="1266146"/>
                    <a:pt x="2293258" y="1269204"/>
                    <a:pt x="2291003" y="1271459"/>
                  </a:cubicBezTo>
                  <a:cubicBezTo>
                    <a:pt x="2288749" y="1273714"/>
                    <a:pt x="2285691" y="1274980"/>
                    <a:pt x="2282502" y="1274980"/>
                  </a:cubicBezTo>
                  <a:lnTo>
                    <a:pt x="12023" y="1274980"/>
                  </a:lnTo>
                  <a:cubicBezTo>
                    <a:pt x="8834" y="1274980"/>
                    <a:pt x="5776" y="1273714"/>
                    <a:pt x="3521" y="1271459"/>
                  </a:cubicBezTo>
                  <a:cubicBezTo>
                    <a:pt x="1267" y="1269204"/>
                    <a:pt x="0" y="1266146"/>
                    <a:pt x="0" y="1262958"/>
                  </a:cubicBezTo>
                  <a:lnTo>
                    <a:pt x="0" y="12023"/>
                  </a:lnTo>
                  <a:cubicBezTo>
                    <a:pt x="0" y="8834"/>
                    <a:pt x="1267" y="5776"/>
                    <a:pt x="3521" y="3521"/>
                  </a:cubicBezTo>
                  <a:cubicBezTo>
                    <a:pt x="5776" y="1267"/>
                    <a:pt x="8834" y="0"/>
                    <a:pt x="12023" y="0"/>
                  </a:cubicBezTo>
                  <a:close/>
                </a:path>
              </a:pathLst>
            </a:custGeom>
            <a:blipFill>
              <a:blip r:embed="rId7"/>
              <a:stretch>
                <a:fillRect l="0" t="-615" r="0" b="-615"/>
              </a:stretch>
            </a:blipFill>
          </p:spPr>
        </p:sp>
      </p:grpSp>
      <p:sp>
        <p:nvSpPr>
          <p:cNvPr name="TextBox 8" id="8"/>
          <p:cNvSpPr txBox="true"/>
          <p:nvPr/>
        </p:nvSpPr>
        <p:spPr>
          <a:xfrm rot="0">
            <a:off x="3385229" y="23495"/>
            <a:ext cx="11517542" cy="77152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6300"/>
              </a:lnSpc>
            </a:pPr>
            <a:r>
              <a:rPr lang="en-US" b="true" sz="4500">
                <a:solidFill>
                  <a:srgbClr val="050E9B"/>
                </a:solidFill>
                <a:latin typeface="Merriweather Sans Bold"/>
                <a:ea typeface="Merriweather Sans Bold"/>
                <a:cs typeface="Merriweather Sans Bold"/>
                <a:sym typeface="Merriweather Sans Bold"/>
              </a:rPr>
              <a:t>DASHBOARD-1: OVERVIEW</a:t>
            </a:r>
          </a:p>
        </p:txBody>
      </p:sp>
    </p:spTree>
  </p:cSld>
  <p:clrMapOvr>
    <a:masterClrMapping/>
  </p:clrMapOvr>
</p:sld>
</file>

<file path=ppt/slides/slide1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2204" t="0" r="-2204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-1584626" y="-740607"/>
            <a:ext cx="4141180" cy="3260238"/>
          </a:xfrm>
          <a:custGeom>
            <a:avLst/>
            <a:gdLst/>
            <a:ahLst/>
            <a:cxnLst/>
            <a:rect r="r" b="b" t="t" l="l"/>
            <a:pathLst>
              <a:path h="3260238" w="4141180">
                <a:moveTo>
                  <a:pt x="0" y="0"/>
                </a:moveTo>
                <a:lnTo>
                  <a:pt x="4141180" y="0"/>
                </a:lnTo>
                <a:lnTo>
                  <a:pt x="4141180" y="3260238"/>
                </a:lnTo>
                <a:lnTo>
                  <a:pt x="0" y="3260238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true" flipV="true" rot="0">
            <a:off x="15729343" y="7895603"/>
            <a:ext cx="4143283" cy="3261894"/>
          </a:xfrm>
          <a:custGeom>
            <a:avLst/>
            <a:gdLst/>
            <a:ahLst/>
            <a:cxnLst/>
            <a:rect r="r" b="b" t="t" l="l"/>
            <a:pathLst>
              <a:path h="3261894" w="4143283">
                <a:moveTo>
                  <a:pt x="4143283" y="3261894"/>
                </a:moveTo>
                <a:lnTo>
                  <a:pt x="0" y="3261894"/>
                </a:lnTo>
                <a:lnTo>
                  <a:pt x="0" y="0"/>
                </a:lnTo>
                <a:lnTo>
                  <a:pt x="4143283" y="0"/>
                </a:lnTo>
                <a:lnTo>
                  <a:pt x="4143283" y="3261894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0">
            <a:off x="15729343" y="-740607"/>
            <a:ext cx="3059915" cy="4114800"/>
          </a:xfrm>
          <a:custGeom>
            <a:avLst/>
            <a:gdLst/>
            <a:ahLst/>
            <a:cxnLst/>
            <a:rect r="r" b="b" t="t" l="l"/>
            <a:pathLst>
              <a:path h="4114800" w="3059915">
                <a:moveTo>
                  <a:pt x="0" y="0"/>
                </a:moveTo>
                <a:lnTo>
                  <a:pt x="3059914" y="0"/>
                </a:lnTo>
                <a:lnTo>
                  <a:pt x="3059914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6" id="6"/>
          <p:cNvSpPr txBox="true"/>
          <p:nvPr/>
        </p:nvSpPr>
        <p:spPr>
          <a:xfrm rot="0">
            <a:off x="3385229" y="23495"/>
            <a:ext cx="11517542" cy="77152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6300"/>
              </a:lnSpc>
            </a:pPr>
            <a:r>
              <a:rPr lang="en-US" b="true" sz="4500">
                <a:solidFill>
                  <a:srgbClr val="050E9B"/>
                </a:solidFill>
                <a:latin typeface="Merriweather Sans Bold"/>
                <a:ea typeface="Merriweather Sans Bold"/>
                <a:cs typeface="Merriweather Sans Bold"/>
                <a:sym typeface="Merriweather Sans Bold"/>
              </a:rPr>
              <a:t>DASHBOARD-1: OVERVIEW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255901" y="1259643"/>
            <a:ext cx="16454953" cy="905827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3814"/>
              </a:lnSpc>
            </a:pPr>
            <a:r>
              <a:rPr lang="en-US" sz="2724" b="true">
                <a:solidFill>
                  <a:srgbClr val="050E9B"/>
                </a:solidFill>
                <a:latin typeface="Monda Bold"/>
                <a:ea typeface="Monda Bold"/>
                <a:cs typeface="Monda Bold"/>
                <a:sym typeface="Monda Bold"/>
              </a:rPr>
              <a:t>Purpose:</a:t>
            </a:r>
          </a:p>
          <a:p>
            <a:pPr algn="just">
              <a:lnSpc>
                <a:spcPts val="3534"/>
              </a:lnSpc>
            </a:pPr>
            <a:r>
              <a:rPr lang="en-US" sz="2524">
                <a:solidFill>
                  <a:srgbClr val="050E9B"/>
                </a:solidFill>
                <a:latin typeface="Monda"/>
                <a:ea typeface="Monda"/>
                <a:cs typeface="Monda"/>
                <a:sym typeface="Monda"/>
              </a:rPr>
              <a:t> To provide a consolidated, high-level snapshot of overall sales performance, revenue distribution, and customer activity across all operating regions.</a:t>
            </a:r>
          </a:p>
          <a:p>
            <a:pPr algn="just">
              <a:lnSpc>
                <a:spcPts val="3814"/>
              </a:lnSpc>
            </a:pPr>
            <a:r>
              <a:rPr lang="en-US" sz="2724" b="true">
                <a:solidFill>
                  <a:srgbClr val="050E9B"/>
                </a:solidFill>
                <a:latin typeface="Monda Bold"/>
                <a:ea typeface="Monda Bold"/>
                <a:cs typeface="Monda Bold"/>
                <a:sym typeface="Monda Bold"/>
              </a:rPr>
              <a:t>Dashboard Components:</a:t>
            </a:r>
          </a:p>
          <a:p>
            <a:pPr algn="just" marL="545121" indent="-272560" lvl="1">
              <a:lnSpc>
                <a:spcPts val="3534"/>
              </a:lnSpc>
              <a:buFont typeface="Arial"/>
              <a:buChar char="•"/>
            </a:pPr>
            <a:r>
              <a:rPr lang="en-US" sz="2524">
                <a:solidFill>
                  <a:srgbClr val="050E9B"/>
                </a:solidFill>
                <a:latin typeface="Monda"/>
                <a:ea typeface="Monda"/>
                <a:cs typeface="Monda"/>
                <a:sym typeface="Monda"/>
              </a:rPr>
              <a:t>KPI Cards: Total Revenue, Total Orders, Unique Customers, Average Order Value (AOV)</a:t>
            </a:r>
          </a:p>
          <a:p>
            <a:pPr algn="just" marL="545121" indent="-272560" lvl="1">
              <a:lnSpc>
                <a:spcPts val="3534"/>
              </a:lnSpc>
              <a:buFont typeface="Arial"/>
              <a:buChar char="•"/>
            </a:pPr>
            <a:r>
              <a:rPr lang="en-US" sz="2524">
                <a:solidFill>
                  <a:srgbClr val="050E9B"/>
                </a:solidFill>
                <a:latin typeface="Monda"/>
                <a:ea typeface="Monda"/>
                <a:cs typeface="Monda"/>
                <a:sym typeface="Monda"/>
              </a:rPr>
              <a:t>Bar Chart: Total Revenue by Country</a:t>
            </a:r>
          </a:p>
          <a:p>
            <a:pPr algn="just" marL="545121" indent="-272560" lvl="1">
              <a:lnSpc>
                <a:spcPts val="3534"/>
              </a:lnSpc>
              <a:buFont typeface="Arial"/>
              <a:buChar char="•"/>
            </a:pPr>
            <a:r>
              <a:rPr lang="en-US" sz="2524">
                <a:solidFill>
                  <a:srgbClr val="050E9B"/>
                </a:solidFill>
                <a:latin typeface="Monda"/>
                <a:ea typeface="Monda"/>
                <a:cs typeface="Monda"/>
                <a:sym typeface="Monda"/>
              </a:rPr>
              <a:t>Column Chart: Total Revenue by City</a:t>
            </a:r>
          </a:p>
          <a:p>
            <a:pPr algn="just" marL="545121" indent="-272560" lvl="1">
              <a:lnSpc>
                <a:spcPts val="3534"/>
              </a:lnSpc>
              <a:buFont typeface="Arial"/>
              <a:buChar char="•"/>
            </a:pPr>
            <a:r>
              <a:rPr lang="en-US" sz="2524">
                <a:solidFill>
                  <a:srgbClr val="050E9B"/>
                </a:solidFill>
                <a:latin typeface="Monda"/>
                <a:ea typeface="Monda"/>
                <a:cs typeface="Monda"/>
                <a:sym typeface="Monda"/>
              </a:rPr>
              <a:t>Line Chart: Month-wise Revenue Trend</a:t>
            </a:r>
          </a:p>
          <a:p>
            <a:pPr algn="just" marL="545121" indent="-272560" lvl="1">
              <a:lnSpc>
                <a:spcPts val="3534"/>
              </a:lnSpc>
              <a:buFont typeface="Arial"/>
              <a:buChar char="•"/>
            </a:pPr>
            <a:r>
              <a:rPr lang="en-US" sz="2524">
                <a:solidFill>
                  <a:srgbClr val="050E9B"/>
                </a:solidFill>
                <a:latin typeface="Monda"/>
                <a:ea typeface="Monda"/>
                <a:cs typeface="Monda"/>
                <a:sym typeface="Monda"/>
              </a:rPr>
              <a:t>Donut Chart: Order Status Distribution (Delivered, Pending, Returned, etc.)</a:t>
            </a:r>
          </a:p>
          <a:p>
            <a:pPr algn="just" marL="545121" indent="-272560" lvl="1">
              <a:lnSpc>
                <a:spcPts val="3534"/>
              </a:lnSpc>
              <a:buFont typeface="Arial"/>
              <a:buChar char="•"/>
            </a:pPr>
            <a:r>
              <a:rPr lang="en-US" sz="2524">
                <a:solidFill>
                  <a:srgbClr val="050E9B"/>
                </a:solidFill>
                <a:latin typeface="Monda"/>
                <a:ea typeface="Monda"/>
                <a:cs typeface="Monda"/>
                <a:sym typeface="Monda"/>
              </a:rPr>
              <a:t>Slicers: Country and Month (for interactive analysis)</a:t>
            </a:r>
          </a:p>
          <a:p>
            <a:pPr algn="just">
              <a:lnSpc>
                <a:spcPts val="3814"/>
              </a:lnSpc>
            </a:pPr>
            <a:r>
              <a:rPr lang="en-US" sz="2724" b="true">
                <a:solidFill>
                  <a:srgbClr val="050E9B"/>
                </a:solidFill>
                <a:latin typeface="Monda Bold"/>
                <a:ea typeface="Monda Bold"/>
                <a:cs typeface="Monda Bold"/>
                <a:sym typeface="Monda Bold"/>
              </a:rPr>
              <a:t>Analytical Goal:</a:t>
            </a:r>
          </a:p>
          <a:p>
            <a:pPr algn="just">
              <a:lnSpc>
                <a:spcPts val="3534"/>
              </a:lnSpc>
            </a:pPr>
            <a:r>
              <a:rPr lang="en-US" sz="2524">
                <a:solidFill>
                  <a:srgbClr val="050E9B"/>
                </a:solidFill>
                <a:latin typeface="Monda"/>
                <a:ea typeface="Monda"/>
                <a:cs typeface="Monda"/>
                <a:sym typeface="Monda"/>
              </a:rPr>
              <a:t> Enable management to quickly identify:</a:t>
            </a:r>
          </a:p>
          <a:p>
            <a:pPr algn="just" marL="545121" indent="-272560" lvl="1">
              <a:lnSpc>
                <a:spcPts val="3534"/>
              </a:lnSpc>
              <a:buFont typeface="Arial"/>
              <a:buChar char="•"/>
            </a:pPr>
            <a:r>
              <a:rPr lang="en-US" sz="2524">
                <a:solidFill>
                  <a:srgbClr val="050E9B"/>
                </a:solidFill>
                <a:latin typeface="Monda"/>
                <a:ea typeface="Monda"/>
                <a:cs typeface="Monda"/>
                <a:sym typeface="Monda"/>
              </a:rPr>
              <a:t>Top-performing countries and cities</a:t>
            </a:r>
          </a:p>
          <a:p>
            <a:pPr algn="just" marL="545121" indent="-272560" lvl="1">
              <a:lnSpc>
                <a:spcPts val="3534"/>
              </a:lnSpc>
              <a:buFont typeface="Arial"/>
              <a:buChar char="•"/>
            </a:pPr>
            <a:r>
              <a:rPr lang="en-US" sz="2524">
                <a:solidFill>
                  <a:srgbClr val="050E9B"/>
                </a:solidFill>
                <a:latin typeface="Monda"/>
                <a:ea typeface="Monda"/>
                <a:cs typeface="Monda"/>
                <a:sym typeface="Monda"/>
              </a:rPr>
              <a:t>Revenue and order distribution patterns</a:t>
            </a:r>
          </a:p>
          <a:p>
            <a:pPr algn="just" marL="545121" indent="-272560" lvl="1">
              <a:lnSpc>
                <a:spcPts val="3534"/>
              </a:lnSpc>
              <a:buFont typeface="Arial"/>
              <a:buChar char="•"/>
            </a:pPr>
            <a:r>
              <a:rPr lang="en-US" sz="2524">
                <a:solidFill>
                  <a:srgbClr val="050E9B"/>
                </a:solidFill>
                <a:latin typeface="Monda"/>
                <a:ea typeface="Monda"/>
                <a:cs typeface="Monda"/>
                <a:sym typeface="Monda"/>
              </a:rPr>
              <a:t>Delivery performance efficiency</a:t>
            </a:r>
          </a:p>
          <a:p>
            <a:pPr algn="just" marL="545121" indent="-272560" lvl="1">
              <a:lnSpc>
                <a:spcPts val="3534"/>
              </a:lnSpc>
              <a:buFont typeface="Arial"/>
              <a:buChar char="•"/>
            </a:pPr>
            <a:r>
              <a:rPr lang="en-US" sz="2524">
                <a:solidFill>
                  <a:srgbClr val="050E9B"/>
                </a:solidFill>
                <a:latin typeface="Monda"/>
                <a:ea typeface="Monda"/>
                <a:cs typeface="Monda"/>
                <a:sym typeface="Monda"/>
              </a:rPr>
              <a:t>Monthly revenue fluctuations and seasonality</a:t>
            </a:r>
          </a:p>
          <a:p>
            <a:pPr algn="just">
              <a:lnSpc>
                <a:spcPts val="3814"/>
              </a:lnSpc>
            </a:pPr>
            <a:r>
              <a:rPr lang="en-US" sz="2724" b="true">
                <a:solidFill>
                  <a:srgbClr val="050E9B"/>
                </a:solidFill>
                <a:latin typeface="Monda Bold"/>
                <a:ea typeface="Monda Bold"/>
                <a:cs typeface="Monda Bold"/>
                <a:sym typeface="Monda Bold"/>
              </a:rPr>
              <a:t>Design Approach:</a:t>
            </a:r>
          </a:p>
          <a:p>
            <a:pPr algn="just">
              <a:lnSpc>
                <a:spcPts val="3534"/>
              </a:lnSpc>
            </a:pPr>
            <a:r>
              <a:rPr lang="en-US" sz="2524">
                <a:solidFill>
                  <a:srgbClr val="050E9B"/>
                </a:solidFill>
                <a:latin typeface="Monda"/>
                <a:ea typeface="Monda"/>
                <a:cs typeface="Monda"/>
                <a:sym typeface="Monda"/>
              </a:rPr>
              <a:t> Focused on clarity and executive readability — KPI-first layout, consistent theme, and interactive filters for valuable insights.</a:t>
            </a:r>
          </a:p>
          <a:p>
            <a:pPr algn="just">
              <a:lnSpc>
                <a:spcPts val="3534"/>
              </a:lnSpc>
            </a:pPr>
          </a:p>
        </p:txBody>
      </p:sp>
    </p:spTree>
  </p:cSld>
  <p:clrMapOvr>
    <a:masterClrMapping/>
  </p:clrMapOvr>
</p:sld>
</file>

<file path=ppt/slides/slide1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2204" t="0" r="-2204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-1584626" y="-740607"/>
            <a:ext cx="5226651" cy="4114800"/>
          </a:xfrm>
          <a:custGeom>
            <a:avLst/>
            <a:gdLst/>
            <a:ahLst/>
            <a:cxnLst/>
            <a:rect r="r" b="b" t="t" l="l"/>
            <a:pathLst>
              <a:path h="4114800" w="5226651">
                <a:moveTo>
                  <a:pt x="0" y="0"/>
                </a:moveTo>
                <a:lnTo>
                  <a:pt x="5226652" y="0"/>
                </a:lnTo>
                <a:lnTo>
                  <a:pt x="5226652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true" flipV="true" rot="0">
            <a:off x="14645974" y="7042697"/>
            <a:ext cx="5226651" cy="4114800"/>
          </a:xfrm>
          <a:custGeom>
            <a:avLst/>
            <a:gdLst/>
            <a:ahLst/>
            <a:cxnLst/>
            <a:rect r="r" b="b" t="t" l="l"/>
            <a:pathLst>
              <a:path h="4114800" w="5226651">
                <a:moveTo>
                  <a:pt x="5226652" y="4114800"/>
                </a:moveTo>
                <a:lnTo>
                  <a:pt x="0" y="4114800"/>
                </a:lnTo>
                <a:lnTo>
                  <a:pt x="0" y="0"/>
                </a:lnTo>
                <a:lnTo>
                  <a:pt x="5226652" y="0"/>
                </a:lnTo>
                <a:lnTo>
                  <a:pt x="5226652" y="411480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0">
            <a:off x="15729343" y="-740607"/>
            <a:ext cx="3059915" cy="4114800"/>
          </a:xfrm>
          <a:custGeom>
            <a:avLst/>
            <a:gdLst/>
            <a:ahLst/>
            <a:cxnLst/>
            <a:rect r="r" b="b" t="t" l="l"/>
            <a:pathLst>
              <a:path h="4114800" w="3059915">
                <a:moveTo>
                  <a:pt x="0" y="0"/>
                </a:moveTo>
                <a:lnTo>
                  <a:pt x="3059914" y="0"/>
                </a:lnTo>
                <a:lnTo>
                  <a:pt x="3059914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  <p:graphicFrame>
        <p:nvGraphicFramePr>
          <p:cNvPr name="Object 6" id="6"/>
          <p:cNvGraphicFramePr/>
          <p:nvPr/>
        </p:nvGraphicFramePr>
        <p:xfrm>
          <a:off x="2121593" y="3994944"/>
          <a:ext cx="5657850" cy="4400550"/>
        </p:xfrm>
        <a:graphic>
          <a:graphicData uri="http://schemas.openxmlformats.org/presentationml/2006/ole">
            <p:oleObj imgW="6781800" imgH="5524500" r:id="rId8" progId="Excel.Sheet.12" name="Worksheet">
              <p:embed/>
              <p:pic>
                <p:nvPicPr>
                  <p:cNvPr name="" id="0"/>
                  <p:cNvPicPr/>
                  <p:nvPr/>
                </p:nvPicPr>
                <p:blipFill>
                  <a:blip r:embed="rId7"/>
                  <a:stretch>
                    <a:fillRect/>
                  </a:stretch>
                </p:blipFill>
                <p:spPr>
                  <a:xfrm>
                    <a:off x="1270000" y="1270000"/>
                    <a:ext cx="1270000" cy="1270000"/>
                  </a:xfrm>
                  <a:prstGeom prst="rect"/>
                </p:spPr>
              </p:pic>
            </p:oleObj>
          </a:graphicData>
        </a:graphic>
      </p:graphicFrame>
      <p:sp>
        <p:nvSpPr>
          <p:cNvPr name="TextBox 7" id="7"/>
          <p:cNvSpPr txBox="true"/>
          <p:nvPr/>
        </p:nvSpPr>
        <p:spPr>
          <a:xfrm rot="0">
            <a:off x="2497525" y="348731"/>
            <a:ext cx="13231817" cy="77134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6309"/>
              </a:lnSpc>
            </a:pPr>
            <a:r>
              <a:rPr lang="en-US" b="true" sz="4507">
                <a:solidFill>
                  <a:srgbClr val="050E9B"/>
                </a:solidFill>
                <a:latin typeface="Merriweather Sans Bold"/>
                <a:ea typeface="Merriweather Sans Bold"/>
                <a:cs typeface="Merriweather Sans Bold"/>
                <a:sym typeface="Merriweather Sans Bold"/>
              </a:rPr>
              <a:t>KEY METRICS AND KPIS (GLOBAL OVERVIEW)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1735785" y="1259643"/>
            <a:ext cx="12087317" cy="141693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3801"/>
              </a:lnSpc>
            </a:pPr>
            <a:r>
              <a:rPr lang="en-US" sz="2715" b="true">
                <a:solidFill>
                  <a:srgbClr val="050E9B"/>
                </a:solidFill>
                <a:latin typeface="Monda Bold"/>
                <a:ea typeface="Monda Bold"/>
                <a:cs typeface="Monda Bold"/>
                <a:sym typeface="Monda Bold"/>
              </a:rPr>
              <a:t>Objective:</a:t>
            </a:r>
          </a:p>
          <a:p>
            <a:pPr algn="just">
              <a:lnSpc>
                <a:spcPts val="3801"/>
              </a:lnSpc>
            </a:pPr>
            <a:r>
              <a:rPr lang="en-US" sz="2715">
                <a:solidFill>
                  <a:srgbClr val="050E9B"/>
                </a:solidFill>
                <a:latin typeface="Monda"/>
                <a:ea typeface="Monda"/>
                <a:cs typeface="Monda"/>
                <a:sym typeface="Monda"/>
              </a:rPr>
              <a:t> To summarize global retail sales performance and provide a high-level snapshot of overall revenue, customer reach, and operational flow.</a:t>
            </a:r>
          </a:p>
        </p:txBody>
      </p:sp>
    </p:spTree>
  </p:cSld>
  <p:clrMapOvr>
    <a:masterClrMapping/>
  </p:clrMapOvr>
</p:sld>
</file>

<file path=ppt/slides/slide1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2204" t="0" r="-2204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-1584626" y="-740607"/>
            <a:ext cx="4570868" cy="3598520"/>
          </a:xfrm>
          <a:custGeom>
            <a:avLst/>
            <a:gdLst/>
            <a:ahLst/>
            <a:cxnLst/>
            <a:rect r="r" b="b" t="t" l="l"/>
            <a:pathLst>
              <a:path h="3598520" w="4570868">
                <a:moveTo>
                  <a:pt x="0" y="0"/>
                </a:moveTo>
                <a:lnTo>
                  <a:pt x="4570869" y="0"/>
                </a:lnTo>
                <a:lnTo>
                  <a:pt x="4570869" y="3598520"/>
                </a:lnTo>
                <a:lnTo>
                  <a:pt x="0" y="3598520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true" flipV="true" rot="0">
            <a:off x="14645974" y="7042697"/>
            <a:ext cx="5226651" cy="4114800"/>
          </a:xfrm>
          <a:custGeom>
            <a:avLst/>
            <a:gdLst/>
            <a:ahLst/>
            <a:cxnLst/>
            <a:rect r="r" b="b" t="t" l="l"/>
            <a:pathLst>
              <a:path h="4114800" w="5226651">
                <a:moveTo>
                  <a:pt x="5226652" y="4114800"/>
                </a:moveTo>
                <a:lnTo>
                  <a:pt x="0" y="4114800"/>
                </a:lnTo>
                <a:lnTo>
                  <a:pt x="0" y="0"/>
                </a:lnTo>
                <a:lnTo>
                  <a:pt x="5226652" y="0"/>
                </a:lnTo>
                <a:lnTo>
                  <a:pt x="5226652" y="411480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0">
            <a:off x="15729343" y="-740607"/>
            <a:ext cx="3059915" cy="4114800"/>
          </a:xfrm>
          <a:custGeom>
            <a:avLst/>
            <a:gdLst/>
            <a:ahLst/>
            <a:cxnLst/>
            <a:rect r="r" b="b" t="t" l="l"/>
            <a:pathLst>
              <a:path h="4114800" w="3059915">
                <a:moveTo>
                  <a:pt x="0" y="0"/>
                </a:moveTo>
                <a:lnTo>
                  <a:pt x="3059914" y="0"/>
                </a:lnTo>
                <a:lnTo>
                  <a:pt x="3059914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6" id="6"/>
          <p:cNvSpPr txBox="true"/>
          <p:nvPr/>
        </p:nvSpPr>
        <p:spPr>
          <a:xfrm rot="0">
            <a:off x="2497525" y="200115"/>
            <a:ext cx="13231817" cy="157144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6309"/>
              </a:lnSpc>
            </a:pPr>
            <a:r>
              <a:rPr lang="en-US" b="true" sz="4507">
                <a:solidFill>
                  <a:srgbClr val="050E9B"/>
                </a:solidFill>
                <a:latin typeface="Merriweather Sans Bold"/>
                <a:ea typeface="Merriweather Sans Bold"/>
                <a:cs typeface="Merriweather Sans Bold"/>
                <a:sym typeface="Merriweather Sans Bold"/>
              </a:rPr>
              <a:t>ROOT CAUSE ANALYSIS (RCA) (GLOBAL OVERVIEW)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495047" y="1845604"/>
            <a:ext cx="16764253" cy="857356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3091"/>
              </a:lnSpc>
            </a:pPr>
            <a:r>
              <a:rPr lang="en-US" sz="2208" b="true">
                <a:solidFill>
                  <a:srgbClr val="050E9B"/>
                </a:solidFill>
                <a:latin typeface="Monda Bold"/>
                <a:ea typeface="Monda Bold"/>
                <a:cs typeface="Monda Bold"/>
                <a:sym typeface="Monda Bold"/>
              </a:rPr>
              <a:t>Objective of RCA:</a:t>
            </a:r>
          </a:p>
          <a:p>
            <a:pPr algn="just">
              <a:lnSpc>
                <a:spcPts val="3091"/>
              </a:lnSpc>
            </a:pPr>
            <a:r>
              <a:rPr lang="en-US" sz="2208">
                <a:solidFill>
                  <a:srgbClr val="050E9B"/>
                </a:solidFill>
                <a:latin typeface="Monda"/>
                <a:ea typeface="Monda"/>
                <a:cs typeface="Monda"/>
                <a:sym typeface="Monda"/>
              </a:rPr>
              <a:t>To identify what factors drive total revenue variations across countries, cities, and months — and to uncover possible operational bottlenecks.</a:t>
            </a:r>
          </a:p>
          <a:p>
            <a:pPr algn="just">
              <a:lnSpc>
                <a:spcPts val="3091"/>
              </a:lnSpc>
            </a:pPr>
            <a:r>
              <a:rPr lang="en-US" sz="2208" b="true">
                <a:solidFill>
                  <a:srgbClr val="050E9B"/>
                </a:solidFill>
                <a:latin typeface="Monda Bold"/>
                <a:ea typeface="Monda Bold"/>
                <a:cs typeface="Monda Bold"/>
                <a:sym typeface="Monda Bold"/>
              </a:rPr>
              <a:t>Observations &amp; Findings:</a:t>
            </a:r>
          </a:p>
          <a:p>
            <a:pPr algn="just" marL="476749" indent="-238375" lvl="1">
              <a:lnSpc>
                <a:spcPts val="3091"/>
              </a:lnSpc>
              <a:buAutoNum type="arabicPeriod" startAt="1"/>
            </a:pPr>
            <a:r>
              <a:rPr lang="en-US" sz="2208">
                <a:solidFill>
                  <a:srgbClr val="050E9B"/>
                </a:solidFill>
                <a:latin typeface="Monda"/>
                <a:ea typeface="Monda"/>
                <a:cs typeface="Monda"/>
                <a:sym typeface="Monda"/>
              </a:rPr>
              <a:t>Regional Performance</a:t>
            </a:r>
          </a:p>
          <a:p>
            <a:pPr algn="just" marL="953499" indent="-317833" lvl="2">
              <a:lnSpc>
                <a:spcPts val="3091"/>
              </a:lnSpc>
              <a:buFont typeface="Arial"/>
              <a:buChar char="⚬"/>
            </a:pPr>
            <a:r>
              <a:rPr lang="en-US" sz="2208">
                <a:solidFill>
                  <a:srgbClr val="050E9B"/>
                </a:solidFill>
                <a:latin typeface="Monda"/>
                <a:ea typeface="Monda"/>
                <a:cs typeface="Monda"/>
                <a:sym typeface="Monda"/>
              </a:rPr>
              <a:t>USA dominates with the highest total revenue (~₹78M), followed by UK (~₹47M) and Germany (~₹40M).</a:t>
            </a:r>
          </a:p>
          <a:p>
            <a:pPr algn="just" marL="953499" indent="-317833" lvl="2">
              <a:lnSpc>
                <a:spcPts val="3091"/>
              </a:lnSpc>
              <a:buFont typeface="Arial"/>
              <a:buChar char="⚬"/>
            </a:pPr>
            <a:r>
              <a:rPr lang="en-US" sz="2208">
                <a:solidFill>
                  <a:srgbClr val="050E9B"/>
                </a:solidFill>
                <a:latin typeface="Monda"/>
                <a:ea typeface="Monda"/>
                <a:cs typeface="Monda"/>
                <a:sym typeface="Monda"/>
              </a:rPr>
              <a:t>Reason: Higher transaction frequency, larger customer base, and stronger repeat purchase patterns.</a:t>
            </a:r>
          </a:p>
          <a:p>
            <a:pPr algn="just" marL="476749" indent="-238375" lvl="1">
              <a:lnSpc>
                <a:spcPts val="3091"/>
              </a:lnSpc>
              <a:buAutoNum type="arabicPeriod" startAt="1"/>
            </a:pPr>
            <a:r>
              <a:rPr lang="en-US" sz="2208">
                <a:solidFill>
                  <a:srgbClr val="050E9B"/>
                </a:solidFill>
                <a:latin typeface="Monda"/>
                <a:ea typeface="Monda"/>
                <a:cs typeface="Monda"/>
                <a:sym typeface="Monda"/>
              </a:rPr>
              <a:t>City-Level Insights</a:t>
            </a:r>
          </a:p>
          <a:p>
            <a:pPr algn="just" marL="953499" indent="-317833" lvl="2">
              <a:lnSpc>
                <a:spcPts val="3091"/>
              </a:lnSpc>
              <a:buFont typeface="Arial"/>
              <a:buChar char="⚬"/>
            </a:pPr>
            <a:r>
              <a:rPr lang="en-US" sz="2208">
                <a:solidFill>
                  <a:srgbClr val="050E9B"/>
                </a:solidFill>
                <a:latin typeface="Monda"/>
                <a:ea typeface="Monda"/>
                <a:cs typeface="Monda"/>
                <a:sym typeface="Monda"/>
              </a:rPr>
              <a:t>Chicago (₹17.6M) and Portsmouth (₹16.7M) are the top-performing cities.</a:t>
            </a:r>
          </a:p>
          <a:p>
            <a:pPr algn="just" marL="953499" indent="-317833" lvl="2">
              <a:lnSpc>
                <a:spcPts val="3091"/>
              </a:lnSpc>
              <a:buFont typeface="Arial"/>
              <a:buChar char="⚬"/>
            </a:pPr>
            <a:r>
              <a:rPr lang="en-US" sz="2208">
                <a:solidFill>
                  <a:srgbClr val="050E9B"/>
                </a:solidFill>
                <a:latin typeface="Monda"/>
                <a:ea typeface="Monda"/>
                <a:cs typeface="Monda"/>
                <a:sym typeface="Monda"/>
              </a:rPr>
              <a:t>These cities likely benefit from dense customer clusters and efficient delivery infrastructure.</a:t>
            </a:r>
          </a:p>
          <a:p>
            <a:pPr algn="just" marL="476749" indent="-238375" lvl="1">
              <a:lnSpc>
                <a:spcPts val="3091"/>
              </a:lnSpc>
              <a:buAutoNum type="arabicPeriod" startAt="1"/>
            </a:pPr>
            <a:r>
              <a:rPr lang="en-US" sz="2208">
                <a:solidFill>
                  <a:srgbClr val="050E9B"/>
                </a:solidFill>
                <a:latin typeface="Monda"/>
                <a:ea typeface="Monda"/>
                <a:cs typeface="Monda"/>
                <a:sym typeface="Monda"/>
              </a:rPr>
              <a:t>Monthly Sales Trend</a:t>
            </a:r>
          </a:p>
          <a:p>
            <a:pPr algn="just" marL="953499" indent="-317833" lvl="2">
              <a:lnSpc>
                <a:spcPts val="3091"/>
              </a:lnSpc>
              <a:buFont typeface="Arial"/>
              <a:buChar char="⚬"/>
            </a:pPr>
            <a:r>
              <a:rPr lang="en-US" sz="2208">
                <a:solidFill>
                  <a:srgbClr val="050E9B"/>
                </a:solidFill>
                <a:latin typeface="Monda"/>
                <a:ea typeface="Monda"/>
                <a:cs typeface="Monda"/>
                <a:sym typeface="Monda"/>
              </a:rPr>
              <a:t>Peaks in March and May (₹21M) indicate seasonal shopping activity — possibly linked to promotional campaigns or festival sales.</a:t>
            </a:r>
          </a:p>
          <a:p>
            <a:pPr algn="just" marL="953499" indent="-317833" lvl="2">
              <a:lnSpc>
                <a:spcPts val="3091"/>
              </a:lnSpc>
              <a:buFont typeface="Arial"/>
              <a:buChar char="⚬"/>
            </a:pPr>
            <a:r>
              <a:rPr lang="en-US" sz="2208">
                <a:solidFill>
                  <a:srgbClr val="050E9B"/>
                </a:solidFill>
                <a:latin typeface="Monda"/>
                <a:ea typeface="Monda"/>
                <a:cs typeface="Monda"/>
                <a:sym typeface="Monda"/>
              </a:rPr>
              <a:t>Dips in February and October (~₹19M) suggest off-season demand or marketing inactivity.</a:t>
            </a:r>
          </a:p>
          <a:p>
            <a:pPr algn="just" marL="476749" indent="-238375" lvl="1">
              <a:lnSpc>
                <a:spcPts val="3091"/>
              </a:lnSpc>
              <a:buAutoNum type="arabicPeriod" startAt="1"/>
            </a:pPr>
            <a:r>
              <a:rPr lang="en-US" sz="2208">
                <a:solidFill>
                  <a:srgbClr val="050E9B"/>
                </a:solidFill>
                <a:latin typeface="Monda"/>
                <a:ea typeface="Monda"/>
                <a:cs typeface="Monda"/>
                <a:sym typeface="Monda"/>
              </a:rPr>
              <a:t>Operational Performance</a:t>
            </a:r>
          </a:p>
          <a:p>
            <a:pPr algn="just" marL="953499" indent="-317833" lvl="2">
              <a:lnSpc>
                <a:spcPts val="3091"/>
              </a:lnSpc>
              <a:buFont typeface="Arial"/>
              <a:buChar char="⚬"/>
            </a:pPr>
            <a:r>
              <a:rPr lang="en-US" sz="2208">
                <a:solidFill>
                  <a:srgbClr val="050E9B"/>
                </a:solidFill>
                <a:latin typeface="Monda"/>
                <a:ea typeface="Monda"/>
                <a:cs typeface="Monda"/>
                <a:sym typeface="Monda"/>
              </a:rPr>
              <a:t>Delivered Orders: 43.46% – healthy, but improvement is needed in processing and shipping efficiency (35%+ combined).</a:t>
            </a:r>
          </a:p>
          <a:p>
            <a:pPr algn="just" marL="953499" indent="-317833" lvl="2">
              <a:lnSpc>
                <a:spcPts val="3091"/>
              </a:lnSpc>
              <a:buFont typeface="Arial"/>
              <a:buChar char="⚬"/>
            </a:pPr>
            <a:r>
              <a:rPr lang="en-US" sz="2208">
                <a:solidFill>
                  <a:srgbClr val="050E9B"/>
                </a:solidFill>
                <a:latin typeface="Monda"/>
                <a:ea typeface="Monda"/>
                <a:cs typeface="Monda"/>
                <a:sym typeface="Monda"/>
              </a:rPr>
              <a:t>Indicates backend delays or resource imbalance during high-volume months.</a:t>
            </a:r>
          </a:p>
          <a:p>
            <a:pPr algn="just" marL="476749" indent="-238375" lvl="1">
              <a:lnSpc>
                <a:spcPts val="3091"/>
              </a:lnSpc>
              <a:buAutoNum type="arabicPeriod" startAt="1"/>
            </a:pPr>
            <a:r>
              <a:rPr lang="en-US" sz="2208">
                <a:solidFill>
                  <a:srgbClr val="050E9B"/>
                </a:solidFill>
                <a:latin typeface="Monda"/>
                <a:ea typeface="Monda"/>
                <a:cs typeface="Monda"/>
                <a:sym typeface="Monda"/>
              </a:rPr>
              <a:t>Geographical Spread</a:t>
            </a:r>
          </a:p>
          <a:p>
            <a:pPr algn="just" marL="953499" indent="-317833" lvl="2">
              <a:lnSpc>
                <a:spcPts val="3091"/>
              </a:lnSpc>
              <a:buFont typeface="Arial"/>
              <a:buChar char="⚬"/>
            </a:pPr>
            <a:r>
              <a:rPr lang="en-US" sz="2208">
                <a:solidFill>
                  <a:srgbClr val="050E9B"/>
                </a:solidFill>
                <a:latin typeface="Monda"/>
                <a:ea typeface="Monda"/>
                <a:cs typeface="Monda"/>
                <a:sym typeface="Monda"/>
              </a:rPr>
              <a:t>Revenue map reveals concentration in North America and Western Europe,</a:t>
            </a:r>
          </a:p>
          <a:p>
            <a:pPr algn="just" marL="953499" indent="-317833" lvl="2">
              <a:lnSpc>
                <a:spcPts val="3091"/>
              </a:lnSpc>
              <a:buFont typeface="Arial"/>
              <a:buChar char="⚬"/>
            </a:pPr>
            <a:r>
              <a:rPr lang="en-US" sz="2208">
                <a:solidFill>
                  <a:srgbClr val="050E9B"/>
                </a:solidFill>
                <a:latin typeface="Monda"/>
                <a:ea typeface="Monda"/>
                <a:cs typeface="Monda"/>
                <a:sym typeface="Monda"/>
              </a:rPr>
              <a:t> while APAC and South America remain underrepresented — hinting at untapped potential.</a:t>
            </a:r>
          </a:p>
          <a:p>
            <a:pPr algn="just">
              <a:lnSpc>
                <a:spcPts val="3091"/>
              </a:lnSpc>
            </a:pPr>
          </a:p>
        </p:txBody>
      </p:sp>
    </p:spTree>
  </p:cSld>
  <p:clrMapOvr>
    <a:masterClrMapping/>
  </p:clrMapOvr>
</p:sld>
</file>

<file path=ppt/slides/slide1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2204" t="0" r="-2204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-1584626" y="-740607"/>
            <a:ext cx="4570868" cy="3598520"/>
          </a:xfrm>
          <a:custGeom>
            <a:avLst/>
            <a:gdLst/>
            <a:ahLst/>
            <a:cxnLst/>
            <a:rect r="r" b="b" t="t" l="l"/>
            <a:pathLst>
              <a:path h="3598520" w="4570868">
                <a:moveTo>
                  <a:pt x="0" y="0"/>
                </a:moveTo>
                <a:lnTo>
                  <a:pt x="4570869" y="0"/>
                </a:lnTo>
                <a:lnTo>
                  <a:pt x="4570869" y="3598520"/>
                </a:lnTo>
                <a:lnTo>
                  <a:pt x="0" y="3598520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true" flipV="true" rot="0">
            <a:off x="14645974" y="7042697"/>
            <a:ext cx="5226651" cy="4114800"/>
          </a:xfrm>
          <a:custGeom>
            <a:avLst/>
            <a:gdLst/>
            <a:ahLst/>
            <a:cxnLst/>
            <a:rect r="r" b="b" t="t" l="l"/>
            <a:pathLst>
              <a:path h="4114800" w="5226651">
                <a:moveTo>
                  <a:pt x="5226652" y="4114800"/>
                </a:moveTo>
                <a:lnTo>
                  <a:pt x="0" y="4114800"/>
                </a:lnTo>
                <a:lnTo>
                  <a:pt x="0" y="0"/>
                </a:lnTo>
                <a:lnTo>
                  <a:pt x="5226652" y="0"/>
                </a:lnTo>
                <a:lnTo>
                  <a:pt x="5226652" y="411480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0">
            <a:off x="15729343" y="-740607"/>
            <a:ext cx="3059915" cy="4114800"/>
          </a:xfrm>
          <a:custGeom>
            <a:avLst/>
            <a:gdLst/>
            <a:ahLst/>
            <a:cxnLst/>
            <a:rect r="r" b="b" t="t" l="l"/>
            <a:pathLst>
              <a:path h="4114800" w="3059915">
                <a:moveTo>
                  <a:pt x="0" y="0"/>
                </a:moveTo>
                <a:lnTo>
                  <a:pt x="3059914" y="0"/>
                </a:lnTo>
                <a:lnTo>
                  <a:pt x="3059914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0">
            <a:off x="700808" y="4001444"/>
            <a:ext cx="7741829" cy="5117702"/>
          </a:xfrm>
          <a:custGeom>
            <a:avLst/>
            <a:gdLst/>
            <a:ahLst/>
            <a:cxnLst/>
            <a:rect r="r" b="b" t="t" l="l"/>
            <a:pathLst>
              <a:path h="5117702" w="7741829">
                <a:moveTo>
                  <a:pt x="0" y="0"/>
                </a:moveTo>
                <a:lnTo>
                  <a:pt x="7741830" y="0"/>
                </a:lnTo>
                <a:lnTo>
                  <a:pt x="7741830" y="5117702"/>
                </a:lnTo>
                <a:lnTo>
                  <a:pt x="0" y="5117702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>
              <a:fillRect l="0" t="-4639" r="0" b="-4639"/>
            </a:stretch>
          </a:blipFill>
        </p:spPr>
      </p:sp>
      <p:sp>
        <p:nvSpPr>
          <p:cNvPr name="Freeform 7" id="7"/>
          <p:cNvSpPr/>
          <p:nvPr/>
        </p:nvSpPr>
        <p:spPr>
          <a:xfrm flipH="false" flipV="false" rot="0">
            <a:off x="8848593" y="3991112"/>
            <a:ext cx="8150047" cy="5108984"/>
          </a:xfrm>
          <a:custGeom>
            <a:avLst/>
            <a:gdLst/>
            <a:ahLst/>
            <a:cxnLst/>
            <a:rect r="r" b="b" t="t" l="l"/>
            <a:pathLst>
              <a:path h="5108984" w="8150047">
                <a:moveTo>
                  <a:pt x="0" y="0"/>
                </a:moveTo>
                <a:lnTo>
                  <a:pt x="8150046" y="0"/>
                </a:lnTo>
                <a:lnTo>
                  <a:pt x="8150046" y="5108985"/>
                </a:lnTo>
                <a:lnTo>
                  <a:pt x="0" y="5108985"/>
                </a:lnTo>
                <a:lnTo>
                  <a:pt x="0" y="0"/>
                </a:lnTo>
                <a:close/>
              </a:path>
            </a:pathLst>
          </a:custGeom>
          <a:blipFill>
            <a:blip r:embed="rId8"/>
            <a:stretch>
              <a:fillRect l="0" t="0" r="0" b="0"/>
            </a:stretch>
          </a:blipFill>
        </p:spPr>
      </p:sp>
      <p:sp>
        <p:nvSpPr>
          <p:cNvPr name="TextBox 8" id="8"/>
          <p:cNvSpPr txBox="true"/>
          <p:nvPr/>
        </p:nvSpPr>
        <p:spPr>
          <a:xfrm rot="0">
            <a:off x="2497525" y="200115"/>
            <a:ext cx="13231817" cy="157144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6309"/>
              </a:lnSpc>
            </a:pPr>
            <a:r>
              <a:rPr lang="en-US" b="true" sz="4507">
                <a:solidFill>
                  <a:srgbClr val="050E9B"/>
                </a:solidFill>
                <a:latin typeface="Merriweather Sans Bold"/>
                <a:ea typeface="Merriweather Sans Bold"/>
                <a:cs typeface="Merriweather Sans Bold"/>
                <a:sym typeface="Merriweather Sans Bold"/>
              </a:rPr>
              <a:t>ROOT CAUSE ANALYSIS (RCA) (GLOBAL OVERVIEW)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700808" y="1676282"/>
            <a:ext cx="16764253" cy="232516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3091"/>
              </a:lnSpc>
            </a:pPr>
            <a:r>
              <a:rPr lang="en-US" sz="2208" b="true">
                <a:solidFill>
                  <a:srgbClr val="050E9B"/>
                </a:solidFill>
                <a:latin typeface="Monda Bold"/>
                <a:ea typeface="Monda Bold"/>
                <a:cs typeface="Monda Bold"/>
                <a:sym typeface="Monda Bold"/>
              </a:rPr>
              <a:t>Root Causes Identified:</a:t>
            </a:r>
          </a:p>
          <a:p>
            <a:pPr algn="just" marL="476749" indent="-238375" lvl="1">
              <a:lnSpc>
                <a:spcPts val="3091"/>
              </a:lnSpc>
              <a:buFont typeface="Arial"/>
              <a:buChar char="•"/>
            </a:pPr>
            <a:r>
              <a:rPr lang="en-US" sz="2208">
                <a:solidFill>
                  <a:srgbClr val="050E9B"/>
                </a:solidFill>
                <a:latin typeface="Monda"/>
                <a:ea typeface="Monda"/>
                <a:cs typeface="Monda"/>
                <a:sym typeface="Monda"/>
              </a:rPr>
              <a:t>Uneven regional marketing or stock availability</a:t>
            </a:r>
          </a:p>
          <a:p>
            <a:pPr algn="just" marL="476749" indent="-238375" lvl="1">
              <a:lnSpc>
                <a:spcPts val="3091"/>
              </a:lnSpc>
              <a:buFont typeface="Arial"/>
              <a:buChar char="•"/>
            </a:pPr>
            <a:r>
              <a:rPr lang="en-US" sz="2208">
                <a:solidFill>
                  <a:srgbClr val="050E9B"/>
                </a:solidFill>
                <a:latin typeface="Monda"/>
                <a:ea typeface="Monda"/>
                <a:cs typeface="Monda"/>
                <a:sym typeface="Monda"/>
              </a:rPr>
              <a:t>Seasonal purchase peaks not supported by logistics scaling</a:t>
            </a:r>
          </a:p>
          <a:p>
            <a:pPr algn="just" marL="476749" indent="-238375" lvl="1">
              <a:lnSpc>
                <a:spcPts val="3091"/>
              </a:lnSpc>
              <a:buFont typeface="Arial"/>
              <a:buChar char="•"/>
            </a:pPr>
            <a:r>
              <a:rPr lang="en-US" sz="2208">
                <a:solidFill>
                  <a:srgbClr val="050E9B"/>
                </a:solidFill>
                <a:latin typeface="Monda"/>
                <a:ea typeface="Monda"/>
                <a:cs typeface="Monda"/>
                <a:sym typeface="Monda"/>
              </a:rPr>
              <a:t>Limited presence or promotions in emerging regions</a:t>
            </a:r>
          </a:p>
          <a:p>
            <a:pPr algn="just" marL="476749" indent="-238375" lvl="1">
              <a:lnSpc>
                <a:spcPts val="3091"/>
              </a:lnSpc>
              <a:buFont typeface="Arial"/>
              <a:buChar char="•"/>
            </a:pPr>
            <a:r>
              <a:rPr lang="en-US" sz="2208">
                <a:solidFill>
                  <a:srgbClr val="050E9B"/>
                </a:solidFill>
                <a:latin typeface="Monda"/>
                <a:ea typeface="Monda"/>
                <a:cs typeface="Monda"/>
                <a:sym typeface="Monda"/>
              </a:rPr>
              <a:t>Slightly slower order completion rates affecting overall delivery %</a:t>
            </a:r>
          </a:p>
          <a:p>
            <a:pPr algn="just">
              <a:lnSpc>
                <a:spcPts val="3091"/>
              </a:lnSpc>
            </a:pPr>
          </a:p>
        </p:txBody>
      </p:sp>
    </p:spTree>
  </p:cSld>
  <p:clrMapOvr>
    <a:masterClrMapping/>
  </p:clrMapOvr>
</p:sld>
</file>

<file path=ppt/slides/slide1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2204" t="0" r="-2204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-1584626" y="-740607"/>
            <a:ext cx="4570868" cy="3598520"/>
          </a:xfrm>
          <a:custGeom>
            <a:avLst/>
            <a:gdLst/>
            <a:ahLst/>
            <a:cxnLst/>
            <a:rect r="r" b="b" t="t" l="l"/>
            <a:pathLst>
              <a:path h="3598520" w="4570868">
                <a:moveTo>
                  <a:pt x="0" y="0"/>
                </a:moveTo>
                <a:lnTo>
                  <a:pt x="4570869" y="0"/>
                </a:lnTo>
                <a:lnTo>
                  <a:pt x="4570869" y="3598520"/>
                </a:lnTo>
                <a:lnTo>
                  <a:pt x="0" y="3598520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true" flipV="true" rot="0">
            <a:off x="14645974" y="7042697"/>
            <a:ext cx="5226651" cy="4114800"/>
          </a:xfrm>
          <a:custGeom>
            <a:avLst/>
            <a:gdLst/>
            <a:ahLst/>
            <a:cxnLst/>
            <a:rect r="r" b="b" t="t" l="l"/>
            <a:pathLst>
              <a:path h="4114800" w="5226651">
                <a:moveTo>
                  <a:pt x="5226652" y="4114800"/>
                </a:moveTo>
                <a:lnTo>
                  <a:pt x="0" y="4114800"/>
                </a:lnTo>
                <a:lnTo>
                  <a:pt x="0" y="0"/>
                </a:lnTo>
                <a:lnTo>
                  <a:pt x="5226652" y="0"/>
                </a:lnTo>
                <a:lnTo>
                  <a:pt x="5226652" y="411480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0">
            <a:off x="15729343" y="-740607"/>
            <a:ext cx="3059915" cy="4114800"/>
          </a:xfrm>
          <a:custGeom>
            <a:avLst/>
            <a:gdLst/>
            <a:ahLst/>
            <a:cxnLst/>
            <a:rect r="r" b="b" t="t" l="l"/>
            <a:pathLst>
              <a:path h="4114800" w="3059915">
                <a:moveTo>
                  <a:pt x="0" y="0"/>
                </a:moveTo>
                <a:lnTo>
                  <a:pt x="3059914" y="0"/>
                </a:lnTo>
                <a:lnTo>
                  <a:pt x="3059914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0">
            <a:off x="700808" y="3374193"/>
            <a:ext cx="9001241" cy="5147665"/>
          </a:xfrm>
          <a:custGeom>
            <a:avLst/>
            <a:gdLst/>
            <a:ahLst/>
            <a:cxnLst/>
            <a:rect r="r" b="b" t="t" l="l"/>
            <a:pathLst>
              <a:path h="5147665" w="9001241">
                <a:moveTo>
                  <a:pt x="0" y="0"/>
                </a:moveTo>
                <a:lnTo>
                  <a:pt x="9001241" y="0"/>
                </a:lnTo>
                <a:lnTo>
                  <a:pt x="9001241" y="5147665"/>
                </a:lnTo>
                <a:lnTo>
                  <a:pt x="0" y="5147665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>
              <a:fillRect l="-321" t="0" r="-321" b="0"/>
            </a:stretch>
          </a:blipFill>
        </p:spPr>
      </p:sp>
      <p:sp>
        <p:nvSpPr>
          <p:cNvPr name="Freeform 7" id="7"/>
          <p:cNvSpPr/>
          <p:nvPr/>
        </p:nvSpPr>
        <p:spPr>
          <a:xfrm flipH="false" flipV="false" rot="0">
            <a:off x="10498633" y="3374193"/>
            <a:ext cx="6164615" cy="5103158"/>
          </a:xfrm>
          <a:custGeom>
            <a:avLst/>
            <a:gdLst/>
            <a:ahLst/>
            <a:cxnLst/>
            <a:rect r="r" b="b" t="t" l="l"/>
            <a:pathLst>
              <a:path h="5103158" w="6164615">
                <a:moveTo>
                  <a:pt x="0" y="0"/>
                </a:moveTo>
                <a:lnTo>
                  <a:pt x="6164615" y="0"/>
                </a:lnTo>
                <a:lnTo>
                  <a:pt x="6164615" y="5103159"/>
                </a:lnTo>
                <a:lnTo>
                  <a:pt x="0" y="5103159"/>
                </a:lnTo>
                <a:lnTo>
                  <a:pt x="0" y="0"/>
                </a:lnTo>
                <a:close/>
              </a:path>
            </a:pathLst>
          </a:custGeom>
          <a:blipFill>
            <a:blip r:embed="rId8"/>
            <a:stretch>
              <a:fillRect l="0" t="0" r="0" b="0"/>
            </a:stretch>
          </a:blipFill>
        </p:spPr>
      </p:sp>
      <p:sp>
        <p:nvSpPr>
          <p:cNvPr name="TextBox 8" id="8"/>
          <p:cNvSpPr txBox="true"/>
          <p:nvPr/>
        </p:nvSpPr>
        <p:spPr>
          <a:xfrm rot="0">
            <a:off x="2497525" y="200115"/>
            <a:ext cx="13231817" cy="157144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6309"/>
              </a:lnSpc>
            </a:pPr>
            <a:r>
              <a:rPr lang="en-US" b="true" sz="4507">
                <a:solidFill>
                  <a:srgbClr val="050E9B"/>
                </a:solidFill>
                <a:latin typeface="Merriweather Sans Bold"/>
                <a:ea typeface="Merriweather Sans Bold"/>
                <a:cs typeface="Merriweather Sans Bold"/>
                <a:sym typeface="Merriweather Sans Bold"/>
              </a:rPr>
              <a:t>ROOT CAUSE ANALYSIS (RCA) (GLOBAL OVERVIEW)</a:t>
            </a:r>
          </a:p>
        </p:txBody>
      </p:sp>
    </p:spTree>
  </p:cSld>
  <p:clrMapOvr>
    <a:masterClrMapping/>
  </p:clrMapOvr>
</p:sld>
</file>

<file path=ppt/slides/slide19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2204" t="0" r="-2204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-1584626" y="-740607"/>
            <a:ext cx="4570868" cy="3598520"/>
          </a:xfrm>
          <a:custGeom>
            <a:avLst/>
            <a:gdLst/>
            <a:ahLst/>
            <a:cxnLst/>
            <a:rect r="r" b="b" t="t" l="l"/>
            <a:pathLst>
              <a:path h="3598520" w="4570868">
                <a:moveTo>
                  <a:pt x="0" y="0"/>
                </a:moveTo>
                <a:lnTo>
                  <a:pt x="4570869" y="0"/>
                </a:lnTo>
                <a:lnTo>
                  <a:pt x="4570869" y="3598520"/>
                </a:lnTo>
                <a:lnTo>
                  <a:pt x="0" y="3598520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true" flipV="true" rot="0">
            <a:off x="14645974" y="7042697"/>
            <a:ext cx="5226651" cy="4114800"/>
          </a:xfrm>
          <a:custGeom>
            <a:avLst/>
            <a:gdLst/>
            <a:ahLst/>
            <a:cxnLst/>
            <a:rect r="r" b="b" t="t" l="l"/>
            <a:pathLst>
              <a:path h="4114800" w="5226651">
                <a:moveTo>
                  <a:pt x="5226652" y="4114800"/>
                </a:moveTo>
                <a:lnTo>
                  <a:pt x="0" y="4114800"/>
                </a:lnTo>
                <a:lnTo>
                  <a:pt x="0" y="0"/>
                </a:lnTo>
                <a:lnTo>
                  <a:pt x="5226652" y="0"/>
                </a:lnTo>
                <a:lnTo>
                  <a:pt x="5226652" y="411480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0">
            <a:off x="15729343" y="-740607"/>
            <a:ext cx="3059915" cy="4114800"/>
          </a:xfrm>
          <a:custGeom>
            <a:avLst/>
            <a:gdLst/>
            <a:ahLst/>
            <a:cxnLst/>
            <a:rect r="r" b="b" t="t" l="l"/>
            <a:pathLst>
              <a:path h="4114800" w="3059915">
                <a:moveTo>
                  <a:pt x="0" y="0"/>
                </a:moveTo>
                <a:lnTo>
                  <a:pt x="3059914" y="0"/>
                </a:lnTo>
                <a:lnTo>
                  <a:pt x="3059914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6" id="6"/>
          <p:cNvSpPr txBox="true"/>
          <p:nvPr/>
        </p:nvSpPr>
        <p:spPr>
          <a:xfrm rot="0">
            <a:off x="2497525" y="200115"/>
            <a:ext cx="13231817" cy="77134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6309"/>
              </a:lnSpc>
            </a:pPr>
            <a:r>
              <a:rPr lang="en-US" b="true" sz="4507">
                <a:solidFill>
                  <a:srgbClr val="050E9B"/>
                </a:solidFill>
                <a:latin typeface="Merriweather Sans Bold"/>
                <a:ea typeface="Merriweather Sans Bold"/>
                <a:cs typeface="Merriweather Sans Bold"/>
                <a:sym typeface="Merriweather Sans Bold"/>
              </a:rPr>
              <a:t>RECOMMENDATIONS &amp; INSIGHTS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700808" y="1253497"/>
            <a:ext cx="16764253" cy="704702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3371"/>
              </a:lnSpc>
            </a:pPr>
            <a:r>
              <a:rPr lang="en-US" sz="2408">
                <a:solidFill>
                  <a:srgbClr val="050E9B"/>
                </a:solidFill>
                <a:latin typeface="Monda"/>
                <a:ea typeface="Monda"/>
                <a:cs typeface="Monda"/>
                <a:sym typeface="Monda"/>
              </a:rPr>
              <a:t> </a:t>
            </a:r>
            <a:r>
              <a:rPr lang="en-US" sz="2408" b="true">
                <a:solidFill>
                  <a:srgbClr val="050E9B"/>
                </a:solidFill>
                <a:latin typeface="Monda Bold"/>
                <a:ea typeface="Monda Bold"/>
                <a:cs typeface="Monda Bold"/>
                <a:sym typeface="Monda Bold"/>
              </a:rPr>
              <a:t>Business Recommendations</a:t>
            </a:r>
          </a:p>
          <a:p>
            <a:pPr algn="just" marL="476749" indent="-238375" lvl="1">
              <a:lnSpc>
                <a:spcPts val="3091"/>
              </a:lnSpc>
              <a:buAutoNum type="arabicPeriod" startAt="1"/>
            </a:pPr>
            <a:r>
              <a:rPr lang="en-US" sz="2208">
                <a:solidFill>
                  <a:srgbClr val="050E9B"/>
                </a:solidFill>
                <a:latin typeface="Monda"/>
                <a:ea typeface="Monda"/>
                <a:cs typeface="Monda"/>
                <a:sym typeface="Monda"/>
              </a:rPr>
              <a:t>Focus on Underperforming Regions (Canada &amp; Australia)</a:t>
            </a:r>
          </a:p>
          <a:p>
            <a:pPr algn="just" marL="953499" indent="-317833" lvl="2">
              <a:lnSpc>
                <a:spcPts val="3091"/>
              </a:lnSpc>
              <a:buFont typeface="Arial"/>
              <a:buChar char="⚬"/>
            </a:pPr>
            <a:r>
              <a:rPr lang="en-US" sz="2208">
                <a:solidFill>
                  <a:srgbClr val="050E9B"/>
                </a:solidFill>
                <a:latin typeface="Monda"/>
                <a:ea typeface="Monda"/>
                <a:cs typeface="Monda"/>
                <a:sym typeface="Monda"/>
              </a:rPr>
              <a:t>Allocate additional marketing budgets to these regions to match U.K. and U.S. conversion levels.</a:t>
            </a:r>
          </a:p>
          <a:p>
            <a:pPr algn="just" marL="953499" indent="-317833" lvl="2">
              <a:lnSpc>
                <a:spcPts val="3091"/>
              </a:lnSpc>
              <a:buFont typeface="Arial"/>
              <a:buChar char="⚬"/>
            </a:pPr>
            <a:r>
              <a:rPr lang="en-US" sz="2208">
                <a:solidFill>
                  <a:srgbClr val="050E9B"/>
                </a:solidFill>
                <a:latin typeface="Monda"/>
                <a:ea typeface="Monda"/>
                <a:cs typeface="Monda"/>
                <a:sym typeface="Monda"/>
              </a:rPr>
              <a:t>Offer region-specific campaigns or limited-time offers to increase order frequency.</a:t>
            </a:r>
          </a:p>
          <a:p>
            <a:pPr algn="just" marL="476749" indent="-238375" lvl="1">
              <a:lnSpc>
                <a:spcPts val="3091"/>
              </a:lnSpc>
              <a:buAutoNum type="arabicPeriod" startAt="1"/>
            </a:pPr>
            <a:r>
              <a:rPr lang="en-US" sz="2208">
                <a:solidFill>
                  <a:srgbClr val="050E9B"/>
                </a:solidFill>
                <a:latin typeface="Monda"/>
                <a:ea typeface="Monda"/>
                <a:cs typeface="Monda"/>
                <a:sym typeface="Monda"/>
              </a:rPr>
              <a:t>Optimize Order Fulfillment Efficiency</a:t>
            </a:r>
          </a:p>
          <a:p>
            <a:pPr algn="just" marL="953499" indent="-317833" lvl="2">
              <a:lnSpc>
                <a:spcPts val="3091"/>
              </a:lnSpc>
              <a:buFont typeface="Arial"/>
              <a:buChar char="⚬"/>
            </a:pPr>
            <a:r>
              <a:rPr lang="en-US" sz="2208">
                <a:solidFill>
                  <a:srgbClr val="050E9B"/>
                </a:solidFill>
                <a:latin typeface="Monda"/>
                <a:ea typeface="Monda"/>
                <a:cs typeface="Monda"/>
                <a:sym typeface="Monda"/>
              </a:rPr>
              <a:t>Reduce pending (16%) and processing (18%) orders by integrating real-time stock tracking and automated logistics scheduling.</a:t>
            </a:r>
          </a:p>
          <a:p>
            <a:pPr algn="just" marL="953499" indent="-317833" lvl="2">
              <a:lnSpc>
                <a:spcPts val="3091"/>
              </a:lnSpc>
              <a:buFont typeface="Arial"/>
              <a:buChar char="⚬"/>
            </a:pPr>
            <a:r>
              <a:rPr lang="en-US" sz="2208">
                <a:solidFill>
                  <a:srgbClr val="050E9B"/>
                </a:solidFill>
                <a:latin typeface="Monda"/>
                <a:ea typeface="Monda"/>
                <a:cs typeface="Monda"/>
                <a:sym typeface="Monda"/>
              </a:rPr>
              <a:t>Prioritize high-volume cities (Chicago, Portsmouth) for faster deliveries and stock placement.</a:t>
            </a:r>
          </a:p>
          <a:p>
            <a:pPr algn="just" marL="476749" indent="-238375" lvl="1">
              <a:lnSpc>
                <a:spcPts val="3091"/>
              </a:lnSpc>
              <a:buAutoNum type="arabicPeriod" startAt="1"/>
            </a:pPr>
            <a:r>
              <a:rPr lang="en-US" sz="2208">
                <a:solidFill>
                  <a:srgbClr val="050E9B"/>
                </a:solidFill>
                <a:latin typeface="Monda"/>
                <a:ea typeface="Monda"/>
                <a:cs typeface="Monda"/>
                <a:sym typeface="Monda"/>
              </a:rPr>
              <a:t>Capitalize on Seasonal Peaks</a:t>
            </a:r>
          </a:p>
          <a:p>
            <a:pPr algn="just" marL="953499" indent="-317833" lvl="2">
              <a:lnSpc>
                <a:spcPts val="3091"/>
              </a:lnSpc>
              <a:buFont typeface="Arial"/>
              <a:buChar char="⚬"/>
            </a:pPr>
            <a:r>
              <a:rPr lang="en-US" sz="2208">
                <a:solidFill>
                  <a:srgbClr val="050E9B"/>
                </a:solidFill>
                <a:latin typeface="Monda"/>
                <a:ea typeface="Monda"/>
                <a:cs typeface="Monda"/>
                <a:sym typeface="Monda"/>
              </a:rPr>
              <a:t>Strengthen promotions during March–May, where sales revenue consistently peaks (~₹21M).</a:t>
            </a:r>
          </a:p>
          <a:p>
            <a:pPr algn="just" marL="953499" indent="-317833" lvl="2">
              <a:lnSpc>
                <a:spcPts val="3091"/>
              </a:lnSpc>
              <a:buFont typeface="Arial"/>
              <a:buChar char="⚬"/>
            </a:pPr>
            <a:r>
              <a:rPr lang="en-US" sz="2208">
                <a:solidFill>
                  <a:srgbClr val="050E9B"/>
                </a:solidFill>
                <a:latin typeface="Monda"/>
                <a:ea typeface="Monda"/>
                <a:cs typeface="Monda"/>
                <a:sym typeface="Monda"/>
              </a:rPr>
              <a:t>Use Power BI trend forecasting to anticipate next seasonal surge.</a:t>
            </a:r>
          </a:p>
          <a:p>
            <a:pPr algn="just" marL="476749" indent="-238375" lvl="1">
              <a:lnSpc>
                <a:spcPts val="3091"/>
              </a:lnSpc>
              <a:buAutoNum type="arabicPeriod" startAt="1"/>
            </a:pPr>
            <a:r>
              <a:rPr lang="en-US" sz="2208">
                <a:solidFill>
                  <a:srgbClr val="050E9B"/>
                </a:solidFill>
                <a:latin typeface="Monda"/>
                <a:ea typeface="Monda"/>
                <a:cs typeface="Monda"/>
                <a:sym typeface="Monda"/>
              </a:rPr>
              <a:t>City-Level Sales Replication</a:t>
            </a:r>
          </a:p>
          <a:p>
            <a:pPr algn="just" marL="953499" indent="-317833" lvl="2">
              <a:lnSpc>
                <a:spcPts val="3091"/>
              </a:lnSpc>
              <a:buFont typeface="Arial"/>
              <a:buChar char="⚬"/>
            </a:pPr>
            <a:r>
              <a:rPr lang="en-US" sz="2208">
                <a:solidFill>
                  <a:srgbClr val="050E9B"/>
                </a:solidFill>
                <a:latin typeface="Monda"/>
                <a:ea typeface="Monda"/>
                <a:cs typeface="Monda"/>
                <a:sym typeface="Monda"/>
              </a:rPr>
              <a:t>Apply the Chicago model (efficient logistics + loyal customers) to Boston and Frankfurt—both show strong potential but moderate sales (~₹7–8M).</a:t>
            </a:r>
          </a:p>
          <a:p>
            <a:pPr algn="just" marL="476749" indent="-238375" lvl="1">
              <a:lnSpc>
                <a:spcPts val="3091"/>
              </a:lnSpc>
              <a:buAutoNum type="arabicPeriod" startAt="1"/>
            </a:pPr>
            <a:r>
              <a:rPr lang="en-US" sz="2208">
                <a:solidFill>
                  <a:srgbClr val="050E9B"/>
                </a:solidFill>
                <a:latin typeface="Monda"/>
                <a:ea typeface="Monda"/>
                <a:cs typeface="Monda"/>
                <a:sym typeface="Monda"/>
              </a:rPr>
              <a:t>Customer Retention Initiatives</a:t>
            </a:r>
          </a:p>
          <a:p>
            <a:pPr algn="just" marL="953499" indent="-317833" lvl="2">
              <a:lnSpc>
                <a:spcPts val="3091"/>
              </a:lnSpc>
              <a:buFont typeface="Arial"/>
              <a:buChar char="⚬"/>
            </a:pPr>
            <a:r>
              <a:rPr lang="en-US" sz="2208">
                <a:solidFill>
                  <a:srgbClr val="050E9B"/>
                </a:solidFill>
                <a:latin typeface="Monda"/>
                <a:ea typeface="Monda"/>
                <a:cs typeface="Monda"/>
                <a:sym typeface="Monda"/>
              </a:rPr>
              <a:t>Encourage repeat orders via “Thank You” rewards or free shipping for regular customers.</a:t>
            </a:r>
          </a:p>
          <a:p>
            <a:pPr algn="just" marL="953499" indent="-317833" lvl="2">
              <a:lnSpc>
                <a:spcPts val="3091"/>
              </a:lnSpc>
              <a:buFont typeface="Arial"/>
              <a:buChar char="⚬"/>
            </a:pPr>
            <a:r>
              <a:rPr lang="en-US" sz="2208">
                <a:solidFill>
                  <a:srgbClr val="050E9B"/>
                </a:solidFill>
                <a:latin typeface="Monda"/>
                <a:ea typeface="Monda"/>
                <a:cs typeface="Monda"/>
                <a:sym typeface="Monda"/>
              </a:rPr>
              <a:t>Use customer segmentation insights from Dashboard 2 to identify high-value Premium and Regular segments.</a:t>
            </a:r>
          </a:p>
          <a:p>
            <a:pPr algn="just">
              <a:lnSpc>
                <a:spcPts val="3091"/>
              </a:lnSpc>
            </a:pPr>
          </a:p>
        </p:txBody>
      </p:sp>
      <p:sp>
        <p:nvSpPr>
          <p:cNvPr name="TextBox 8" id="8"/>
          <p:cNvSpPr txBox="true"/>
          <p:nvPr/>
        </p:nvSpPr>
        <p:spPr>
          <a:xfrm rot="0">
            <a:off x="495047" y="8286448"/>
            <a:ext cx="16764253" cy="157967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3371"/>
              </a:lnSpc>
            </a:pPr>
            <a:r>
              <a:rPr lang="en-US" sz="2408" b="true">
                <a:solidFill>
                  <a:srgbClr val="050E9B"/>
                </a:solidFill>
                <a:latin typeface="Monda Bold"/>
                <a:ea typeface="Monda Bold"/>
                <a:cs typeface="Monda Bold"/>
                <a:sym typeface="Monda Bold"/>
              </a:rPr>
              <a:t>Key Takeaways:</a:t>
            </a:r>
          </a:p>
          <a:p>
            <a:pPr algn="just" marL="476749" indent="-238375" lvl="1">
              <a:lnSpc>
                <a:spcPts val="3091"/>
              </a:lnSpc>
              <a:buFont typeface="Arial"/>
              <a:buChar char="•"/>
            </a:pPr>
            <a:r>
              <a:rPr lang="en-US" sz="2208">
                <a:solidFill>
                  <a:srgbClr val="050E9B"/>
                </a:solidFill>
                <a:latin typeface="Monda"/>
                <a:ea typeface="Monda"/>
                <a:cs typeface="Monda"/>
                <a:sym typeface="Monda"/>
              </a:rPr>
              <a:t>The retail network performs strongest in U.S. and U.K., while Canada and Australia offer room for growth.</a:t>
            </a:r>
          </a:p>
          <a:p>
            <a:pPr algn="just" marL="476749" indent="-238375" lvl="1">
              <a:lnSpc>
                <a:spcPts val="3091"/>
              </a:lnSpc>
              <a:buFont typeface="Arial"/>
              <a:buChar char="•"/>
            </a:pPr>
            <a:r>
              <a:rPr lang="en-US" sz="2208">
                <a:solidFill>
                  <a:srgbClr val="050E9B"/>
                </a:solidFill>
                <a:latin typeface="Monda"/>
                <a:ea typeface="Monda"/>
                <a:cs typeface="Monda"/>
                <a:sym typeface="Monda"/>
              </a:rPr>
              <a:t> Improving order fulfillment and leveraging seasonal peaks can drive overall profitability.</a:t>
            </a:r>
          </a:p>
          <a:p>
            <a:pPr algn="just">
              <a:lnSpc>
                <a:spcPts val="3091"/>
              </a:lnSpc>
            </a:pPr>
          </a:p>
        </p:txBody>
      </p:sp>
    </p:spTree>
  </p:cSld>
  <p:clrMapOvr>
    <a:masterClrMapping/>
  </p:clrMapOvr>
</p:sld>
</file>

<file path=ppt/slides/slide20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2204" t="0" r="-2204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-1584626" y="-740607"/>
            <a:ext cx="4141180" cy="3260238"/>
          </a:xfrm>
          <a:custGeom>
            <a:avLst/>
            <a:gdLst/>
            <a:ahLst/>
            <a:cxnLst/>
            <a:rect r="r" b="b" t="t" l="l"/>
            <a:pathLst>
              <a:path h="3260238" w="4141180">
                <a:moveTo>
                  <a:pt x="0" y="0"/>
                </a:moveTo>
                <a:lnTo>
                  <a:pt x="4141180" y="0"/>
                </a:lnTo>
                <a:lnTo>
                  <a:pt x="4141180" y="3260238"/>
                </a:lnTo>
                <a:lnTo>
                  <a:pt x="0" y="3260238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true" flipV="true" rot="0">
            <a:off x="15729343" y="7895603"/>
            <a:ext cx="4143283" cy="3261894"/>
          </a:xfrm>
          <a:custGeom>
            <a:avLst/>
            <a:gdLst/>
            <a:ahLst/>
            <a:cxnLst/>
            <a:rect r="r" b="b" t="t" l="l"/>
            <a:pathLst>
              <a:path h="3261894" w="4143283">
                <a:moveTo>
                  <a:pt x="4143283" y="3261894"/>
                </a:moveTo>
                <a:lnTo>
                  <a:pt x="0" y="3261894"/>
                </a:lnTo>
                <a:lnTo>
                  <a:pt x="0" y="0"/>
                </a:lnTo>
                <a:lnTo>
                  <a:pt x="4143283" y="0"/>
                </a:lnTo>
                <a:lnTo>
                  <a:pt x="4143283" y="3261894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0">
            <a:off x="15729343" y="-740607"/>
            <a:ext cx="3059915" cy="4114800"/>
          </a:xfrm>
          <a:custGeom>
            <a:avLst/>
            <a:gdLst/>
            <a:ahLst/>
            <a:cxnLst/>
            <a:rect r="r" b="b" t="t" l="l"/>
            <a:pathLst>
              <a:path h="4114800" w="3059915">
                <a:moveTo>
                  <a:pt x="0" y="0"/>
                </a:moveTo>
                <a:lnTo>
                  <a:pt x="3059914" y="0"/>
                </a:lnTo>
                <a:lnTo>
                  <a:pt x="3059914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6" id="6"/>
          <p:cNvSpPr txBox="true"/>
          <p:nvPr/>
        </p:nvSpPr>
        <p:spPr>
          <a:xfrm rot="0">
            <a:off x="3385229" y="23495"/>
            <a:ext cx="11517542" cy="77152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6300"/>
              </a:lnSpc>
            </a:pPr>
            <a:r>
              <a:rPr lang="en-US" b="true" sz="4500">
                <a:solidFill>
                  <a:srgbClr val="050E9B"/>
                </a:solidFill>
                <a:latin typeface="Merriweather Sans Bold"/>
                <a:ea typeface="Merriweather Sans Bold"/>
                <a:cs typeface="Merriweather Sans Bold"/>
                <a:sym typeface="Merriweather Sans Bold"/>
              </a:rPr>
              <a:t>DASHBOARD-2: OVERVIEW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255901" y="1259643"/>
            <a:ext cx="16454953" cy="903668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3814"/>
              </a:lnSpc>
            </a:pPr>
            <a:r>
              <a:rPr lang="en-US" sz="2724" b="true">
                <a:solidFill>
                  <a:srgbClr val="050E9B"/>
                </a:solidFill>
                <a:latin typeface="Monda Bold"/>
                <a:ea typeface="Monda Bold"/>
                <a:cs typeface="Monda Bold"/>
                <a:sym typeface="Monda Bold"/>
              </a:rPr>
              <a:t>Purpose:</a:t>
            </a:r>
          </a:p>
          <a:p>
            <a:pPr algn="just" marL="588299" indent="-294150" lvl="1">
              <a:lnSpc>
                <a:spcPts val="3814"/>
              </a:lnSpc>
              <a:buFont typeface="Arial"/>
              <a:buChar char="•"/>
            </a:pPr>
            <a:r>
              <a:rPr lang="en-US" sz="2724">
                <a:solidFill>
                  <a:srgbClr val="050E9B"/>
                </a:solidFill>
                <a:latin typeface="Monda"/>
                <a:ea typeface="Monda"/>
                <a:cs typeface="Monda"/>
                <a:sym typeface="Monda"/>
              </a:rPr>
              <a:t>Provide a concise view of customer demographics, loyalty and spending behaviour to guide targeting and retention strategies.</a:t>
            </a:r>
          </a:p>
          <a:p>
            <a:pPr algn="just">
              <a:lnSpc>
                <a:spcPts val="3814"/>
              </a:lnSpc>
            </a:pPr>
            <a:r>
              <a:rPr lang="en-US" sz="2724" b="true">
                <a:solidFill>
                  <a:srgbClr val="050E9B"/>
                </a:solidFill>
                <a:latin typeface="Monda Bold"/>
                <a:ea typeface="Monda Bold"/>
                <a:cs typeface="Monda Bold"/>
                <a:sym typeface="Monda Bold"/>
              </a:rPr>
              <a:t>Dashboard Components:</a:t>
            </a:r>
          </a:p>
          <a:p>
            <a:pPr algn="just" marL="588299" indent="-294150" lvl="1">
              <a:lnSpc>
                <a:spcPts val="3814"/>
              </a:lnSpc>
              <a:buFont typeface="Arial"/>
              <a:buChar char="•"/>
            </a:pPr>
            <a:r>
              <a:rPr lang="en-US" sz="2724">
                <a:solidFill>
                  <a:srgbClr val="050E9B"/>
                </a:solidFill>
                <a:latin typeface="Monda"/>
                <a:ea typeface="Monda"/>
                <a:cs typeface="Monda"/>
                <a:sym typeface="Monda"/>
              </a:rPr>
              <a:t>KPI Cards: Total Customers, Avg Revenue per Customer, Repeat Customers, Repeat Purchase %</a:t>
            </a:r>
          </a:p>
          <a:p>
            <a:pPr algn="just" marL="588299" indent="-294150" lvl="1">
              <a:lnSpc>
                <a:spcPts val="3814"/>
              </a:lnSpc>
              <a:buFont typeface="Arial"/>
              <a:buChar char="•"/>
            </a:pPr>
            <a:r>
              <a:rPr lang="en-US" sz="2724">
                <a:solidFill>
                  <a:srgbClr val="050E9B"/>
                </a:solidFill>
                <a:latin typeface="Monda"/>
                <a:ea typeface="Monda"/>
                <a:cs typeface="Monda"/>
                <a:sym typeface="Monda"/>
              </a:rPr>
              <a:t>Column/Bar Charts: Customer count by Age Group, Revenue share by Gender</a:t>
            </a:r>
          </a:p>
          <a:p>
            <a:pPr algn="just" marL="588299" indent="-294150" lvl="1">
              <a:lnSpc>
                <a:spcPts val="3814"/>
              </a:lnSpc>
              <a:buFont typeface="Arial"/>
              <a:buChar char="•"/>
            </a:pPr>
            <a:r>
              <a:rPr lang="en-US" sz="2724">
                <a:solidFill>
                  <a:srgbClr val="050E9B"/>
                </a:solidFill>
                <a:latin typeface="Monda"/>
                <a:ea typeface="Monda"/>
                <a:cs typeface="Monda"/>
                <a:sym typeface="Monda"/>
              </a:rPr>
              <a:t>Funnel / Bars: Customer Distribution by Income Level (funnel)</a:t>
            </a:r>
          </a:p>
          <a:p>
            <a:pPr algn="just" marL="588299" indent="-294150" lvl="1">
              <a:lnSpc>
                <a:spcPts val="3814"/>
              </a:lnSpc>
              <a:buFont typeface="Arial"/>
              <a:buChar char="•"/>
            </a:pPr>
            <a:r>
              <a:rPr lang="en-US" sz="2724">
                <a:solidFill>
                  <a:srgbClr val="050E9B"/>
                </a:solidFill>
                <a:latin typeface="Monda"/>
                <a:ea typeface="Monda"/>
                <a:cs typeface="Monda"/>
                <a:sym typeface="Monda"/>
              </a:rPr>
              <a:t>Decomposition Tree: Drivers of repeat customers (segment → income → country)</a:t>
            </a:r>
          </a:p>
          <a:p>
            <a:pPr algn="just" marL="588299" indent="-294150" lvl="1">
              <a:lnSpc>
                <a:spcPts val="3814"/>
              </a:lnSpc>
              <a:buFont typeface="Arial"/>
              <a:buChar char="•"/>
            </a:pPr>
            <a:r>
              <a:rPr lang="en-US" sz="2724">
                <a:solidFill>
                  <a:srgbClr val="050E9B"/>
                </a:solidFill>
                <a:latin typeface="Monda"/>
                <a:ea typeface="Monda"/>
                <a:cs typeface="Monda"/>
                <a:sym typeface="Monda"/>
              </a:rPr>
              <a:t>Donut / Pie: Customer Loyalty Breakdown (Repeat vs One-time)</a:t>
            </a:r>
          </a:p>
          <a:p>
            <a:pPr algn="just" marL="588299" indent="-294150" lvl="1">
              <a:lnSpc>
                <a:spcPts val="3814"/>
              </a:lnSpc>
              <a:buFont typeface="Arial"/>
              <a:buChar char="•"/>
            </a:pPr>
            <a:r>
              <a:rPr lang="en-US" sz="2724">
                <a:solidFill>
                  <a:srgbClr val="050E9B"/>
                </a:solidFill>
                <a:latin typeface="Monda"/>
                <a:ea typeface="Monda"/>
                <a:cs typeface="Monda"/>
                <a:sym typeface="Monda"/>
              </a:rPr>
              <a:t>Slicers: Year, Country, Gender, Customer Segment, Age Group</a:t>
            </a:r>
          </a:p>
          <a:p>
            <a:pPr algn="just">
              <a:lnSpc>
                <a:spcPts val="3814"/>
              </a:lnSpc>
            </a:pPr>
            <a:r>
              <a:rPr lang="en-US" sz="2724" b="true">
                <a:solidFill>
                  <a:srgbClr val="050E9B"/>
                </a:solidFill>
                <a:latin typeface="Monda Bold"/>
                <a:ea typeface="Monda Bold"/>
                <a:cs typeface="Monda Bold"/>
                <a:sym typeface="Monda Bold"/>
              </a:rPr>
              <a:t>Analytical Goal:</a:t>
            </a:r>
          </a:p>
          <a:p>
            <a:pPr algn="just" marL="588299" indent="-294150" lvl="1">
              <a:lnSpc>
                <a:spcPts val="3814"/>
              </a:lnSpc>
              <a:buFont typeface="Arial"/>
              <a:buChar char="•"/>
            </a:pPr>
            <a:r>
              <a:rPr lang="en-US" sz="2724">
                <a:solidFill>
                  <a:srgbClr val="050E9B"/>
                </a:solidFill>
                <a:latin typeface="Monda"/>
                <a:ea typeface="Monda"/>
                <a:cs typeface="Monda"/>
                <a:sym typeface="Monda"/>
              </a:rPr>
              <a:t>Identify highest-value customer groups (by spend &amp; repeat rate)</a:t>
            </a:r>
          </a:p>
          <a:p>
            <a:pPr algn="just" marL="588299" indent="-294150" lvl="1">
              <a:lnSpc>
                <a:spcPts val="3814"/>
              </a:lnSpc>
              <a:buFont typeface="Arial"/>
              <a:buChar char="•"/>
            </a:pPr>
            <a:r>
              <a:rPr lang="en-US" sz="2724">
                <a:solidFill>
                  <a:srgbClr val="050E9B"/>
                </a:solidFill>
                <a:latin typeface="Monda"/>
                <a:ea typeface="Monda"/>
                <a:cs typeface="Monda"/>
                <a:sym typeface="Monda"/>
              </a:rPr>
              <a:t>Understand demographic drivers of loyalty (age, income, segment)</a:t>
            </a:r>
          </a:p>
          <a:p>
            <a:pPr algn="just" marL="588299" indent="-294150" lvl="1">
              <a:lnSpc>
                <a:spcPts val="3814"/>
              </a:lnSpc>
              <a:buFont typeface="Arial"/>
              <a:buChar char="•"/>
            </a:pPr>
            <a:r>
              <a:rPr lang="en-US" sz="2724">
                <a:solidFill>
                  <a:srgbClr val="050E9B"/>
                </a:solidFill>
                <a:latin typeface="Monda"/>
                <a:ea typeface="Monda"/>
                <a:cs typeface="Monda"/>
                <a:sym typeface="Monda"/>
              </a:rPr>
              <a:t>Reveal operational or product gaps by cohort for targeted actions</a:t>
            </a:r>
          </a:p>
          <a:p>
            <a:pPr algn="just">
              <a:lnSpc>
                <a:spcPts val="3814"/>
              </a:lnSpc>
            </a:pPr>
            <a:r>
              <a:rPr lang="en-US" sz="2724" b="true">
                <a:solidFill>
                  <a:srgbClr val="050E9B"/>
                </a:solidFill>
                <a:latin typeface="Monda Bold"/>
                <a:ea typeface="Monda Bold"/>
                <a:cs typeface="Monda Bold"/>
                <a:sym typeface="Monda Bold"/>
              </a:rPr>
              <a:t>Design Approach:</a:t>
            </a:r>
          </a:p>
          <a:p>
            <a:pPr algn="just" marL="588299" indent="-294150" lvl="1">
              <a:lnSpc>
                <a:spcPts val="3814"/>
              </a:lnSpc>
              <a:buFont typeface="Arial"/>
              <a:buChar char="•"/>
            </a:pPr>
            <a:r>
              <a:rPr lang="en-US" sz="2724">
                <a:solidFill>
                  <a:srgbClr val="050E9B"/>
                </a:solidFill>
                <a:latin typeface="Monda"/>
                <a:ea typeface="Monda"/>
                <a:cs typeface="Monda"/>
                <a:sym typeface="Monda"/>
              </a:rPr>
              <a:t>Teal/black theme, KPI-first layout, interactive filters for fast cohort comparison and drill-downs.</a:t>
            </a:r>
          </a:p>
          <a:p>
            <a:pPr algn="just">
              <a:lnSpc>
                <a:spcPts val="3814"/>
              </a:lnSpc>
            </a:pPr>
          </a:p>
        </p:txBody>
      </p:sp>
    </p:spTree>
  </p:cSld>
  <p:clrMapOvr>
    <a:masterClrMapping/>
  </p:clrMapOvr>
</p:sld>
</file>

<file path=ppt/slides/slide2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2204" t="0" r="-2204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-1584626" y="-740607"/>
            <a:ext cx="4353725" cy="3427569"/>
          </a:xfrm>
          <a:custGeom>
            <a:avLst/>
            <a:gdLst/>
            <a:ahLst/>
            <a:cxnLst/>
            <a:rect r="r" b="b" t="t" l="l"/>
            <a:pathLst>
              <a:path h="3427569" w="4353725">
                <a:moveTo>
                  <a:pt x="0" y="0"/>
                </a:moveTo>
                <a:lnTo>
                  <a:pt x="4353725" y="0"/>
                </a:lnTo>
                <a:lnTo>
                  <a:pt x="4353725" y="3427569"/>
                </a:lnTo>
                <a:lnTo>
                  <a:pt x="0" y="3427569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true" flipV="true" rot="0">
            <a:off x="14645974" y="7042697"/>
            <a:ext cx="5226651" cy="4114800"/>
          </a:xfrm>
          <a:custGeom>
            <a:avLst/>
            <a:gdLst/>
            <a:ahLst/>
            <a:cxnLst/>
            <a:rect r="r" b="b" t="t" l="l"/>
            <a:pathLst>
              <a:path h="4114800" w="5226651">
                <a:moveTo>
                  <a:pt x="5226652" y="4114800"/>
                </a:moveTo>
                <a:lnTo>
                  <a:pt x="0" y="4114800"/>
                </a:lnTo>
                <a:lnTo>
                  <a:pt x="0" y="0"/>
                </a:lnTo>
                <a:lnTo>
                  <a:pt x="5226652" y="0"/>
                </a:lnTo>
                <a:lnTo>
                  <a:pt x="5226652" y="411480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0">
            <a:off x="15729343" y="-740607"/>
            <a:ext cx="3059915" cy="4114800"/>
          </a:xfrm>
          <a:custGeom>
            <a:avLst/>
            <a:gdLst/>
            <a:ahLst/>
            <a:cxnLst/>
            <a:rect r="r" b="b" t="t" l="l"/>
            <a:pathLst>
              <a:path h="4114800" w="3059915">
                <a:moveTo>
                  <a:pt x="0" y="0"/>
                </a:moveTo>
                <a:lnTo>
                  <a:pt x="3059914" y="0"/>
                </a:lnTo>
                <a:lnTo>
                  <a:pt x="3059914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6" id="6"/>
          <p:cNvGrpSpPr/>
          <p:nvPr/>
        </p:nvGrpSpPr>
        <p:grpSpPr>
          <a:xfrm rot="0">
            <a:off x="1523095" y="1316793"/>
            <a:ext cx="14810441" cy="8238421"/>
            <a:chOff x="0" y="0"/>
            <a:chExt cx="2294525" cy="1276347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2294525" cy="1276347"/>
            </a:xfrm>
            <a:custGeom>
              <a:avLst/>
              <a:gdLst/>
              <a:ahLst/>
              <a:cxnLst/>
              <a:rect r="r" b="b" t="t" l="l"/>
              <a:pathLst>
                <a:path h="1276347" w="2294525">
                  <a:moveTo>
                    <a:pt x="12023" y="0"/>
                  </a:moveTo>
                  <a:lnTo>
                    <a:pt x="2282502" y="0"/>
                  </a:lnTo>
                  <a:cubicBezTo>
                    <a:pt x="2285691" y="0"/>
                    <a:pt x="2288749" y="1267"/>
                    <a:pt x="2291003" y="3521"/>
                  </a:cubicBezTo>
                  <a:cubicBezTo>
                    <a:pt x="2293258" y="5776"/>
                    <a:pt x="2294525" y="8834"/>
                    <a:pt x="2294525" y="12023"/>
                  </a:cubicBezTo>
                  <a:lnTo>
                    <a:pt x="2294525" y="1264324"/>
                  </a:lnTo>
                  <a:cubicBezTo>
                    <a:pt x="2294525" y="1267513"/>
                    <a:pt x="2293258" y="1270571"/>
                    <a:pt x="2291003" y="1272826"/>
                  </a:cubicBezTo>
                  <a:cubicBezTo>
                    <a:pt x="2288749" y="1275080"/>
                    <a:pt x="2285691" y="1276347"/>
                    <a:pt x="2282502" y="1276347"/>
                  </a:cubicBezTo>
                  <a:lnTo>
                    <a:pt x="12023" y="1276347"/>
                  </a:lnTo>
                  <a:cubicBezTo>
                    <a:pt x="8834" y="1276347"/>
                    <a:pt x="5776" y="1275080"/>
                    <a:pt x="3521" y="1272826"/>
                  </a:cubicBezTo>
                  <a:cubicBezTo>
                    <a:pt x="1267" y="1270571"/>
                    <a:pt x="0" y="1267513"/>
                    <a:pt x="0" y="1264324"/>
                  </a:cubicBezTo>
                  <a:lnTo>
                    <a:pt x="0" y="12023"/>
                  </a:lnTo>
                  <a:cubicBezTo>
                    <a:pt x="0" y="8834"/>
                    <a:pt x="1267" y="5776"/>
                    <a:pt x="3521" y="3521"/>
                  </a:cubicBezTo>
                  <a:cubicBezTo>
                    <a:pt x="5776" y="1267"/>
                    <a:pt x="8834" y="0"/>
                    <a:pt x="12023" y="0"/>
                  </a:cubicBezTo>
                  <a:close/>
                </a:path>
              </a:pathLst>
            </a:custGeom>
            <a:blipFill>
              <a:blip r:embed="rId7"/>
              <a:stretch>
                <a:fillRect l="0" t="0" r="0" b="0"/>
              </a:stretch>
            </a:blipFill>
          </p:spPr>
        </p:sp>
      </p:grpSp>
      <p:sp>
        <p:nvSpPr>
          <p:cNvPr name="TextBox 8" id="8"/>
          <p:cNvSpPr txBox="true"/>
          <p:nvPr/>
        </p:nvSpPr>
        <p:spPr>
          <a:xfrm rot="0">
            <a:off x="3385229" y="23495"/>
            <a:ext cx="11517542" cy="77152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6300"/>
              </a:lnSpc>
            </a:pPr>
            <a:r>
              <a:rPr lang="en-US" b="true" sz="4500">
                <a:solidFill>
                  <a:srgbClr val="050E9B"/>
                </a:solidFill>
                <a:latin typeface="Merriweather Sans Bold"/>
                <a:ea typeface="Merriweather Sans Bold"/>
                <a:cs typeface="Merriweather Sans Bold"/>
                <a:sym typeface="Merriweather Sans Bold"/>
              </a:rPr>
              <a:t>DASHBOARD-2: OVERVIEW</a:t>
            </a:r>
          </a:p>
        </p:txBody>
      </p:sp>
    </p:spTree>
  </p:cSld>
  <p:clrMapOvr>
    <a:masterClrMapping/>
  </p:clrMapOvr>
</p:sld>
</file>

<file path=ppt/slides/slide2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2204" t="0" r="-2204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-1584626" y="-740607"/>
            <a:ext cx="4843718" cy="3813327"/>
          </a:xfrm>
          <a:custGeom>
            <a:avLst/>
            <a:gdLst/>
            <a:ahLst/>
            <a:cxnLst/>
            <a:rect r="r" b="b" t="t" l="l"/>
            <a:pathLst>
              <a:path h="3813327" w="4843718">
                <a:moveTo>
                  <a:pt x="0" y="0"/>
                </a:moveTo>
                <a:lnTo>
                  <a:pt x="4843718" y="0"/>
                </a:lnTo>
                <a:lnTo>
                  <a:pt x="4843718" y="3813327"/>
                </a:lnTo>
                <a:lnTo>
                  <a:pt x="0" y="3813327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true" flipV="true" rot="0">
            <a:off x="14645974" y="7042697"/>
            <a:ext cx="5226651" cy="4114800"/>
          </a:xfrm>
          <a:custGeom>
            <a:avLst/>
            <a:gdLst/>
            <a:ahLst/>
            <a:cxnLst/>
            <a:rect r="r" b="b" t="t" l="l"/>
            <a:pathLst>
              <a:path h="4114800" w="5226651">
                <a:moveTo>
                  <a:pt x="5226652" y="4114800"/>
                </a:moveTo>
                <a:lnTo>
                  <a:pt x="0" y="4114800"/>
                </a:lnTo>
                <a:lnTo>
                  <a:pt x="0" y="0"/>
                </a:lnTo>
                <a:lnTo>
                  <a:pt x="5226652" y="0"/>
                </a:lnTo>
                <a:lnTo>
                  <a:pt x="5226652" y="411480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0">
            <a:off x="15729343" y="-740607"/>
            <a:ext cx="3059915" cy="4114800"/>
          </a:xfrm>
          <a:custGeom>
            <a:avLst/>
            <a:gdLst/>
            <a:ahLst/>
            <a:cxnLst/>
            <a:rect r="r" b="b" t="t" l="l"/>
            <a:pathLst>
              <a:path h="4114800" w="3059915">
                <a:moveTo>
                  <a:pt x="0" y="0"/>
                </a:moveTo>
                <a:lnTo>
                  <a:pt x="3059914" y="0"/>
                </a:lnTo>
                <a:lnTo>
                  <a:pt x="3059914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  <p:graphicFrame>
        <p:nvGraphicFramePr>
          <p:cNvPr name="Object 6" id="6"/>
          <p:cNvGraphicFramePr/>
          <p:nvPr/>
        </p:nvGraphicFramePr>
        <p:xfrm>
          <a:off x="1319409" y="3571875"/>
          <a:ext cx="5657850" cy="3143250"/>
        </p:xfrm>
        <a:graphic>
          <a:graphicData uri="http://schemas.openxmlformats.org/presentationml/2006/ole">
            <p:oleObj imgW="6781800" imgH="4267200" r:id="rId8" progId="Excel.Sheet.12" name="Worksheet">
              <p:embed/>
              <p:pic>
                <p:nvPicPr>
                  <p:cNvPr name="" id="0"/>
                  <p:cNvPicPr/>
                  <p:nvPr/>
                </p:nvPicPr>
                <p:blipFill>
                  <a:blip r:embed="rId7"/>
                  <a:stretch>
                    <a:fillRect/>
                  </a:stretch>
                </p:blipFill>
                <p:spPr>
                  <a:xfrm>
                    <a:off x="1270000" y="1270000"/>
                    <a:ext cx="1270000" cy="1270000"/>
                  </a:xfrm>
                  <a:prstGeom prst="rect"/>
                </p:spPr>
              </p:pic>
            </p:oleObj>
          </a:graphicData>
        </a:graphic>
      </p:graphicFrame>
      <p:sp>
        <p:nvSpPr>
          <p:cNvPr name="TextBox 7" id="7"/>
          <p:cNvSpPr txBox="true"/>
          <p:nvPr/>
        </p:nvSpPr>
        <p:spPr>
          <a:xfrm rot="0">
            <a:off x="1928689" y="283391"/>
            <a:ext cx="13993558" cy="74530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6169"/>
              </a:lnSpc>
            </a:pPr>
            <a:r>
              <a:rPr lang="en-US" b="true" sz="4407">
                <a:solidFill>
                  <a:srgbClr val="050E9B"/>
                </a:solidFill>
                <a:latin typeface="Merriweather Sans Bold"/>
                <a:ea typeface="Merriweather Sans Bold"/>
                <a:cs typeface="Merriweather Sans Bold"/>
                <a:sym typeface="Merriweather Sans Bold"/>
              </a:rPr>
              <a:t>RCA (CUSTOMER INSIGHTS)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1735785" y="1259643"/>
            <a:ext cx="13993558" cy="141693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3801"/>
              </a:lnSpc>
            </a:pPr>
            <a:r>
              <a:rPr lang="en-US" sz="2715" b="true">
                <a:solidFill>
                  <a:srgbClr val="050E9B"/>
                </a:solidFill>
                <a:latin typeface="Monda Bold"/>
                <a:ea typeface="Monda Bold"/>
                <a:cs typeface="Monda Bold"/>
                <a:sym typeface="Monda Bold"/>
              </a:rPr>
              <a:t>Objective:</a:t>
            </a:r>
          </a:p>
          <a:p>
            <a:pPr algn="just">
              <a:lnSpc>
                <a:spcPts val="3801"/>
              </a:lnSpc>
            </a:pPr>
            <a:r>
              <a:rPr lang="en-US" sz="2715">
                <a:solidFill>
                  <a:srgbClr val="050E9B"/>
                </a:solidFill>
                <a:latin typeface="Monda"/>
                <a:ea typeface="Monda"/>
                <a:cs typeface="Monda"/>
                <a:sym typeface="Monda"/>
              </a:rPr>
              <a:t>Identify behavioral patterns and key factors influencing customer retention and spending.</a:t>
            </a:r>
          </a:p>
        </p:txBody>
      </p:sp>
    </p:spTree>
  </p:cSld>
  <p:clrMapOvr>
    <a:masterClrMapping/>
  </p:clrMapOvr>
</p:sld>
</file>

<file path=ppt/slides/slide2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2204" t="0" r="-2204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-1584626" y="-740607"/>
            <a:ext cx="4843718" cy="3813327"/>
          </a:xfrm>
          <a:custGeom>
            <a:avLst/>
            <a:gdLst/>
            <a:ahLst/>
            <a:cxnLst/>
            <a:rect r="r" b="b" t="t" l="l"/>
            <a:pathLst>
              <a:path h="3813327" w="4843718">
                <a:moveTo>
                  <a:pt x="0" y="0"/>
                </a:moveTo>
                <a:lnTo>
                  <a:pt x="4843718" y="0"/>
                </a:lnTo>
                <a:lnTo>
                  <a:pt x="4843718" y="3813327"/>
                </a:lnTo>
                <a:lnTo>
                  <a:pt x="0" y="3813327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true" flipV="true" rot="0">
            <a:off x="14645974" y="7042697"/>
            <a:ext cx="5226651" cy="4114800"/>
          </a:xfrm>
          <a:custGeom>
            <a:avLst/>
            <a:gdLst/>
            <a:ahLst/>
            <a:cxnLst/>
            <a:rect r="r" b="b" t="t" l="l"/>
            <a:pathLst>
              <a:path h="4114800" w="5226651">
                <a:moveTo>
                  <a:pt x="5226652" y="4114800"/>
                </a:moveTo>
                <a:lnTo>
                  <a:pt x="0" y="4114800"/>
                </a:lnTo>
                <a:lnTo>
                  <a:pt x="0" y="0"/>
                </a:lnTo>
                <a:lnTo>
                  <a:pt x="5226652" y="0"/>
                </a:lnTo>
                <a:lnTo>
                  <a:pt x="5226652" y="411480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0">
            <a:off x="15729343" y="-740607"/>
            <a:ext cx="3059915" cy="4114800"/>
          </a:xfrm>
          <a:custGeom>
            <a:avLst/>
            <a:gdLst/>
            <a:ahLst/>
            <a:cxnLst/>
            <a:rect r="r" b="b" t="t" l="l"/>
            <a:pathLst>
              <a:path h="4114800" w="3059915">
                <a:moveTo>
                  <a:pt x="0" y="0"/>
                </a:moveTo>
                <a:lnTo>
                  <a:pt x="3059914" y="0"/>
                </a:lnTo>
                <a:lnTo>
                  <a:pt x="3059914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0">
            <a:off x="511145" y="2848472"/>
            <a:ext cx="7142913" cy="5050184"/>
          </a:xfrm>
          <a:custGeom>
            <a:avLst/>
            <a:gdLst/>
            <a:ahLst/>
            <a:cxnLst/>
            <a:rect r="r" b="b" t="t" l="l"/>
            <a:pathLst>
              <a:path h="5050184" w="7142913">
                <a:moveTo>
                  <a:pt x="0" y="0"/>
                </a:moveTo>
                <a:lnTo>
                  <a:pt x="7142913" y="0"/>
                </a:lnTo>
                <a:lnTo>
                  <a:pt x="7142913" y="5050183"/>
                </a:lnTo>
                <a:lnTo>
                  <a:pt x="0" y="5050183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>
              <a:fillRect l="0" t="-3442" r="0" b="-3442"/>
            </a:stretch>
          </a:blipFill>
        </p:spPr>
      </p:sp>
      <p:sp>
        <p:nvSpPr>
          <p:cNvPr name="Freeform 7" id="7"/>
          <p:cNvSpPr/>
          <p:nvPr/>
        </p:nvSpPr>
        <p:spPr>
          <a:xfrm flipH="false" flipV="false" rot="0">
            <a:off x="8925468" y="2870922"/>
            <a:ext cx="7400900" cy="5005283"/>
          </a:xfrm>
          <a:custGeom>
            <a:avLst/>
            <a:gdLst/>
            <a:ahLst/>
            <a:cxnLst/>
            <a:rect r="r" b="b" t="t" l="l"/>
            <a:pathLst>
              <a:path h="5005283" w="7400900">
                <a:moveTo>
                  <a:pt x="0" y="0"/>
                </a:moveTo>
                <a:lnTo>
                  <a:pt x="7400900" y="0"/>
                </a:lnTo>
                <a:lnTo>
                  <a:pt x="7400900" y="5005283"/>
                </a:lnTo>
                <a:lnTo>
                  <a:pt x="0" y="5005283"/>
                </a:lnTo>
                <a:lnTo>
                  <a:pt x="0" y="0"/>
                </a:lnTo>
                <a:close/>
              </a:path>
            </a:pathLst>
          </a:custGeom>
          <a:blipFill>
            <a:blip r:embed="rId8"/>
            <a:stretch>
              <a:fillRect l="0" t="-12182" r="0" b="-12182"/>
            </a:stretch>
          </a:blipFill>
        </p:spPr>
      </p:sp>
      <p:sp>
        <p:nvSpPr>
          <p:cNvPr name="TextBox 8" id="8"/>
          <p:cNvSpPr txBox="true"/>
          <p:nvPr/>
        </p:nvSpPr>
        <p:spPr>
          <a:xfrm rot="0">
            <a:off x="1928689" y="283391"/>
            <a:ext cx="13993558" cy="74530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6169"/>
              </a:lnSpc>
            </a:pPr>
            <a:r>
              <a:rPr lang="en-US" b="true" sz="4407">
                <a:solidFill>
                  <a:srgbClr val="050E9B"/>
                </a:solidFill>
                <a:latin typeface="Merriweather Sans Bold"/>
                <a:ea typeface="Merriweather Sans Bold"/>
                <a:cs typeface="Merriweather Sans Bold"/>
                <a:sym typeface="Merriweather Sans Bold"/>
              </a:rPr>
              <a:t>RCA (CUSTOMER INSIGHTS)</a:t>
            </a:r>
          </a:p>
        </p:txBody>
      </p:sp>
    </p:spTree>
  </p:cSld>
  <p:clrMapOvr>
    <a:masterClrMapping/>
  </p:clrMapOvr>
</p:sld>
</file>

<file path=ppt/slides/slide2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2204" t="0" r="-2204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-1584626" y="-740607"/>
            <a:ext cx="4570868" cy="3598520"/>
          </a:xfrm>
          <a:custGeom>
            <a:avLst/>
            <a:gdLst/>
            <a:ahLst/>
            <a:cxnLst/>
            <a:rect r="r" b="b" t="t" l="l"/>
            <a:pathLst>
              <a:path h="3598520" w="4570868">
                <a:moveTo>
                  <a:pt x="0" y="0"/>
                </a:moveTo>
                <a:lnTo>
                  <a:pt x="4570869" y="0"/>
                </a:lnTo>
                <a:lnTo>
                  <a:pt x="4570869" y="3598520"/>
                </a:lnTo>
                <a:lnTo>
                  <a:pt x="0" y="3598520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true" flipV="true" rot="0">
            <a:off x="14645974" y="7042697"/>
            <a:ext cx="5226651" cy="4114800"/>
          </a:xfrm>
          <a:custGeom>
            <a:avLst/>
            <a:gdLst/>
            <a:ahLst/>
            <a:cxnLst/>
            <a:rect r="r" b="b" t="t" l="l"/>
            <a:pathLst>
              <a:path h="4114800" w="5226651">
                <a:moveTo>
                  <a:pt x="5226652" y="4114800"/>
                </a:moveTo>
                <a:lnTo>
                  <a:pt x="0" y="4114800"/>
                </a:lnTo>
                <a:lnTo>
                  <a:pt x="0" y="0"/>
                </a:lnTo>
                <a:lnTo>
                  <a:pt x="5226652" y="0"/>
                </a:lnTo>
                <a:lnTo>
                  <a:pt x="5226652" y="411480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0">
            <a:off x="15729343" y="-740607"/>
            <a:ext cx="3059915" cy="4114800"/>
          </a:xfrm>
          <a:custGeom>
            <a:avLst/>
            <a:gdLst/>
            <a:ahLst/>
            <a:cxnLst/>
            <a:rect r="r" b="b" t="t" l="l"/>
            <a:pathLst>
              <a:path h="4114800" w="3059915">
                <a:moveTo>
                  <a:pt x="0" y="0"/>
                </a:moveTo>
                <a:lnTo>
                  <a:pt x="3059914" y="0"/>
                </a:lnTo>
                <a:lnTo>
                  <a:pt x="3059914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6" id="6"/>
          <p:cNvSpPr txBox="true"/>
          <p:nvPr/>
        </p:nvSpPr>
        <p:spPr>
          <a:xfrm rot="0">
            <a:off x="2497525" y="200115"/>
            <a:ext cx="13231817" cy="77134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6309"/>
              </a:lnSpc>
            </a:pPr>
            <a:r>
              <a:rPr lang="en-US" b="true" sz="4507">
                <a:solidFill>
                  <a:srgbClr val="050E9B"/>
                </a:solidFill>
                <a:latin typeface="Merriweather Sans Bold"/>
                <a:ea typeface="Merriweather Sans Bold"/>
                <a:cs typeface="Merriweather Sans Bold"/>
                <a:sym typeface="Merriweather Sans Bold"/>
              </a:rPr>
              <a:t>RECOMMENDATIONS &amp; INSIGHTS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495047" y="1650355"/>
            <a:ext cx="16764253" cy="830876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3511"/>
              </a:lnSpc>
            </a:pPr>
            <a:r>
              <a:rPr lang="en-US" sz="2508" b="true">
                <a:solidFill>
                  <a:srgbClr val="050E9B"/>
                </a:solidFill>
                <a:latin typeface="Monda Bold"/>
                <a:ea typeface="Monda Bold"/>
                <a:cs typeface="Monda Bold"/>
                <a:sym typeface="Monda Bold"/>
              </a:rPr>
              <a:t>Objective:</a:t>
            </a:r>
          </a:p>
          <a:p>
            <a:pPr algn="just">
              <a:lnSpc>
                <a:spcPts val="3511"/>
              </a:lnSpc>
            </a:pPr>
            <a:r>
              <a:rPr lang="en-US" sz="2508">
                <a:solidFill>
                  <a:srgbClr val="050E9B"/>
                </a:solidFill>
                <a:latin typeface="Monda"/>
                <a:ea typeface="Monda"/>
                <a:cs typeface="Monda"/>
                <a:sym typeface="Monda"/>
              </a:rPr>
              <a:t> Suggest actions to improve customer engagement, retention, and revenue based on insights.</a:t>
            </a:r>
          </a:p>
          <a:p>
            <a:pPr algn="just">
              <a:lnSpc>
                <a:spcPts val="3511"/>
              </a:lnSpc>
            </a:pPr>
            <a:r>
              <a:rPr lang="en-US" sz="2508" b="true">
                <a:solidFill>
                  <a:srgbClr val="050E9B"/>
                </a:solidFill>
                <a:latin typeface="Monda Bold"/>
                <a:ea typeface="Monda Bold"/>
                <a:cs typeface="Monda Bold"/>
                <a:sym typeface="Monda Bold"/>
              </a:rPr>
              <a:t>Key Recommendations:</a:t>
            </a:r>
          </a:p>
          <a:p>
            <a:pPr algn="just" marL="541518" indent="-270759" lvl="1">
              <a:lnSpc>
                <a:spcPts val="3511"/>
              </a:lnSpc>
              <a:buFont typeface="Arial"/>
              <a:buChar char="•"/>
            </a:pPr>
            <a:r>
              <a:rPr lang="en-US" sz="2508">
                <a:solidFill>
                  <a:srgbClr val="050E9B"/>
                </a:solidFill>
                <a:latin typeface="Monda"/>
                <a:ea typeface="Monda"/>
                <a:cs typeface="Monda"/>
                <a:sym typeface="Monda"/>
              </a:rPr>
              <a:t>Focus on loyal customers:</a:t>
            </a:r>
          </a:p>
          <a:p>
            <a:pPr algn="just" marL="541518" indent="-270759" lvl="1">
              <a:lnSpc>
                <a:spcPts val="3511"/>
              </a:lnSpc>
              <a:buFont typeface="Arial"/>
              <a:buChar char="•"/>
            </a:pPr>
            <a:r>
              <a:rPr lang="en-US" sz="2508">
                <a:solidFill>
                  <a:srgbClr val="050E9B"/>
                </a:solidFill>
                <a:latin typeface="Monda"/>
                <a:ea typeface="Monda"/>
                <a:cs typeface="Monda"/>
                <a:sym typeface="Monda"/>
              </a:rPr>
              <a:t> Continue engagement programs for repeat buyers through loyalty rewards or exclusive discounts.</a:t>
            </a:r>
          </a:p>
          <a:p>
            <a:pPr algn="just" marL="541518" indent="-270759" lvl="1">
              <a:lnSpc>
                <a:spcPts val="3511"/>
              </a:lnSpc>
              <a:buFont typeface="Arial"/>
              <a:buChar char="•"/>
            </a:pPr>
            <a:r>
              <a:rPr lang="en-US" sz="2508">
                <a:solidFill>
                  <a:srgbClr val="050E9B"/>
                </a:solidFill>
                <a:latin typeface="Monda"/>
                <a:ea typeface="Monda"/>
                <a:cs typeface="Monda"/>
                <a:sym typeface="Monda"/>
              </a:rPr>
              <a:t>Increase average revenue:</a:t>
            </a:r>
          </a:p>
          <a:p>
            <a:pPr algn="just" marL="541518" indent="-270759" lvl="1">
              <a:lnSpc>
                <a:spcPts val="3511"/>
              </a:lnSpc>
              <a:buFont typeface="Arial"/>
              <a:buChar char="•"/>
            </a:pPr>
            <a:r>
              <a:rPr lang="en-US" sz="2508">
                <a:solidFill>
                  <a:srgbClr val="050E9B"/>
                </a:solidFill>
                <a:latin typeface="Monda"/>
                <a:ea typeface="Monda"/>
                <a:cs typeface="Monda"/>
                <a:sym typeface="Monda"/>
              </a:rPr>
              <a:t> Introduce product bundles and personalized suggestions to encourage customers to buy more in each order.</a:t>
            </a:r>
          </a:p>
          <a:p>
            <a:pPr algn="just" marL="541518" indent="-270759" lvl="1">
              <a:lnSpc>
                <a:spcPts val="3511"/>
              </a:lnSpc>
              <a:buFont typeface="Arial"/>
              <a:buChar char="•"/>
            </a:pPr>
            <a:r>
              <a:rPr lang="en-US" sz="2508">
                <a:solidFill>
                  <a:srgbClr val="050E9B"/>
                </a:solidFill>
                <a:latin typeface="Monda"/>
                <a:ea typeface="Monda"/>
                <a:cs typeface="Monda"/>
                <a:sym typeface="Monda"/>
              </a:rPr>
              <a:t>Target young audience (18–25 yrs):</a:t>
            </a:r>
          </a:p>
          <a:p>
            <a:pPr algn="just" marL="541518" indent="-270759" lvl="1">
              <a:lnSpc>
                <a:spcPts val="3511"/>
              </a:lnSpc>
              <a:buFont typeface="Arial"/>
              <a:buChar char="•"/>
            </a:pPr>
            <a:r>
              <a:rPr lang="en-US" sz="2508">
                <a:solidFill>
                  <a:srgbClr val="050E9B"/>
                </a:solidFill>
                <a:latin typeface="Monda"/>
                <a:ea typeface="Monda"/>
                <a:cs typeface="Monda"/>
                <a:sym typeface="Monda"/>
              </a:rPr>
              <a:t> Run trend-based promotions and social media campaigns since this group has the highest customer count.</a:t>
            </a:r>
          </a:p>
          <a:p>
            <a:pPr algn="just" marL="541518" indent="-270759" lvl="1">
              <a:lnSpc>
                <a:spcPts val="3511"/>
              </a:lnSpc>
              <a:buFont typeface="Arial"/>
              <a:buChar char="•"/>
            </a:pPr>
            <a:r>
              <a:rPr lang="en-US" sz="2508">
                <a:solidFill>
                  <a:srgbClr val="050E9B"/>
                </a:solidFill>
                <a:latin typeface="Monda"/>
                <a:ea typeface="Monda"/>
                <a:cs typeface="Monda"/>
                <a:sym typeface="Monda"/>
              </a:rPr>
              <a:t>Reach high-income customers:</a:t>
            </a:r>
          </a:p>
          <a:p>
            <a:pPr algn="just" marL="541518" indent="-270759" lvl="1">
              <a:lnSpc>
                <a:spcPts val="3511"/>
              </a:lnSpc>
              <a:buFont typeface="Arial"/>
              <a:buChar char="•"/>
            </a:pPr>
            <a:r>
              <a:rPr lang="en-US" sz="2508">
                <a:solidFill>
                  <a:srgbClr val="050E9B"/>
                </a:solidFill>
                <a:latin typeface="Monda"/>
                <a:ea typeface="Monda"/>
                <a:cs typeface="Monda"/>
                <a:sym typeface="Monda"/>
              </a:rPr>
              <a:t> Promote premium or limited-edition products to attract higher-value purchases.</a:t>
            </a:r>
          </a:p>
          <a:p>
            <a:pPr algn="just" marL="541518" indent="-270759" lvl="1">
              <a:lnSpc>
                <a:spcPts val="3511"/>
              </a:lnSpc>
              <a:buFont typeface="Arial"/>
              <a:buChar char="•"/>
            </a:pPr>
            <a:r>
              <a:rPr lang="en-US" sz="2508">
                <a:solidFill>
                  <a:srgbClr val="050E9B"/>
                </a:solidFill>
                <a:latin typeface="Monda"/>
                <a:ea typeface="Monda"/>
                <a:cs typeface="Monda"/>
                <a:sym typeface="Monda"/>
              </a:rPr>
              <a:t>Monitor feedback trends:</a:t>
            </a:r>
          </a:p>
          <a:p>
            <a:pPr algn="just" marL="541518" indent="-270759" lvl="1">
              <a:lnSpc>
                <a:spcPts val="3511"/>
              </a:lnSpc>
              <a:buFont typeface="Arial"/>
              <a:buChar char="•"/>
            </a:pPr>
            <a:r>
              <a:rPr lang="en-US" sz="2508">
                <a:solidFill>
                  <a:srgbClr val="050E9B"/>
                </a:solidFill>
                <a:latin typeface="Monda"/>
                <a:ea typeface="Monda"/>
                <a:cs typeface="Monda"/>
                <a:sym typeface="Monda"/>
              </a:rPr>
              <a:t> Use customer feedback data to regularly update offers and improve shopping experience.</a:t>
            </a:r>
          </a:p>
          <a:p>
            <a:pPr algn="just">
              <a:lnSpc>
                <a:spcPts val="3511"/>
              </a:lnSpc>
            </a:pPr>
            <a:r>
              <a:rPr lang="en-US" sz="2508" b="true">
                <a:solidFill>
                  <a:srgbClr val="050E9B"/>
                </a:solidFill>
                <a:latin typeface="Monda Bold"/>
                <a:ea typeface="Monda Bold"/>
                <a:cs typeface="Monda Bold"/>
                <a:sym typeface="Monda Bold"/>
              </a:rPr>
              <a:t>Expected Outcomes:</a:t>
            </a:r>
          </a:p>
          <a:p>
            <a:pPr algn="just" marL="541518" indent="-270759" lvl="1">
              <a:lnSpc>
                <a:spcPts val="3511"/>
              </a:lnSpc>
              <a:buFont typeface="Arial"/>
              <a:buChar char="•"/>
            </a:pPr>
            <a:r>
              <a:rPr lang="en-US" sz="2508">
                <a:solidFill>
                  <a:srgbClr val="050E9B"/>
                </a:solidFill>
                <a:latin typeface="Monda"/>
                <a:ea typeface="Monda"/>
                <a:cs typeface="Monda"/>
                <a:sym typeface="Monda"/>
              </a:rPr>
              <a:t> Better customer retention</a:t>
            </a:r>
          </a:p>
          <a:p>
            <a:pPr algn="just" marL="541518" indent="-270759" lvl="1">
              <a:lnSpc>
                <a:spcPts val="3511"/>
              </a:lnSpc>
              <a:buFont typeface="Arial"/>
              <a:buChar char="•"/>
            </a:pPr>
            <a:r>
              <a:rPr lang="en-US" sz="2508">
                <a:solidFill>
                  <a:srgbClr val="050E9B"/>
                </a:solidFill>
                <a:latin typeface="Monda"/>
                <a:ea typeface="Monda"/>
                <a:cs typeface="Monda"/>
                <a:sym typeface="Monda"/>
              </a:rPr>
              <a:t> Higher spending per order</a:t>
            </a:r>
          </a:p>
          <a:p>
            <a:pPr algn="just" marL="541518" indent="-270759" lvl="1">
              <a:lnSpc>
                <a:spcPts val="3511"/>
              </a:lnSpc>
              <a:buFont typeface="Arial"/>
              <a:buChar char="•"/>
            </a:pPr>
            <a:r>
              <a:rPr lang="en-US" sz="2508">
                <a:solidFill>
                  <a:srgbClr val="050E9B"/>
                </a:solidFill>
                <a:latin typeface="Monda"/>
                <a:ea typeface="Monda"/>
                <a:cs typeface="Monda"/>
                <a:sym typeface="Monda"/>
              </a:rPr>
              <a:t> alanced growth across all income and age groups</a:t>
            </a:r>
          </a:p>
          <a:p>
            <a:pPr algn="just">
              <a:lnSpc>
                <a:spcPts val="3511"/>
              </a:lnSpc>
            </a:pPr>
          </a:p>
        </p:txBody>
      </p:sp>
    </p:spTree>
  </p:cSld>
  <p:clrMapOvr>
    <a:masterClrMapping/>
  </p:clrMapOvr>
</p:sld>
</file>

<file path=ppt/slides/slide2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2204" t="0" r="-2204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-1584626" y="-740607"/>
            <a:ext cx="4141180" cy="3260238"/>
          </a:xfrm>
          <a:custGeom>
            <a:avLst/>
            <a:gdLst/>
            <a:ahLst/>
            <a:cxnLst/>
            <a:rect r="r" b="b" t="t" l="l"/>
            <a:pathLst>
              <a:path h="3260238" w="4141180">
                <a:moveTo>
                  <a:pt x="0" y="0"/>
                </a:moveTo>
                <a:lnTo>
                  <a:pt x="4141180" y="0"/>
                </a:lnTo>
                <a:lnTo>
                  <a:pt x="4141180" y="3260238"/>
                </a:lnTo>
                <a:lnTo>
                  <a:pt x="0" y="3260238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true" flipV="true" rot="0">
            <a:off x="15729343" y="7895603"/>
            <a:ext cx="4143283" cy="3261894"/>
          </a:xfrm>
          <a:custGeom>
            <a:avLst/>
            <a:gdLst/>
            <a:ahLst/>
            <a:cxnLst/>
            <a:rect r="r" b="b" t="t" l="l"/>
            <a:pathLst>
              <a:path h="3261894" w="4143283">
                <a:moveTo>
                  <a:pt x="4143283" y="3261894"/>
                </a:moveTo>
                <a:lnTo>
                  <a:pt x="0" y="3261894"/>
                </a:lnTo>
                <a:lnTo>
                  <a:pt x="0" y="0"/>
                </a:lnTo>
                <a:lnTo>
                  <a:pt x="4143283" y="0"/>
                </a:lnTo>
                <a:lnTo>
                  <a:pt x="4143283" y="3261894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0">
            <a:off x="15729343" y="-740607"/>
            <a:ext cx="3059915" cy="4114800"/>
          </a:xfrm>
          <a:custGeom>
            <a:avLst/>
            <a:gdLst/>
            <a:ahLst/>
            <a:cxnLst/>
            <a:rect r="r" b="b" t="t" l="l"/>
            <a:pathLst>
              <a:path h="4114800" w="3059915">
                <a:moveTo>
                  <a:pt x="0" y="0"/>
                </a:moveTo>
                <a:lnTo>
                  <a:pt x="3059914" y="0"/>
                </a:lnTo>
                <a:lnTo>
                  <a:pt x="3059914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6" id="6"/>
          <p:cNvSpPr txBox="true"/>
          <p:nvPr/>
        </p:nvSpPr>
        <p:spPr>
          <a:xfrm rot="0">
            <a:off x="3385229" y="23495"/>
            <a:ext cx="11517542" cy="77152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6300"/>
              </a:lnSpc>
            </a:pPr>
            <a:r>
              <a:rPr lang="en-US" b="true" sz="4500">
                <a:solidFill>
                  <a:srgbClr val="050E9B"/>
                </a:solidFill>
                <a:latin typeface="Merriweather Sans Bold"/>
                <a:ea typeface="Merriweather Sans Bold"/>
                <a:cs typeface="Merriweather Sans Bold"/>
                <a:sym typeface="Merriweather Sans Bold"/>
              </a:rPr>
              <a:t>DASHBOARD-3: OVERVIEW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485964" y="1259643"/>
            <a:ext cx="16454953" cy="856043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3814"/>
              </a:lnSpc>
            </a:pPr>
            <a:r>
              <a:rPr lang="en-US" sz="2724" b="true">
                <a:solidFill>
                  <a:srgbClr val="050E9B"/>
                </a:solidFill>
                <a:latin typeface="Monda Bold"/>
                <a:ea typeface="Monda Bold"/>
                <a:cs typeface="Monda Bold"/>
                <a:sym typeface="Monda Bold"/>
              </a:rPr>
              <a:t>Dashboard Title:</a:t>
            </a:r>
            <a:r>
              <a:rPr lang="en-US" sz="2724">
                <a:solidFill>
                  <a:srgbClr val="050E9B"/>
                </a:solidFill>
                <a:latin typeface="Monda"/>
                <a:ea typeface="Monda"/>
                <a:cs typeface="Monda"/>
                <a:sym typeface="Monda"/>
              </a:rPr>
              <a:t> Product Performance &amp; Preferences</a:t>
            </a:r>
          </a:p>
          <a:p>
            <a:pPr algn="just">
              <a:lnSpc>
                <a:spcPts val="3814"/>
              </a:lnSpc>
            </a:pPr>
            <a:r>
              <a:rPr lang="en-US" sz="2724" b="true">
                <a:solidFill>
                  <a:srgbClr val="050E9B"/>
                </a:solidFill>
                <a:latin typeface="Monda Bold"/>
                <a:ea typeface="Monda Bold"/>
                <a:cs typeface="Monda Bold"/>
                <a:sym typeface="Monda Bold"/>
              </a:rPr>
              <a:t>Purpose:</a:t>
            </a:r>
          </a:p>
          <a:p>
            <a:pPr algn="just">
              <a:lnSpc>
                <a:spcPts val="3814"/>
              </a:lnSpc>
            </a:pPr>
            <a:r>
              <a:rPr lang="en-US" sz="2724">
                <a:solidFill>
                  <a:srgbClr val="050E9B"/>
                </a:solidFill>
                <a:latin typeface="Monda"/>
                <a:ea typeface="Monda"/>
                <a:cs typeface="Monda"/>
                <a:sym typeface="Monda"/>
              </a:rPr>
              <a:t> To analyze product category performance, brand strength, customer preferences, and seasonal trends to identify the most profitable and consistent product segments.</a:t>
            </a:r>
          </a:p>
          <a:p>
            <a:pPr algn="just">
              <a:lnSpc>
                <a:spcPts val="3814"/>
              </a:lnSpc>
            </a:pPr>
            <a:r>
              <a:rPr lang="en-US" sz="2724" b="true">
                <a:solidFill>
                  <a:srgbClr val="050E9B"/>
                </a:solidFill>
                <a:latin typeface="Monda Bold"/>
                <a:ea typeface="Monda Bold"/>
                <a:cs typeface="Monda Bold"/>
                <a:sym typeface="Monda Bold"/>
              </a:rPr>
              <a:t>Dashboard Components:</a:t>
            </a:r>
          </a:p>
          <a:p>
            <a:pPr algn="just" marL="588299" indent="-294150" lvl="1">
              <a:lnSpc>
                <a:spcPts val="3814"/>
              </a:lnSpc>
              <a:buFont typeface="Arial"/>
              <a:buChar char="•"/>
            </a:pPr>
            <a:r>
              <a:rPr lang="en-US" sz="2724">
                <a:solidFill>
                  <a:srgbClr val="050E9B"/>
                </a:solidFill>
                <a:latin typeface="Monda"/>
                <a:ea typeface="Monda"/>
                <a:cs typeface="Monda"/>
                <a:sym typeface="Monda"/>
              </a:rPr>
              <a:t>KPI Cards: Total Products Sold, Avg Rating, Total Revenue, Total Brands</a:t>
            </a:r>
          </a:p>
          <a:p>
            <a:pPr algn="just" marL="588299" indent="-294150" lvl="1">
              <a:lnSpc>
                <a:spcPts val="3814"/>
              </a:lnSpc>
              <a:buFont typeface="Arial"/>
              <a:buChar char="•"/>
            </a:pPr>
            <a:r>
              <a:rPr lang="en-US" sz="2724">
                <a:solidFill>
                  <a:srgbClr val="050E9B"/>
                </a:solidFill>
                <a:latin typeface="Monda"/>
                <a:ea typeface="Monda"/>
                <a:cs typeface="Monda"/>
                <a:sym typeface="Monda"/>
              </a:rPr>
              <a:t>Bar Charts: Revenue by Product Category, Top 10 Brands by Revenue</a:t>
            </a:r>
          </a:p>
          <a:p>
            <a:pPr algn="just" marL="588299" indent="-294150" lvl="1">
              <a:lnSpc>
                <a:spcPts val="3814"/>
              </a:lnSpc>
              <a:buFont typeface="Arial"/>
              <a:buChar char="•"/>
            </a:pPr>
            <a:r>
              <a:rPr lang="en-US" sz="2724">
                <a:solidFill>
                  <a:srgbClr val="050E9B"/>
                </a:solidFill>
                <a:latin typeface="Monda"/>
                <a:ea typeface="Monda"/>
                <a:cs typeface="Monda"/>
                <a:sym typeface="Monda"/>
              </a:rPr>
              <a:t>Donut Chart: Revenue Share by Product Type</a:t>
            </a:r>
          </a:p>
          <a:p>
            <a:pPr algn="just" marL="588299" indent="-294150" lvl="1">
              <a:lnSpc>
                <a:spcPts val="3814"/>
              </a:lnSpc>
              <a:buFont typeface="Arial"/>
              <a:buChar char="•"/>
            </a:pPr>
            <a:r>
              <a:rPr lang="en-US" sz="2724">
                <a:solidFill>
                  <a:srgbClr val="050E9B"/>
                </a:solidFill>
                <a:latin typeface="Monda"/>
                <a:ea typeface="Monda"/>
                <a:cs typeface="Monda"/>
                <a:sym typeface="Monda"/>
              </a:rPr>
              <a:t>Scatter Plot: Product Popularity vs Customer Rating</a:t>
            </a:r>
          </a:p>
          <a:p>
            <a:pPr algn="just" marL="588299" indent="-294150" lvl="1">
              <a:lnSpc>
                <a:spcPts val="3814"/>
              </a:lnSpc>
              <a:buFont typeface="Arial"/>
              <a:buChar char="•"/>
            </a:pPr>
            <a:r>
              <a:rPr lang="en-US" sz="2724">
                <a:solidFill>
                  <a:srgbClr val="050E9B"/>
                </a:solidFill>
                <a:latin typeface="Monda"/>
                <a:ea typeface="Monda"/>
                <a:cs typeface="Monda"/>
                <a:sym typeface="Monda"/>
              </a:rPr>
              <a:t>Stacked Bar Chart: Product Category Revenue by Gender</a:t>
            </a:r>
          </a:p>
          <a:p>
            <a:pPr algn="just" marL="588299" indent="-294150" lvl="1">
              <a:lnSpc>
                <a:spcPts val="3814"/>
              </a:lnSpc>
              <a:buFont typeface="Arial"/>
              <a:buChar char="•"/>
            </a:pPr>
            <a:r>
              <a:rPr lang="en-US" sz="2724">
                <a:solidFill>
                  <a:srgbClr val="050E9B"/>
                </a:solidFill>
                <a:latin typeface="Monda"/>
                <a:ea typeface="Monda"/>
                <a:cs typeface="Monda"/>
                <a:sym typeface="Monda"/>
              </a:rPr>
              <a:t>Line Chart (with slicer): Month-wise Revenue Trend</a:t>
            </a:r>
          </a:p>
          <a:p>
            <a:pPr algn="just">
              <a:lnSpc>
                <a:spcPts val="3814"/>
              </a:lnSpc>
            </a:pPr>
            <a:r>
              <a:rPr lang="en-US" sz="2724" b="true">
                <a:solidFill>
                  <a:srgbClr val="050E9B"/>
                </a:solidFill>
                <a:latin typeface="Monda Bold"/>
                <a:ea typeface="Monda Bold"/>
                <a:cs typeface="Monda Bold"/>
                <a:sym typeface="Monda Bold"/>
              </a:rPr>
              <a:t>Analytical Goal:</a:t>
            </a:r>
          </a:p>
          <a:p>
            <a:pPr algn="just">
              <a:lnSpc>
                <a:spcPts val="3814"/>
              </a:lnSpc>
            </a:pPr>
            <a:r>
              <a:rPr lang="en-US" sz="2724">
                <a:solidFill>
                  <a:srgbClr val="050E9B"/>
                </a:solidFill>
                <a:latin typeface="Monda"/>
                <a:ea typeface="Monda"/>
                <a:cs typeface="Monda"/>
                <a:sym typeface="Monda"/>
              </a:rPr>
              <a:t> Enable business to understand which products, brands, and customer segments drive revenue — and how seasonality and customer demographics influence sales patterns.</a:t>
            </a:r>
          </a:p>
          <a:p>
            <a:pPr algn="just">
              <a:lnSpc>
                <a:spcPts val="3814"/>
              </a:lnSpc>
            </a:pPr>
            <a:r>
              <a:rPr lang="en-US" sz="2724" b="true">
                <a:solidFill>
                  <a:srgbClr val="050E9B"/>
                </a:solidFill>
                <a:latin typeface="Monda Bold"/>
                <a:ea typeface="Monda Bold"/>
                <a:cs typeface="Monda Bold"/>
                <a:sym typeface="Monda Bold"/>
              </a:rPr>
              <a:t>Design Approach:</a:t>
            </a:r>
          </a:p>
          <a:p>
            <a:pPr algn="just">
              <a:lnSpc>
                <a:spcPts val="3814"/>
              </a:lnSpc>
            </a:pPr>
            <a:r>
              <a:rPr lang="en-US" sz="2724">
                <a:solidFill>
                  <a:srgbClr val="050E9B"/>
                </a:solidFill>
                <a:latin typeface="Monda"/>
                <a:ea typeface="Monda"/>
                <a:cs typeface="Monda"/>
                <a:sym typeface="Monda"/>
              </a:rPr>
              <a:t> Clean, insight-focused layout integrating category, brand, and behavioral dimensions for comprehensive product analysis.</a:t>
            </a:r>
          </a:p>
          <a:p>
            <a:pPr algn="just">
              <a:lnSpc>
                <a:spcPts val="3814"/>
              </a:lnSpc>
            </a:pPr>
          </a:p>
        </p:txBody>
      </p:sp>
    </p:spTree>
  </p:cSld>
  <p:clrMapOvr>
    <a:masterClrMapping/>
  </p:clrMapOvr>
</p:sld>
</file>

<file path=ppt/slides/slide2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2204" t="0" r="-2204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-1584626" y="-740607"/>
            <a:ext cx="4353725" cy="3427569"/>
          </a:xfrm>
          <a:custGeom>
            <a:avLst/>
            <a:gdLst/>
            <a:ahLst/>
            <a:cxnLst/>
            <a:rect r="r" b="b" t="t" l="l"/>
            <a:pathLst>
              <a:path h="3427569" w="4353725">
                <a:moveTo>
                  <a:pt x="0" y="0"/>
                </a:moveTo>
                <a:lnTo>
                  <a:pt x="4353725" y="0"/>
                </a:lnTo>
                <a:lnTo>
                  <a:pt x="4353725" y="3427569"/>
                </a:lnTo>
                <a:lnTo>
                  <a:pt x="0" y="3427569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true" flipV="true" rot="0">
            <a:off x="14645974" y="7042697"/>
            <a:ext cx="5226651" cy="4114800"/>
          </a:xfrm>
          <a:custGeom>
            <a:avLst/>
            <a:gdLst/>
            <a:ahLst/>
            <a:cxnLst/>
            <a:rect r="r" b="b" t="t" l="l"/>
            <a:pathLst>
              <a:path h="4114800" w="5226651">
                <a:moveTo>
                  <a:pt x="5226652" y="4114800"/>
                </a:moveTo>
                <a:lnTo>
                  <a:pt x="0" y="4114800"/>
                </a:lnTo>
                <a:lnTo>
                  <a:pt x="0" y="0"/>
                </a:lnTo>
                <a:lnTo>
                  <a:pt x="5226652" y="0"/>
                </a:lnTo>
                <a:lnTo>
                  <a:pt x="5226652" y="411480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0">
            <a:off x="15729343" y="-740607"/>
            <a:ext cx="3059915" cy="4114800"/>
          </a:xfrm>
          <a:custGeom>
            <a:avLst/>
            <a:gdLst/>
            <a:ahLst/>
            <a:cxnLst/>
            <a:rect r="r" b="b" t="t" l="l"/>
            <a:pathLst>
              <a:path h="4114800" w="3059915">
                <a:moveTo>
                  <a:pt x="0" y="0"/>
                </a:moveTo>
                <a:lnTo>
                  <a:pt x="3059914" y="0"/>
                </a:lnTo>
                <a:lnTo>
                  <a:pt x="3059914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6" id="6"/>
          <p:cNvGrpSpPr/>
          <p:nvPr/>
        </p:nvGrpSpPr>
        <p:grpSpPr>
          <a:xfrm rot="0">
            <a:off x="1523095" y="1316793"/>
            <a:ext cx="14810441" cy="8238421"/>
            <a:chOff x="0" y="0"/>
            <a:chExt cx="2294525" cy="1276347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2294525" cy="1276347"/>
            </a:xfrm>
            <a:custGeom>
              <a:avLst/>
              <a:gdLst/>
              <a:ahLst/>
              <a:cxnLst/>
              <a:rect r="r" b="b" t="t" l="l"/>
              <a:pathLst>
                <a:path h="1276347" w="2294525">
                  <a:moveTo>
                    <a:pt x="12023" y="0"/>
                  </a:moveTo>
                  <a:lnTo>
                    <a:pt x="2282502" y="0"/>
                  </a:lnTo>
                  <a:cubicBezTo>
                    <a:pt x="2285691" y="0"/>
                    <a:pt x="2288749" y="1267"/>
                    <a:pt x="2291003" y="3521"/>
                  </a:cubicBezTo>
                  <a:cubicBezTo>
                    <a:pt x="2293258" y="5776"/>
                    <a:pt x="2294525" y="8834"/>
                    <a:pt x="2294525" y="12023"/>
                  </a:cubicBezTo>
                  <a:lnTo>
                    <a:pt x="2294525" y="1264324"/>
                  </a:lnTo>
                  <a:cubicBezTo>
                    <a:pt x="2294525" y="1267513"/>
                    <a:pt x="2293258" y="1270571"/>
                    <a:pt x="2291003" y="1272826"/>
                  </a:cubicBezTo>
                  <a:cubicBezTo>
                    <a:pt x="2288749" y="1275080"/>
                    <a:pt x="2285691" y="1276347"/>
                    <a:pt x="2282502" y="1276347"/>
                  </a:cubicBezTo>
                  <a:lnTo>
                    <a:pt x="12023" y="1276347"/>
                  </a:lnTo>
                  <a:cubicBezTo>
                    <a:pt x="8834" y="1276347"/>
                    <a:pt x="5776" y="1275080"/>
                    <a:pt x="3521" y="1272826"/>
                  </a:cubicBezTo>
                  <a:cubicBezTo>
                    <a:pt x="1267" y="1270571"/>
                    <a:pt x="0" y="1267513"/>
                    <a:pt x="0" y="1264324"/>
                  </a:cubicBezTo>
                  <a:lnTo>
                    <a:pt x="0" y="12023"/>
                  </a:lnTo>
                  <a:cubicBezTo>
                    <a:pt x="0" y="8834"/>
                    <a:pt x="1267" y="5776"/>
                    <a:pt x="3521" y="3521"/>
                  </a:cubicBezTo>
                  <a:cubicBezTo>
                    <a:pt x="5776" y="1267"/>
                    <a:pt x="8834" y="0"/>
                    <a:pt x="12023" y="0"/>
                  </a:cubicBezTo>
                  <a:close/>
                </a:path>
              </a:pathLst>
            </a:custGeom>
            <a:blipFill>
              <a:blip r:embed="rId7"/>
              <a:stretch>
                <a:fillRect l="0" t="-561" r="0" b="-561"/>
              </a:stretch>
            </a:blipFill>
          </p:spPr>
        </p:sp>
      </p:grpSp>
      <p:sp>
        <p:nvSpPr>
          <p:cNvPr name="TextBox 8" id="8"/>
          <p:cNvSpPr txBox="true"/>
          <p:nvPr/>
        </p:nvSpPr>
        <p:spPr>
          <a:xfrm rot="0">
            <a:off x="3385229" y="23495"/>
            <a:ext cx="11517542" cy="77152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6300"/>
              </a:lnSpc>
            </a:pPr>
            <a:r>
              <a:rPr lang="en-US" b="true" sz="4500">
                <a:solidFill>
                  <a:srgbClr val="050E9B"/>
                </a:solidFill>
                <a:latin typeface="Merriweather Sans Bold"/>
                <a:ea typeface="Merriweather Sans Bold"/>
                <a:cs typeface="Merriweather Sans Bold"/>
                <a:sym typeface="Merriweather Sans Bold"/>
              </a:rPr>
              <a:t>DASHBOARD-3: OVERVIEW</a:t>
            </a:r>
          </a:p>
        </p:txBody>
      </p:sp>
    </p:spTree>
  </p:cSld>
  <p:clrMapOvr>
    <a:masterClrMapping/>
  </p:clrMapOvr>
</p:sld>
</file>

<file path=ppt/slides/slide2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2204" t="0" r="-2204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-1584626" y="-740607"/>
            <a:ext cx="4843718" cy="3813327"/>
          </a:xfrm>
          <a:custGeom>
            <a:avLst/>
            <a:gdLst/>
            <a:ahLst/>
            <a:cxnLst/>
            <a:rect r="r" b="b" t="t" l="l"/>
            <a:pathLst>
              <a:path h="3813327" w="4843718">
                <a:moveTo>
                  <a:pt x="0" y="0"/>
                </a:moveTo>
                <a:lnTo>
                  <a:pt x="4843718" y="0"/>
                </a:lnTo>
                <a:lnTo>
                  <a:pt x="4843718" y="3813327"/>
                </a:lnTo>
                <a:lnTo>
                  <a:pt x="0" y="3813327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true" flipV="true" rot="0">
            <a:off x="14645974" y="7042697"/>
            <a:ext cx="5226651" cy="4114800"/>
          </a:xfrm>
          <a:custGeom>
            <a:avLst/>
            <a:gdLst/>
            <a:ahLst/>
            <a:cxnLst/>
            <a:rect r="r" b="b" t="t" l="l"/>
            <a:pathLst>
              <a:path h="4114800" w="5226651">
                <a:moveTo>
                  <a:pt x="5226652" y="4114800"/>
                </a:moveTo>
                <a:lnTo>
                  <a:pt x="0" y="4114800"/>
                </a:lnTo>
                <a:lnTo>
                  <a:pt x="0" y="0"/>
                </a:lnTo>
                <a:lnTo>
                  <a:pt x="5226652" y="0"/>
                </a:lnTo>
                <a:lnTo>
                  <a:pt x="5226652" y="411480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0">
            <a:off x="15729343" y="-740607"/>
            <a:ext cx="3059915" cy="4114800"/>
          </a:xfrm>
          <a:custGeom>
            <a:avLst/>
            <a:gdLst/>
            <a:ahLst/>
            <a:cxnLst/>
            <a:rect r="r" b="b" t="t" l="l"/>
            <a:pathLst>
              <a:path h="4114800" w="3059915">
                <a:moveTo>
                  <a:pt x="0" y="0"/>
                </a:moveTo>
                <a:lnTo>
                  <a:pt x="3059914" y="0"/>
                </a:lnTo>
                <a:lnTo>
                  <a:pt x="3059914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  <p:graphicFrame>
        <p:nvGraphicFramePr>
          <p:cNvPr name="Object 6" id="6"/>
          <p:cNvGraphicFramePr/>
          <p:nvPr/>
        </p:nvGraphicFramePr>
        <p:xfrm>
          <a:off x="1735785" y="3659943"/>
          <a:ext cx="5657850" cy="5029200"/>
        </p:xfrm>
        <a:graphic>
          <a:graphicData uri="http://schemas.openxmlformats.org/presentationml/2006/ole">
            <p:oleObj imgW="6781800" imgH="6159500" r:id="rId8" progId="Excel.Sheet.12" name="Worksheet">
              <p:embed/>
              <p:pic>
                <p:nvPicPr>
                  <p:cNvPr name="" id="0"/>
                  <p:cNvPicPr/>
                  <p:nvPr/>
                </p:nvPicPr>
                <p:blipFill>
                  <a:blip r:embed="rId7"/>
                  <a:stretch>
                    <a:fillRect/>
                  </a:stretch>
                </p:blipFill>
                <p:spPr>
                  <a:xfrm>
                    <a:off x="1270000" y="1270000"/>
                    <a:ext cx="1270000" cy="1270000"/>
                  </a:xfrm>
                  <a:prstGeom prst="rect"/>
                </p:spPr>
              </p:pic>
            </p:oleObj>
          </a:graphicData>
        </a:graphic>
      </p:graphicFrame>
      <p:sp>
        <p:nvSpPr>
          <p:cNvPr name="TextBox 7" id="7"/>
          <p:cNvSpPr txBox="true"/>
          <p:nvPr/>
        </p:nvSpPr>
        <p:spPr>
          <a:xfrm rot="0">
            <a:off x="1401748" y="365941"/>
            <a:ext cx="15078143" cy="66275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469"/>
              </a:lnSpc>
            </a:pPr>
            <a:r>
              <a:rPr lang="en-US" b="true" sz="3907">
                <a:solidFill>
                  <a:srgbClr val="050E9B"/>
                </a:solidFill>
                <a:latin typeface="Merriweather Sans Bold"/>
                <a:ea typeface="Merriweather Sans Bold"/>
                <a:cs typeface="Merriweather Sans Bold"/>
                <a:sym typeface="Merriweather Sans Bold"/>
              </a:rPr>
              <a:t>KEY KPIS (PRODUCT PERFORMANCE &amp; PREFERENCES)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1735785" y="1259643"/>
            <a:ext cx="13993558" cy="189318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3801"/>
              </a:lnSpc>
            </a:pPr>
            <a:r>
              <a:rPr lang="en-US" sz="2715" b="true">
                <a:solidFill>
                  <a:srgbClr val="050E9B"/>
                </a:solidFill>
                <a:latin typeface="Monda Bold"/>
                <a:ea typeface="Monda Bold"/>
                <a:cs typeface="Monda Bold"/>
                <a:sym typeface="Monda Bold"/>
              </a:rPr>
              <a:t>Objective:</a:t>
            </a:r>
          </a:p>
          <a:p>
            <a:pPr algn="just">
              <a:lnSpc>
                <a:spcPts val="3801"/>
              </a:lnSpc>
            </a:pPr>
            <a:r>
              <a:rPr lang="en-US" sz="2715">
                <a:solidFill>
                  <a:srgbClr val="050E9B"/>
                </a:solidFill>
                <a:latin typeface="Monda"/>
                <a:ea typeface="Monda"/>
                <a:cs typeface="Monda"/>
                <a:sym typeface="Monda"/>
              </a:rPr>
              <a:t>Electronics is the dominant category (highest revenue and units). A small set of brands (Pepsi, Samsung, Zara, etc.) contributes a large share of revenue while average ratings (~3.17) show room to improve product experience and retention.</a:t>
            </a:r>
          </a:p>
        </p:txBody>
      </p:sp>
    </p:spTree>
  </p:cSld>
  <p:clrMapOvr>
    <a:masterClrMapping/>
  </p:clrMapOvr>
</p:sld>
</file>

<file path=ppt/slides/slide2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2204" t="0" r="-2204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-1584626" y="-740607"/>
            <a:ext cx="4843718" cy="3813327"/>
          </a:xfrm>
          <a:custGeom>
            <a:avLst/>
            <a:gdLst/>
            <a:ahLst/>
            <a:cxnLst/>
            <a:rect r="r" b="b" t="t" l="l"/>
            <a:pathLst>
              <a:path h="3813327" w="4843718">
                <a:moveTo>
                  <a:pt x="0" y="0"/>
                </a:moveTo>
                <a:lnTo>
                  <a:pt x="4843718" y="0"/>
                </a:lnTo>
                <a:lnTo>
                  <a:pt x="4843718" y="3813327"/>
                </a:lnTo>
                <a:lnTo>
                  <a:pt x="0" y="3813327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true" flipV="true" rot="0">
            <a:off x="14645974" y="7042697"/>
            <a:ext cx="5226651" cy="4114800"/>
          </a:xfrm>
          <a:custGeom>
            <a:avLst/>
            <a:gdLst/>
            <a:ahLst/>
            <a:cxnLst/>
            <a:rect r="r" b="b" t="t" l="l"/>
            <a:pathLst>
              <a:path h="4114800" w="5226651">
                <a:moveTo>
                  <a:pt x="5226652" y="4114800"/>
                </a:moveTo>
                <a:lnTo>
                  <a:pt x="0" y="4114800"/>
                </a:lnTo>
                <a:lnTo>
                  <a:pt x="0" y="0"/>
                </a:lnTo>
                <a:lnTo>
                  <a:pt x="5226652" y="0"/>
                </a:lnTo>
                <a:lnTo>
                  <a:pt x="5226652" y="411480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0">
            <a:off x="15729343" y="-740607"/>
            <a:ext cx="3059915" cy="4114800"/>
          </a:xfrm>
          <a:custGeom>
            <a:avLst/>
            <a:gdLst/>
            <a:ahLst/>
            <a:cxnLst/>
            <a:rect r="r" b="b" t="t" l="l"/>
            <a:pathLst>
              <a:path h="4114800" w="3059915">
                <a:moveTo>
                  <a:pt x="0" y="0"/>
                </a:moveTo>
                <a:lnTo>
                  <a:pt x="3059914" y="0"/>
                </a:lnTo>
                <a:lnTo>
                  <a:pt x="3059914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6" id="6"/>
          <p:cNvSpPr txBox="true"/>
          <p:nvPr/>
        </p:nvSpPr>
        <p:spPr>
          <a:xfrm rot="0">
            <a:off x="1401748" y="316321"/>
            <a:ext cx="15078143" cy="134855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469"/>
              </a:lnSpc>
            </a:pPr>
            <a:r>
              <a:rPr lang="en-US" b="true" sz="3907">
                <a:solidFill>
                  <a:srgbClr val="050E9B"/>
                </a:solidFill>
                <a:latin typeface="Merriweather Sans Bold"/>
                <a:ea typeface="Merriweather Sans Bold"/>
                <a:cs typeface="Merriweather Sans Bold"/>
                <a:sym typeface="Merriweather Sans Bold"/>
              </a:rPr>
              <a:t>ROOT CAUSE ANALYSIS (DASHBOARD 3: PRODUCT PERFORMANCE &amp; PREFERENCES)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1028700" y="1837793"/>
            <a:ext cx="15078143" cy="808443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3801"/>
              </a:lnSpc>
            </a:pPr>
            <a:r>
              <a:rPr lang="en-US" sz="2715">
                <a:solidFill>
                  <a:srgbClr val="050E9B"/>
                </a:solidFill>
                <a:latin typeface="Monda"/>
                <a:ea typeface="Monda"/>
                <a:cs typeface="Monda"/>
                <a:sym typeface="Monda"/>
              </a:rPr>
              <a:t>RCA 1 – Total Revenue by Product Category</a:t>
            </a:r>
          </a:p>
          <a:p>
            <a:pPr algn="just" marL="586175" indent="-293087" lvl="1">
              <a:lnSpc>
                <a:spcPts val="3801"/>
              </a:lnSpc>
              <a:buFont typeface="Arial"/>
              <a:buChar char="•"/>
            </a:pPr>
            <a:r>
              <a:rPr lang="en-US" sz="2715">
                <a:solidFill>
                  <a:srgbClr val="050E9B"/>
                </a:solidFill>
                <a:latin typeface="Monda"/>
                <a:ea typeface="Monda"/>
                <a:cs typeface="Monda"/>
                <a:sym typeface="Monda"/>
              </a:rPr>
              <a:t>Electronics (₹57M) and Grocery (₹54M) are top categories.</a:t>
            </a:r>
          </a:p>
          <a:p>
            <a:pPr algn="just" marL="586175" indent="-293087" lvl="1">
              <a:lnSpc>
                <a:spcPts val="3801"/>
              </a:lnSpc>
              <a:buFont typeface="Arial"/>
              <a:buChar char="•"/>
            </a:pPr>
            <a:r>
              <a:rPr lang="en-US" sz="2715">
                <a:solidFill>
                  <a:srgbClr val="050E9B"/>
                </a:solidFill>
                <a:latin typeface="Monda"/>
                <a:ea typeface="Monda"/>
                <a:cs typeface="Monda"/>
                <a:sym typeface="Monda"/>
              </a:rPr>
              <a:t>Driven by essential goods &amp; tech demand.</a:t>
            </a:r>
          </a:p>
          <a:p>
            <a:pPr algn="just" marL="586175" indent="-293087" lvl="1">
              <a:lnSpc>
                <a:spcPts val="3801"/>
              </a:lnSpc>
              <a:buFont typeface="Arial"/>
              <a:buChar char="•"/>
            </a:pPr>
            <a:r>
              <a:rPr lang="en-US" sz="2715">
                <a:solidFill>
                  <a:srgbClr val="050E9B"/>
                </a:solidFill>
                <a:latin typeface="Monda"/>
                <a:ea typeface="Monda"/>
                <a:cs typeface="Monda"/>
                <a:sym typeface="Monda"/>
              </a:rPr>
              <a:t>Indicates strong product appeal and customer trust.</a:t>
            </a:r>
          </a:p>
          <a:p>
            <a:pPr algn="just">
              <a:lnSpc>
                <a:spcPts val="3801"/>
              </a:lnSpc>
            </a:pPr>
            <a:r>
              <a:rPr lang="en-US" sz="2715">
                <a:solidFill>
                  <a:srgbClr val="050E9B"/>
                </a:solidFill>
                <a:latin typeface="Monda"/>
                <a:ea typeface="Monda"/>
                <a:cs typeface="Monda"/>
                <a:sym typeface="Monda"/>
              </a:rPr>
              <a:t>RCA 2 – Top 10 Brands by Revenue</a:t>
            </a:r>
          </a:p>
          <a:p>
            <a:pPr algn="just" marL="586175" indent="-293087" lvl="1">
              <a:lnSpc>
                <a:spcPts val="3801"/>
              </a:lnSpc>
              <a:buFont typeface="Arial"/>
              <a:buChar char="•"/>
            </a:pPr>
            <a:r>
              <a:rPr lang="en-US" sz="2715">
                <a:solidFill>
                  <a:srgbClr val="050E9B"/>
                </a:solidFill>
                <a:latin typeface="Monda"/>
                <a:ea typeface="Monda"/>
                <a:cs typeface="Monda"/>
                <a:sym typeface="Monda"/>
              </a:rPr>
              <a:t>Pepsi (₹25M) leads, followed by Zara, Samsung, Adidas, Sony (~₹15M each).</a:t>
            </a:r>
          </a:p>
          <a:p>
            <a:pPr algn="just" marL="586175" indent="-293087" lvl="1">
              <a:lnSpc>
                <a:spcPts val="3801"/>
              </a:lnSpc>
              <a:buFont typeface="Arial"/>
              <a:buChar char="•"/>
            </a:pPr>
            <a:r>
              <a:rPr lang="en-US" sz="2715">
                <a:solidFill>
                  <a:srgbClr val="050E9B"/>
                </a:solidFill>
                <a:latin typeface="Monda"/>
                <a:ea typeface="Monda"/>
                <a:cs typeface="Monda"/>
                <a:sym typeface="Monda"/>
              </a:rPr>
              <a:t>Brand loyalty and wide distribution drive sales.</a:t>
            </a:r>
          </a:p>
          <a:p>
            <a:pPr algn="just" marL="586175" indent="-293087" lvl="1">
              <a:lnSpc>
                <a:spcPts val="3801"/>
              </a:lnSpc>
              <a:buFont typeface="Arial"/>
              <a:buChar char="•"/>
            </a:pPr>
            <a:r>
              <a:rPr lang="en-US" sz="2715">
                <a:solidFill>
                  <a:srgbClr val="050E9B"/>
                </a:solidFill>
                <a:latin typeface="Monda"/>
                <a:ea typeface="Monda"/>
                <a:cs typeface="Monda"/>
                <a:sym typeface="Monda"/>
              </a:rPr>
              <a:t>Revenue concentration among few top brands → diversification needed.</a:t>
            </a:r>
          </a:p>
          <a:p>
            <a:pPr algn="just">
              <a:lnSpc>
                <a:spcPts val="3801"/>
              </a:lnSpc>
            </a:pPr>
            <a:r>
              <a:rPr lang="en-US" sz="2715">
                <a:solidFill>
                  <a:srgbClr val="050E9B"/>
                </a:solidFill>
                <a:latin typeface="Monda"/>
                <a:ea typeface="Monda"/>
                <a:cs typeface="Monda"/>
                <a:sym typeface="Monda"/>
              </a:rPr>
              <a:t>RCA 3 – Product Popularity vs Quality</a:t>
            </a:r>
          </a:p>
          <a:p>
            <a:pPr algn="just" marL="586175" indent="-293087" lvl="1">
              <a:lnSpc>
                <a:spcPts val="3801"/>
              </a:lnSpc>
              <a:buFont typeface="Arial"/>
              <a:buChar char="•"/>
            </a:pPr>
            <a:r>
              <a:rPr lang="en-US" sz="2715">
                <a:solidFill>
                  <a:srgbClr val="050E9B"/>
                </a:solidFill>
                <a:latin typeface="Monda"/>
                <a:ea typeface="Monda"/>
                <a:cs typeface="Monda"/>
                <a:sym typeface="Monda"/>
              </a:rPr>
              <a:t>Electronics, Clothing = High sales but only 3.2–3.3★ ratings.</a:t>
            </a:r>
          </a:p>
          <a:p>
            <a:pPr algn="just" marL="586175" indent="-293087" lvl="1">
              <a:lnSpc>
                <a:spcPts val="3801"/>
              </a:lnSpc>
              <a:buFont typeface="Arial"/>
              <a:buChar char="•"/>
            </a:pPr>
            <a:r>
              <a:rPr lang="en-US" sz="2715">
                <a:solidFill>
                  <a:srgbClr val="050E9B"/>
                </a:solidFill>
                <a:latin typeface="Monda"/>
                <a:ea typeface="Monda"/>
                <a:cs typeface="Monda"/>
                <a:sym typeface="Monda"/>
              </a:rPr>
              <a:t>Customers prioritize necessity and price over ratings.</a:t>
            </a:r>
          </a:p>
          <a:p>
            <a:pPr algn="just" marL="586175" indent="-293087" lvl="1">
              <a:lnSpc>
                <a:spcPts val="3801"/>
              </a:lnSpc>
              <a:buFont typeface="Arial"/>
              <a:buChar char="•"/>
            </a:pPr>
            <a:r>
              <a:rPr lang="en-US" sz="2715">
                <a:solidFill>
                  <a:srgbClr val="050E9B"/>
                </a:solidFill>
                <a:latin typeface="Monda"/>
                <a:ea typeface="Monda"/>
                <a:cs typeface="Monda"/>
                <a:sym typeface="Monda"/>
              </a:rPr>
              <a:t>Suggests scope to improve quality &amp; service post-sales.</a:t>
            </a:r>
          </a:p>
          <a:p>
            <a:pPr algn="just">
              <a:lnSpc>
                <a:spcPts val="3801"/>
              </a:lnSpc>
            </a:pPr>
            <a:r>
              <a:rPr lang="en-US" sz="2715">
                <a:solidFill>
                  <a:srgbClr val="050E9B"/>
                </a:solidFill>
                <a:latin typeface="Monda"/>
                <a:ea typeface="Monda"/>
                <a:cs typeface="Monda"/>
                <a:sym typeface="Monda"/>
              </a:rPr>
              <a:t>RCA 4 – Product Category Revenue by Gender</a:t>
            </a:r>
          </a:p>
          <a:p>
            <a:pPr algn="just" marL="586175" indent="-293087" lvl="1">
              <a:lnSpc>
                <a:spcPts val="3801"/>
              </a:lnSpc>
              <a:buFont typeface="Arial"/>
              <a:buChar char="•"/>
            </a:pPr>
            <a:r>
              <a:rPr lang="en-US" sz="2715">
                <a:solidFill>
                  <a:srgbClr val="050E9B"/>
                </a:solidFill>
                <a:latin typeface="Monda"/>
                <a:ea typeface="Monda"/>
                <a:cs typeface="Monda"/>
                <a:sym typeface="Monda"/>
              </a:rPr>
              <a:t>Male customers contribute ~60–65% of total revenue.</a:t>
            </a:r>
          </a:p>
          <a:p>
            <a:pPr algn="just" marL="586175" indent="-293087" lvl="1">
              <a:lnSpc>
                <a:spcPts val="3801"/>
              </a:lnSpc>
              <a:buFont typeface="Arial"/>
              <a:buChar char="•"/>
            </a:pPr>
            <a:r>
              <a:rPr lang="en-US" sz="2715">
                <a:solidFill>
                  <a:srgbClr val="050E9B"/>
                </a:solidFill>
                <a:latin typeface="Monda"/>
                <a:ea typeface="Monda"/>
                <a:cs typeface="Monda"/>
                <a:sym typeface="Monda"/>
              </a:rPr>
              <a:t>Higher engagement in Electronics, Grocery, and Books.</a:t>
            </a:r>
          </a:p>
          <a:p>
            <a:pPr algn="just" marL="586175" indent="-293087" lvl="1">
              <a:lnSpc>
                <a:spcPts val="3801"/>
              </a:lnSpc>
              <a:buFont typeface="Arial"/>
              <a:buChar char="•"/>
            </a:pPr>
            <a:r>
              <a:rPr lang="en-US" sz="2715">
                <a:solidFill>
                  <a:srgbClr val="050E9B"/>
                </a:solidFill>
                <a:latin typeface="Monda"/>
                <a:ea typeface="Monda"/>
                <a:cs typeface="Monda"/>
                <a:sym typeface="Monda"/>
              </a:rPr>
              <a:t>Indicates male-dominated spending behavior in these segments.</a:t>
            </a:r>
          </a:p>
          <a:p>
            <a:pPr algn="just">
              <a:lnSpc>
                <a:spcPts val="3801"/>
              </a:lnSpc>
            </a:pPr>
          </a:p>
        </p:txBody>
      </p:sp>
    </p:spTree>
  </p:cSld>
  <p:clrMapOvr>
    <a:masterClrMapping/>
  </p:clrMapOvr>
</p:sld>
</file>

<file path=ppt/slides/slide29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2204" t="0" r="-2204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-1584626" y="-740607"/>
            <a:ext cx="4843718" cy="3813327"/>
          </a:xfrm>
          <a:custGeom>
            <a:avLst/>
            <a:gdLst/>
            <a:ahLst/>
            <a:cxnLst/>
            <a:rect r="r" b="b" t="t" l="l"/>
            <a:pathLst>
              <a:path h="3813327" w="4843718">
                <a:moveTo>
                  <a:pt x="0" y="0"/>
                </a:moveTo>
                <a:lnTo>
                  <a:pt x="4843718" y="0"/>
                </a:lnTo>
                <a:lnTo>
                  <a:pt x="4843718" y="3813327"/>
                </a:lnTo>
                <a:lnTo>
                  <a:pt x="0" y="3813327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true" flipV="true" rot="0">
            <a:off x="14645974" y="7042697"/>
            <a:ext cx="5226651" cy="4114800"/>
          </a:xfrm>
          <a:custGeom>
            <a:avLst/>
            <a:gdLst/>
            <a:ahLst/>
            <a:cxnLst/>
            <a:rect r="r" b="b" t="t" l="l"/>
            <a:pathLst>
              <a:path h="4114800" w="5226651">
                <a:moveTo>
                  <a:pt x="5226652" y="4114800"/>
                </a:moveTo>
                <a:lnTo>
                  <a:pt x="0" y="4114800"/>
                </a:lnTo>
                <a:lnTo>
                  <a:pt x="0" y="0"/>
                </a:lnTo>
                <a:lnTo>
                  <a:pt x="5226652" y="0"/>
                </a:lnTo>
                <a:lnTo>
                  <a:pt x="5226652" y="411480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0">
            <a:off x="15729343" y="-740607"/>
            <a:ext cx="3059915" cy="4114800"/>
          </a:xfrm>
          <a:custGeom>
            <a:avLst/>
            <a:gdLst/>
            <a:ahLst/>
            <a:cxnLst/>
            <a:rect r="r" b="b" t="t" l="l"/>
            <a:pathLst>
              <a:path h="4114800" w="3059915">
                <a:moveTo>
                  <a:pt x="0" y="0"/>
                </a:moveTo>
                <a:lnTo>
                  <a:pt x="3059914" y="0"/>
                </a:lnTo>
                <a:lnTo>
                  <a:pt x="3059914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6" id="6"/>
          <p:cNvSpPr txBox="true"/>
          <p:nvPr/>
        </p:nvSpPr>
        <p:spPr>
          <a:xfrm rot="0">
            <a:off x="1401748" y="316321"/>
            <a:ext cx="15078143" cy="134855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469"/>
              </a:lnSpc>
            </a:pPr>
            <a:r>
              <a:rPr lang="en-US" b="true" sz="3907">
                <a:solidFill>
                  <a:srgbClr val="050E9B"/>
                </a:solidFill>
                <a:latin typeface="Merriweather Sans Bold"/>
                <a:ea typeface="Merriweather Sans Bold"/>
                <a:cs typeface="Merriweather Sans Bold"/>
                <a:sym typeface="Merriweather Sans Bold"/>
              </a:rPr>
              <a:t>ROOT CAUSE ANALYSIS (DASHBOARD 3: PRODUCT PERFORMANCE &amp; PREFERENCES)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1028700" y="2202562"/>
            <a:ext cx="15078143" cy="808443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3801"/>
              </a:lnSpc>
            </a:pPr>
            <a:r>
              <a:rPr lang="en-US" sz="2715">
                <a:solidFill>
                  <a:srgbClr val="050E9B"/>
                </a:solidFill>
                <a:latin typeface="Monda"/>
                <a:ea typeface="Monda"/>
                <a:cs typeface="Monda"/>
                <a:sym typeface="Monda"/>
              </a:rPr>
              <a:t>RCA 5 – Revenue Share by Product Type</a:t>
            </a:r>
          </a:p>
          <a:p>
            <a:pPr algn="just" marL="586175" indent="-293087" lvl="1">
              <a:lnSpc>
                <a:spcPts val="3801"/>
              </a:lnSpc>
              <a:buFont typeface="Arial"/>
              <a:buChar char="•"/>
            </a:pPr>
            <a:r>
              <a:rPr lang="en-US" sz="2715">
                <a:solidFill>
                  <a:srgbClr val="050E9B"/>
                </a:solidFill>
                <a:latin typeface="Monda"/>
                <a:ea typeface="Monda"/>
                <a:cs typeface="Monda"/>
                <a:sym typeface="Monda"/>
              </a:rPr>
              <a:t>Water (26.8%), Smartphone (20.3%), Fiction (19.8%), and Non-Fiction (19.7%) dominate.</a:t>
            </a:r>
          </a:p>
          <a:p>
            <a:pPr algn="just" marL="586175" indent="-293087" lvl="1">
              <a:lnSpc>
                <a:spcPts val="3801"/>
              </a:lnSpc>
              <a:buFont typeface="Arial"/>
              <a:buChar char="•"/>
            </a:pPr>
            <a:r>
              <a:rPr lang="en-US" sz="2715">
                <a:solidFill>
                  <a:srgbClr val="050E9B"/>
                </a:solidFill>
                <a:latin typeface="Monda"/>
                <a:ea typeface="Monda"/>
                <a:cs typeface="Monda"/>
                <a:sym typeface="Monda"/>
              </a:rPr>
              <a:t>Reflects strong sales in essential &amp; entertainment categories.</a:t>
            </a:r>
          </a:p>
          <a:p>
            <a:pPr algn="just" marL="586175" indent="-293087" lvl="1">
              <a:lnSpc>
                <a:spcPts val="3801"/>
              </a:lnSpc>
              <a:buFont typeface="Arial"/>
              <a:buChar char="•"/>
            </a:pPr>
            <a:r>
              <a:rPr lang="en-US" sz="2715">
                <a:solidFill>
                  <a:srgbClr val="050E9B"/>
                </a:solidFill>
                <a:latin typeface="Monda"/>
                <a:ea typeface="Monda"/>
                <a:cs typeface="Monda"/>
                <a:sym typeface="Monda"/>
              </a:rPr>
              <a:t>Suggests stable revenue diversification across daily and leisure goods.</a:t>
            </a:r>
          </a:p>
          <a:p>
            <a:pPr algn="just">
              <a:lnSpc>
                <a:spcPts val="3801"/>
              </a:lnSpc>
            </a:pPr>
            <a:r>
              <a:rPr lang="en-US" sz="2715">
                <a:solidFill>
                  <a:srgbClr val="050E9B"/>
                </a:solidFill>
                <a:latin typeface="Monda"/>
                <a:ea typeface="Monda"/>
                <a:cs typeface="Monda"/>
                <a:sym typeface="Monda"/>
              </a:rPr>
              <a:t>RCA 6 – Seasonal Trends by Month (Slicer)</a:t>
            </a:r>
          </a:p>
          <a:p>
            <a:pPr algn="just" marL="586175" indent="-293087" lvl="1">
              <a:lnSpc>
                <a:spcPts val="3801"/>
              </a:lnSpc>
              <a:buFont typeface="Arial"/>
              <a:buChar char="•"/>
            </a:pPr>
            <a:r>
              <a:rPr lang="en-US" sz="2715">
                <a:solidFill>
                  <a:srgbClr val="050E9B"/>
                </a:solidFill>
                <a:latin typeface="Monda"/>
                <a:ea typeface="Monda"/>
                <a:cs typeface="Monda"/>
                <a:sym typeface="Monda"/>
              </a:rPr>
              <a:t>Electronics &amp; Grocery consistent top performers across months.</a:t>
            </a:r>
          </a:p>
          <a:p>
            <a:pPr algn="just" marL="586175" indent="-293087" lvl="1">
              <a:lnSpc>
                <a:spcPts val="3801"/>
              </a:lnSpc>
              <a:buFont typeface="Arial"/>
              <a:buChar char="•"/>
            </a:pPr>
            <a:r>
              <a:rPr lang="en-US" sz="2715">
                <a:solidFill>
                  <a:srgbClr val="050E9B"/>
                </a:solidFill>
                <a:latin typeface="Monda"/>
                <a:ea typeface="Monda"/>
                <a:cs typeface="Monda"/>
                <a:sym typeface="Monda"/>
              </a:rPr>
              <a:t>Revenue slightly peaks in March–April and August–October, hinting festive or promotional periods.</a:t>
            </a:r>
          </a:p>
          <a:p>
            <a:pPr algn="just" marL="586175" indent="-293087" lvl="1">
              <a:lnSpc>
                <a:spcPts val="3801"/>
              </a:lnSpc>
              <a:buFont typeface="Arial"/>
              <a:buChar char="•"/>
            </a:pPr>
            <a:r>
              <a:rPr lang="en-US" sz="2715">
                <a:solidFill>
                  <a:srgbClr val="050E9B"/>
                </a:solidFill>
                <a:latin typeface="Monda"/>
                <a:ea typeface="Monda"/>
                <a:cs typeface="Monda"/>
                <a:sym typeface="Monda"/>
              </a:rPr>
              <a:t>Low seasonal fluctuation → stable year-round demand.</a:t>
            </a:r>
          </a:p>
          <a:p>
            <a:pPr algn="just">
              <a:lnSpc>
                <a:spcPts val="3801"/>
              </a:lnSpc>
            </a:pPr>
          </a:p>
          <a:p>
            <a:pPr algn="just">
              <a:lnSpc>
                <a:spcPts val="3801"/>
              </a:lnSpc>
            </a:pPr>
            <a:r>
              <a:rPr lang="en-US" sz="2715">
                <a:solidFill>
                  <a:srgbClr val="050E9B"/>
                </a:solidFill>
                <a:latin typeface="Monda"/>
                <a:ea typeface="Monda"/>
                <a:cs typeface="Monda"/>
                <a:sym typeface="Monda"/>
              </a:rPr>
              <a:t> </a:t>
            </a:r>
            <a:r>
              <a:rPr lang="en-US" sz="2715" b="true">
                <a:solidFill>
                  <a:srgbClr val="050E9B"/>
                </a:solidFill>
                <a:latin typeface="Monda Bold"/>
                <a:ea typeface="Monda Bold"/>
                <a:cs typeface="Monda Bold"/>
                <a:sym typeface="Monda Bold"/>
              </a:rPr>
              <a:t>Overall Summary:</a:t>
            </a:r>
          </a:p>
          <a:p>
            <a:pPr algn="just">
              <a:lnSpc>
                <a:spcPts val="3801"/>
              </a:lnSpc>
            </a:pPr>
            <a:r>
              <a:rPr lang="en-US" sz="2715">
                <a:solidFill>
                  <a:srgbClr val="050E9B"/>
                </a:solidFill>
                <a:latin typeface="Monda"/>
                <a:ea typeface="Monda"/>
                <a:cs typeface="Monda"/>
                <a:sym typeface="Monda"/>
              </a:rPr>
              <a:t>Product sales are stable and driven by a few strong categories and brands. Customer satisfaction is moderate, and revenue is slightly gender-skewed. Data shows opportunities in improving product quality, balancing brand reliance, and designing gender-targeted promotions.</a:t>
            </a:r>
          </a:p>
          <a:p>
            <a:pPr algn="just">
              <a:lnSpc>
                <a:spcPts val="3801"/>
              </a:lnSpc>
            </a:pPr>
          </a:p>
        </p:txBody>
      </p:sp>
    </p:spTree>
  </p:cSld>
  <p:clrMapOvr>
    <a:masterClrMapping/>
  </p:clrMapOvr>
</p:sld>
</file>

<file path=ppt/slides/slide30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2204" t="0" r="-2204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-1584626" y="-740607"/>
            <a:ext cx="4843718" cy="3813327"/>
          </a:xfrm>
          <a:custGeom>
            <a:avLst/>
            <a:gdLst/>
            <a:ahLst/>
            <a:cxnLst/>
            <a:rect r="r" b="b" t="t" l="l"/>
            <a:pathLst>
              <a:path h="3813327" w="4843718">
                <a:moveTo>
                  <a:pt x="0" y="0"/>
                </a:moveTo>
                <a:lnTo>
                  <a:pt x="4843718" y="0"/>
                </a:lnTo>
                <a:lnTo>
                  <a:pt x="4843718" y="3813327"/>
                </a:lnTo>
                <a:lnTo>
                  <a:pt x="0" y="3813327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true" flipV="true" rot="0">
            <a:off x="14645974" y="7042697"/>
            <a:ext cx="5226651" cy="4114800"/>
          </a:xfrm>
          <a:custGeom>
            <a:avLst/>
            <a:gdLst/>
            <a:ahLst/>
            <a:cxnLst/>
            <a:rect r="r" b="b" t="t" l="l"/>
            <a:pathLst>
              <a:path h="4114800" w="5226651">
                <a:moveTo>
                  <a:pt x="5226652" y="4114800"/>
                </a:moveTo>
                <a:lnTo>
                  <a:pt x="0" y="4114800"/>
                </a:lnTo>
                <a:lnTo>
                  <a:pt x="0" y="0"/>
                </a:lnTo>
                <a:lnTo>
                  <a:pt x="5226652" y="0"/>
                </a:lnTo>
                <a:lnTo>
                  <a:pt x="5226652" y="411480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0">
            <a:off x="15729343" y="-740607"/>
            <a:ext cx="3059915" cy="4114800"/>
          </a:xfrm>
          <a:custGeom>
            <a:avLst/>
            <a:gdLst/>
            <a:ahLst/>
            <a:cxnLst/>
            <a:rect r="r" b="b" t="t" l="l"/>
            <a:pathLst>
              <a:path h="4114800" w="3059915">
                <a:moveTo>
                  <a:pt x="0" y="0"/>
                </a:moveTo>
                <a:lnTo>
                  <a:pt x="3059914" y="0"/>
                </a:lnTo>
                <a:lnTo>
                  <a:pt x="3059914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0">
            <a:off x="340645" y="3374193"/>
            <a:ext cx="8376094" cy="5196462"/>
          </a:xfrm>
          <a:custGeom>
            <a:avLst/>
            <a:gdLst/>
            <a:ahLst/>
            <a:cxnLst/>
            <a:rect r="r" b="b" t="t" l="l"/>
            <a:pathLst>
              <a:path h="5196462" w="8376094">
                <a:moveTo>
                  <a:pt x="0" y="0"/>
                </a:moveTo>
                <a:lnTo>
                  <a:pt x="8376094" y="0"/>
                </a:lnTo>
                <a:lnTo>
                  <a:pt x="8376094" y="5196462"/>
                </a:lnTo>
                <a:lnTo>
                  <a:pt x="0" y="5196462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>
              <a:fillRect l="-1374" t="0" r="-7259" b="0"/>
            </a:stretch>
          </a:blipFill>
        </p:spPr>
      </p:sp>
      <p:sp>
        <p:nvSpPr>
          <p:cNvPr name="Freeform 7" id="7"/>
          <p:cNvSpPr/>
          <p:nvPr/>
        </p:nvSpPr>
        <p:spPr>
          <a:xfrm flipH="false" flipV="false" rot="0">
            <a:off x="8940819" y="3374193"/>
            <a:ext cx="8947333" cy="4973768"/>
          </a:xfrm>
          <a:custGeom>
            <a:avLst/>
            <a:gdLst/>
            <a:ahLst/>
            <a:cxnLst/>
            <a:rect r="r" b="b" t="t" l="l"/>
            <a:pathLst>
              <a:path h="4973768" w="8947333">
                <a:moveTo>
                  <a:pt x="0" y="0"/>
                </a:moveTo>
                <a:lnTo>
                  <a:pt x="8947333" y="0"/>
                </a:lnTo>
                <a:lnTo>
                  <a:pt x="8947333" y="4973768"/>
                </a:lnTo>
                <a:lnTo>
                  <a:pt x="0" y="4973768"/>
                </a:lnTo>
                <a:lnTo>
                  <a:pt x="0" y="0"/>
                </a:lnTo>
                <a:close/>
              </a:path>
            </a:pathLst>
          </a:custGeom>
          <a:blipFill>
            <a:blip r:embed="rId8"/>
            <a:stretch>
              <a:fillRect l="-3973" t="0" r="-9550" b="0"/>
            </a:stretch>
          </a:blipFill>
        </p:spPr>
      </p:sp>
      <p:sp>
        <p:nvSpPr>
          <p:cNvPr name="TextBox 8" id="8"/>
          <p:cNvSpPr txBox="true"/>
          <p:nvPr/>
        </p:nvSpPr>
        <p:spPr>
          <a:xfrm rot="0">
            <a:off x="1401748" y="316321"/>
            <a:ext cx="15078143" cy="134855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469"/>
              </a:lnSpc>
            </a:pPr>
            <a:r>
              <a:rPr lang="en-US" b="true" sz="3907">
                <a:solidFill>
                  <a:srgbClr val="050E9B"/>
                </a:solidFill>
                <a:latin typeface="Merriweather Sans Bold"/>
                <a:ea typeface="Merriweather Sans Bold"/>
                <a:cs typeface="Merriweather Sans Bold"/>
                <a:sym typeface="Merriweather Sans Bold"/>
              </a:rPr>
              <a:t>ROOT CAUSE ANALYSIS (DASHBOARD 3: PRODUCT PERFORMANCE &amp; PREFERENCES)</a:t>
            </a:r>
          </a:p>
        </p:txBody>
      </p:sp>
    </p:spTree>
  </p:cSld>
  <p:clrMapOvr>
    <a:masterClrMapping/>
  </p:clrMapOvr>
</p:sld>
</file>

<file path=ppt/slides/slide3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2204" t="0" r="-2204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-1584626" y="-740607"/>
            <a:ext cx="4082151" cy="3213766"/>
          </a:xfrm>
          <a:custGeom>
            <a:avLst/>
            <a:gdLst/>
            <a:ahLst/>
            <a:cxnLst/>
            <a:rect r="r" b="b" t="t" l="l"/>
            <a:pathLst>
              <a:path h="3213766" w="4082151">
                <a:moveTo>
                  <a:pt x="0" y="0"/>
                </a:moveTo>
                <a:lnTo>
                  <a:pt x="4082151" y="0"/>
                </a:lnTo>
                <a:lnTo>
                  <a:pt x="4082151" y="3213766"/>
                </a:lnTo>
                <a:lnTo>
                  <a:pt x="0" y="3213766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true" flipV="true" rot="0">
            <a:off x="15729343" y="7895603"/>
            <a:ext cx="4143283" cy="3261894"/>
          </a:xfrm>
          <a:custGeom>
            <a:avLst/>
            <a:gdLst/>
            <a:ahLst/>
            <a:cxnLst/>
            <a:rect r="r" b="b" t="t" l="l"/>
            <a:pathLst>
              <a:path h="3261894" w="4143283">
                <a:moveTo>
                  <a:pt x="4143283" y="3261894"/>
                </a:moveTo>
                <a:lnTo>
                  <a:pt x="0" y="3261894"/>
                </a:lnTo>
                <a:lnTo>
                  <a:pt x="0" y="0"/>
                </a:lnTo>
                <a:lnTo>
                  <a:pt x="4143283" y="0"/>
                </a:lnTo>
                <a:lnTo>
                  <a:pt x="4143283" y="3261894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0">
            <a:off x="15729343" y="-740607"/>
            <a:ext cx="3059915" cy="4114800"/>
          </a:xfrm>
          <a:custGeom>
            <a:avLst/>
            <a:gdLst/>
            <a:ahLst/>
            <a:cxnLst/>
            <a:rect r="r" b="b" t="t" l="l"/>
            <a:pathLst>
              <a:path h="4114800" w="3059915">
                <a:moveTo>
                  <a:pt x="0" y="0"/>
                </a:moveTo>
                <a:lnTo>
                  <a:pt x="3059914" y="0"/>
                </a:lnTo>
                <a:lnTo>
                  <a:pt x="3059914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6" id="6"/>
          <p:cNvSpPr txBox="true"/>
          <p:nvPr/>
        </p:nvSpPr>
        <p:spPr>
          <a:xfrm rot="0">
            <a:off x="2497525" y="200115"/>
            <a:ext cx="13231817" cy="77134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6309"/>
              </a:lnSpc>
            </a:pPr>
            <a:r>
              <a:rPr lang="en-US" b="true" sz="4507">
                <a:solidFill>
                  <a:srgbClr val="050E9B"/>
                </a:solidFill>
                <a:latin typeface="Merriweather Sans Bold"/>
                <a:ea typeface="Merriweather Sans Bold"/>
                <a:cs typeface="Merriweather Sans Bold"/>
                <a:sym typeface="Merriweather Sans Bold"/>
              </a:rPr>
              <a:t>RECOMMENDATIONS &amp; INSIGHTS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700808" y="1095046"/>
            <a:ext cx="16558492" cy="920765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3316"/>
              </a:lnSpc>
            </a:pPr>
            <a:r>
              <a:rPr lang="en-US" sz="2368" b="true">
                <a:solidFill>
                  <a:srgbClr val="050E9B"/>
                </a:solidFill>
                <a:latin typeface="Monda Bold"/>
                <a:ea typeface="Monda Bold"/>
                <a:cs typeface="Monda Bold"/>
                <a:sym typeface="Monda Bold"/>
              </a:rPr>
              <a:t>1) Product &amp; Inventory Optimization</a:t>
            </a:r>
          </a:p>
          <a:p>
            <a:pPr algn="just" marL="511422" indent="-255711" lvl="1">
              <a:lnSpc>
                <a:spcPts val="3316"/>
              </a:lnSpc>
              <a:buFont typeface="Arial"/>
              <a:buChar char="•"/>
            </a:pPr>
            <a:r>
              <a:rPr lang="en-US" sz="2368">
                <a:solidFill>
                  <a:srgbClr val="050E9B"/>
                </a:solidFill>
                <a:latin typeface="Monda"/>
                <a:ea typeface="Monda"/>
                <a:cs typeface="Monda"/>
                <a:sym typeface="Monda"/>
              </a:rPr>
              <a:t>Maintain higher inventory for Electronics and Grocery, as they drive maximum sales volume.</a:t>
            </a:r>
          </a:p>
          <a:p>
            <a:pPr algn="just" marL="511422" indent="-255711" lvl="1">
              <a:lnSpc>
                <a:spcPts val="3316"/>
              </a:lnSpc>
              <a:buFont typeface="Arial"/>
              <a:buChar char="•"/>
            </a:pPr>
            <a:r>
              <a:rPr lang="en-US" sz="2368">
                <a:solidFill>
                  <a:srgbClr val="050E9B"/>
                </a:solidFill>
                <a:latin typeface="Monda"/>
                <a:ea typeface="Monda"/>
                <a:cs typeface="Monda"/>
                <a:sym typeface="Monda"/>
              </a:rPr>
              <a:t>Introduce dynamic restocking for fast-selling brands (Pepsi, Samsung, Zara).</a:t>
            </a:r>
          </a:p>
          <a:p>
            <a:pPr algn="just" marL="511422" indent="-255711" lvl="1">
              <a:lnSpc>
                <a:spcPts val="3316"/>
              </a:lnSpc>
              <a:buFont typeface="Arial"/>
              <a:buChar char="•"/>
            </a:pPr>
            <a:r>
              <a:rPr lang="en-US" sz="2368">
                <a:solidFill>
                  <a:srgbClr val="050E9B"/>
                </a:solidFill>
                <a:latin typeface="Monda"/>
                <a:ea typeface="Monda"/>
                <a:cs typeface="Monda"/>
                <a:sym typeface="Monda"/>
              </a:rPr>
              <a:t>Diversify product lineup to reduce dependency on top 5 brands.</a:t>
            </a:r>
          </a:p>
          <a:p>
            <a:pPr algn="just">
              <a:lnSpc>
                <a:spcPts val="3316"/>
              </a:lnSpc>
            </a:pPr>
            <a:r>
              <a:rPr lang="en-US" sz="2368" b="true">
                <a:solidFill>
                  <a:srgbClr val="050E9B"/>
                </a:solidFill>
                <a:latin typeface="Monda Bold"/>
                <a:ea typeface="Monda Bold"/>
                <a:cs typeface="Monda Bold"/>
                <a:sym typeface="Monda Bold"/>
              </a:rPr>
              <a:t>2) </a:t>
            </a:r>
            <a:r>
              <a:rPr lang="en-US" sz="2368" b="true">
                <a:solidFill>
                  <a:srgbClr val="050E9B"/>
                </a:solidFill>
                <a:latin typeface="Monda Bold"/>
                <a:ea typeface="Monda Bold"/>
                <a:cs typeface="Monda Bold"/>
                <a:sym typeface="Monda Bold"/>
              </a:rPr>
              <a:t>Quality &amp; Customer Experience</a:t>
            </a:r>
          </a:p>
          <a:p>
            <a:pPr algn="just" marL="511422" indent="-255711" lvl="1">
              <a:lnSpc>
                <a:spcPts val="3316"/>
              </a:lnSpc>
              <a:buFont typeface="Arial"/>
              <a:buChar char="•"/>
            </a:pPr>
            <a:r>
              <a:rPr lang="en-US" sz="2368">
                <a:solidFill>
                  <a:srgbClr val="050E9B"/>
                </a:solidFill>
                <a:latin typeface="Monda"/>
                <a:ea typeface="Monda"/>
                <a:cs typeface="Monda"/>
                <a:sym typeface="Monda"/>
              </a:rPr>
              <a:t>Launch post-sale</a:t>
            </a:r>
            <a:r>
              <a:rPr lang="en-US" b="true" sz="2368">
                <a:solidFill>
                  <a:srgbClr val="050E9B"/>
                </a:solidFill>
                <a:latin typeface="Monda Bold"/>
                <a:ea typeface="Monda Bold"/>
                <a:cs typeface="Monda Bold"/>
                <a:sym typeface="Monda Bold"/>
              </a:rPr>
              <a:t> </a:t>
            </a:r>
            <a:r>
              <a:rPr lang="en-US" sz="2368">
                <a:solidFill>
                  <a:srgbClr val="050E9B"/>
                </a:solidFill>
                <a:latin typeface="Monda"/>
                <a:ea typeface="Monda"/>
                <a:cs typeface="Monda"/>
                <a:sym typeface="Monda"/>
              </a:rPr>
              <a:t>feedback and quality audit programs for high-volume but low-rated products (Electronics, Clothing).</a:t>
            </a:r>
          </a:p>
          <a:p>
            <a:pPr algn="just" marL="511422" indent="-255711" lvl="1">
              <a:lnSpc>
                <a:spcPts val="3316"/>
              </a:lnSpc>
              <a:buFont typeface="Arial"/>
              <a:buChar char="•"/>
            </a:pPr>
            <a:r>
              <a:rPr lang="en-US" sz="2368">
                <a:solidFill>
                  <a:srgbClr val="050E9B"/>
                </a:solidFill>
                <a:latin typeface="Monda"/>
                <a:ea typeface="Monda"/>
                <a:cs typeface="Monda"/>
                <a:sym typeface="Monda"/>
              </a:rPr>
              <a:t>Use customer feedback data to improve product specifications and packaging quality.</a:t>
            </a:r>
          </a:p>
          <a:p>
            <a:pPr algn="just" marL="511422" indent="-255711" lvl="1">
              <a:lnSpc>
                <a:spcPts val="3316"/>
              </a:lnSpc>
              <a:buFont typeface="Arial"/>
              <a:buChar char="•"/>
            </a:pPr>
            <a:r>
              <a:rPr lang="en-US" sz="2368">
                <a:solidFill>
                  <a:srgbClr val="050E9B"/>
                </a:solidFill>
                <a:latin typeface="Monda"/>
                <a:ea typeface="Monda"/>
                <a:cs typeface="Monda"/>
                <a:sym typeface="Monda"/>
              </a:rPr>
              <a:t>Offer extended warranty or free replacement options to strengthen trust.</a:t>
            </a:r>
          </a:p>
          <a:p>
            <a:pPr algn="just">
              <a:lnSpc>
                <a:spcPts val="3316"/>
              </a:lnSpc>
            </a:pPr>
            <a:r>
              <a:rPr lang="en-US" sz="2368">
                <a:solidFill>
                  <a:srgbClr val="050E9B"/>
                </a:solidFill>
                <a:latin typeface="Monda"/>
                <a:ea typeface="Monda"/>
                <a:cs typeface="Monda"/>
                <a:sym typeface="Monda"/>
              </a:rPr>
              <a:t>3</a:t>
            </a:r>
            <a:r>
              <a:rPr lang="en-US" sz="2368" b="true">
                <a:solidFill>
                  <a:srgbClr val="050E9B"/>
                </a:solidFill>
                <a:latin typeface="Monda Bold"/>
                <a:ea typeface="Monda Bold"/>
                <a:cs typeface="Monda Bold"/>
                <a:sym typeface="Monda Bold"/>
              </a:rPr>
              <a:t>) </a:t>
            </a:r>
            <a:r>
              <a:rPr lang="en-US" sz="2368" b="true">
                <a:solidFill>
                  <a:srgbClr val="050E9B"/>
                </a:solidFill>
                <a:latin typeface="Monda Bold"/>
                <a:ea typeface="Monda Bold"/>
                <a:cs typeface="Monda Bold"/>
                <a:sym typeface="Monda Bold"/>
              </a:rPr>
              <a:t>Marketing &amp; Targeting Strategy</a:t>
            </a:r>
          </a:p>
          <a:p>
            <a:pPr algn="just" marL="511422" indent="-255711" lvl="1">
              <a:lnSpc>
                <a:spcPts val="3316"/>
              </a:lnSpc>
              <a:buFont typeface="Arial"/>
              <a:buChar char="•"/>
            </a:pPr>
            <a:r>
              <a:rPr lang="en-US" sz="2368">
                <a:solidFill>
                  <a:srgbClr val="050E9B"/>
                </a:solidFill>
                <a:latin typeface="Monda"/>
                <a:ea typeface="Monda"/>
                <a:cs typeface="Monda"/>
                <a:sym typeface="Monda"/>
              </a:rPr>
              <a:t>Design gender-specific campaigns — male-oriented for Electronics, Books; female-focused bundles for Clothing and Home Decor.</a:t>
            </a:r>
          </a:p>
          <a:p>
            <a:pPr algn="just" marL="511422" indent="-255711" lvl="1">
              <a:lnSpc>
                <a:spcPts val="3316"/>
              </a:lnSpc>
              <a:buFont typeface="Arial"/>
              <a:buChar char="•"/>
            </a:pPr>
            <a:r>
              <a:rPr lang="en-US" sz="2368">
                <a:solidFill>
                  <a:srgbClr val="050E9B"/>
                </a:solidFill>
                <a:latin typeface="Monda"/>
                <a:ea typeface="Monda"/>
                <a:cs typeface="Monda"/>
                <a:sym typeface="Monda"/>
              </a:rPr>
              <a:t>Use Power BI segmentation filters to identify repeat buyers and upsell premium versions.</a:t>
            </a:r>
          </a:p>
          <a:p>
            <a:pPr algn="just" marL="511422" indent="-255711" lvl="1">
              <a:lnSpc>
                <a:spcPts val="3316"/>
              </a:lnSpc>
              <a:buFont typeface="Arial"/>
              <a:buChar char="•"/>
            </a:pPr>
            <a:r>
              <a:rPr lang="en-US" sz="2368">
                <a:solidFill>
                  <a:srgbClr val="050E9B"/>
                </a:solidFill>
                <a:latin typeface="Monda"/>
                <a:ea typeface="Monda"/>
                <a:cs typeface="Monda"/>
                <a:sym typeface="Monda"/>
              </a:rPr>
              <a:t>Introduce combo offers between high-performing and low-performing brands.</a:t>
            </a:r>
          </a:p>
          <a:p>
            <a:pPr algn="just">
              <a:lnSpc>
                <a:spcPts val="3316"/>
              </a:lnSpc>
            </a:pPr>
            <a:r>
              <a:rPr lang="en-US" sz="2368" b="true">
                <a:solidFill>
                  <a:srgbClr val="050E9B"/>
                </a:solidFill>
                <a:latin typeface="Monda Bold"/>
                <a:ea typeface="Monda Bold"/>
                <a:cs typeface="Monda Bold"/>
                <a:sym typeface="Monda Bold"/>
              </a:rPr>
              <a:t>4) </a:t>
            </a:r>
            <a:r>
              <a:rPr lang="en-US" sz="2368" b="true">
                <a:solidFill>
                  <a:srgbClr val="050E9B"/>
                </a:solidFill>
                <a:latin typeface="Monda Bold"/>
                <a:ea typeface="Monda Bold"/>
                <a:cs typeface="Monda Bold"/>
                <a:sym typeface="Monda Bold"/>
              </a:rPr>
              <a:t>Financial &amp; Business Planning</a:t>
            </a:r>
          </a:p>
          <a:p>
            <a:pPr algn="just" marL="511422" indent="-255711" lvl="1">
              <a:lnSpc>
                <a:spcPts val="3316"/>
              </a:lnSpc>
              <a:buFont typeface="Arial"/>
              <a:buChar char="•"/>
            </a:pPr>
            <a:r>
              <a:rPr lang="en-US" sz="2368">
                <a:solidFill>
                  <a:srgbClr val="050E9B"/>
                </a:solidFill>
                <a:latin typeface="Monda"/>
                <a:ea typeface="Monda"/>
                <a:cs typeface="Monda"/>
                <a:sym typeface="Monda"/>
              </a:rPr>
              <a:t>Focus investment on top-performing categories while gradually growing underperforming ones.</a:t>
            </a:r>
          </a:p>
          <a:p>
            <a:pPr algn="just" marL="511422" indent="-255711" lvl="1">
              <a:lnSpc>
                <a:spcPts val="3316"/>
              </a:lnSpc>
              <a:buFont typeface="Arial"/>
              <a:buChar char="•"/>
            </a:pPr>
            <a:r>
              <a:rPr lang="en-US" sz="2368">
                <a:solidFill>
                  <a:srgbClr val="050E9B"/>
                </a:solidFill>
                <a:latin typeface="Monda"/>
                <a:ea typeface="Monda"/>
                <a:cs typeface="Monda"/>
                <a:sym typeface="Monda"/>
              </a:rPr>
              <a:t>Use revenue share insights to negotiate better vendor contracts with leading brands.</a:t>
            </a:r>
          </a:p>
          <a:p>
            <a:pPr algn="just" marL="511422" indent="-255711" lvl="1">
              <a:lnSpc>
                <a:spcPts val="3316"/>
              </a:lnSpc>
              <a:buFont typeface="Arial"/>
              <a:buChar char="•"/>
            </a:pPr>
            <a:r>
              <a:rPr lang="en-US" sz="2368">
                <a:solidFill>
                  <a:srgbClr val="050E9B"/>
                </a:solidFill>
                <a:latin typeface="Monda"/>
                <a:ea typeface="Monda"/>
                <a:cs typeface="Monda"/>
                <a:sym typeface="Monda"/>
              </a:rPr>
              <a:t>Monitor monthly trends to plan seasonal campaigns (March–April &amp; August–October).</a:t>
            </a:r>
          </a:p>
          <a:p>
            <a:pPr algn="just">
              <a:lnSpc>
                <a:spcPts val="3316"/>
              </a:lnSpc>
            </a:pPr>
            <a:r>
              <a:rPr lang="en-US" sz="2368">
                <a:solidFill>
                  <a:srgbClr val="050E9B"/>
                </a:solidFill>
                <a:latin typeface="Monda"/>
                <a:ea typeface="Monda"/>
                <a:cs typeface="Monda"/>
                <a:sym typeface="Monda"/>
              </a:rPr>
              <a:t> </a:t>
            </a:r>
            <a:r>
              <a:rPr lang="en-US" sz="2368" b="true">
                <a:solidFill>
                  <a:srgbClr val="050E9B"/>
                </a:solidFill>
                <a:latin typeface="Monda Bold"/>
                <a:ea typeface="Monda Bold"/>
                <a:cs typeface="Monda Bold"/>
                <a:sym typeface="Monda Bold"/>
              </a:rPr>
              <a:t>Key Takeaway:</a:t>
            </a:r>
          </a:p>
          <a:p>
            <a:pPr algn="just">
              <a:lnSpc>
                <a:spcPts val="3316"/>
              </a:lnSpc>
            </a:pPr>
            <a:r>
              <a:rPr lang="en-US" sz="2368">
                <a:solidFill>
                  <a:srgbClr val="050E9B"/>
                </a:solidFill>
                <a:latin typeface="Monda"/>
                <a:ea typeface="Monda"/>
                <a:cs typeface="Monda"/>
                <a:sym typeface="Monda"/>
              </a:rPr>
              <a:t> Balanced inventory planning, data-driven marketing, and consistent quality control will enhance profitability, customer loyalty, and overall retail growth.</a:t>
            </a:r>
          </a:p>
          <a:p>
            <a:pPr algn="just">
              <a:lnSpc>
                <a:spcPts val="3316"/>
              </a:lnSpc>
            </a:pPr>
          </a:p>
        </p:txBody>
      </p:sp>
    </p:spTree>
  </p:cSld>
  <p:clrMapOvr>
    <a:masterClrMapping/>
  </p:clrMapOvr>
</p:sld>
</file>

<file path=ppt/slides/slide3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2204" t="0" r="-2204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-1584626" y="-740607"/>
            <a:ext cx="4739791" cy="3731508"/>
          </a:xfrm>
          <a:custGeom>
            <a:avLst/>
            <a:gdLst/>
            <a:ahLst/>
            <a:cxnLst/>
            <a:rect r="r" b="b" t="t" l="l"/>
            <a:pathLst>
              <a:path h="3731508" w="4739791">
                <a:moveTo>
                  <a:pt x="0" y="0"/>
                </a:moveTo>
                <a:lnTo>
                  <a:pt x="4739791" y="0"/>
                </a:lnTo>
                <a:lnTo>
                  <a:pt x="4739791" y="3731509"/>
                </a:lnTo>
                <a:lnTo>
                  <a:pt x="0" y="3731509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true" flipV="true" rot="0">
            <a:off x="14645974" y="7042697"/>
            <a:ext cx="5226651" cy="4114800"/>
          </a:xfrm>
          <a:custGeom>
            <a:avLst/>
            <a:gdLst/>
            <a:ahLst/>
            <a:cxnLst/>
            <a:rect r="r" b="b" t="t" l="l"/>
            <a:pathLst>
              <a:path h="4114800" w="5226651">
                <a:moveTo>
                  <a:pt x="5226652" y="4114800"/>
                </a:moveTo>
                <a:lnTo>
                  <a:pt x="0" y="4114800"/>
                </a:lnTo>
                <a:lnTo>
                  <a:pt x="0" y="0"/>
                </a:lnTo>
                <a:lnTo>
                  <a:pt x="5226652" y="0"/>
                </a:lnTo>
                <a:lnTo>
                  <a:pt x="5226652" y="411480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0">
            <a:off x="15729343" y="-740607"/>
            <a:ext cx="3059915" cy="4114800"/>
          </a:xfrm>
          <a:custGeom>
            <a:avLst/>
            <a:gdLst/>
            <a:ahLst/>
            <a:cxnLst/>
            <a:rect r="r" b="b" t="t" l="l"/>
            <a:pathLst>
              <a:path h="4114800" w="3059915">
                <a:moveTo>
                  <a:pt x="0" y="0"/>
                </a:moveTo>
                <a:lnTo>
                  <a:pt x="3059914" y="0"/>
                </a:lnTo>
                <a:lnTo>
                  <a:pt x="3059914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6" id="6"/>
          <p:cNvSpPr txBox="true"/>
          <p:nvPr/>
        </p:nvSpPr>
        <p:spPr>
          <a:xfrm rot="0">
            <a:off x="3155165" y="-76200"/>
            <a:ext cx="11977669" cy="15621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6299"/>
              </a:lnSpc>
            </a:pPr>
            <a:r>
              <a:rPr lang="en-US" b="true" sz="4500">
                <a:solidFill>
                  <a:srgbClr val="050E9B"/>
                </a:solidFill>
                <a:latin typeface="Merriweather Sans Bold"/>
                <a:ea typeface="Merriweather Sans Bold"/>
                <a:cs typeface="Merriweather Sans Bold"/>
                <a:sym typeface="Merriweather Sans Bold"/>
              </a:rPr>
              <a:t> DASHBOARD-4 OVERVIEW</a:t>
            </a:r>
          </a:p>
          <a:p>
            <a:pPr algn="ctr">
              <a:lnSpc>
                <a:spcPts val="6299"/>
              </a:lnSpc>
            </a:pPr>
            <a:r>
              <a:rPr lang="en-US" sz="4500" b="true">
                <a:solidFill>
                  <a:srgbClr val="050E9B"/>
                </a:solidFill>
                <a:latin typeface="Merriweather Sans Bold"/>
                <a:ea typeface="Merriweather Sans Bold"/>
                <a:cs typeface="Merriweather Sans Bold"/>
                <a:sym typeface="Merriweather Sans Bold"/>
              </a:rPr>
              <a:t>(Operational &amp; Feedback Insights)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1028700" y="1438275"/>
            <a:ext cx="15912217" cy="931519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3688"/>
              </a:lnSpc>
            </a:pPr>
            <a:r>
              <a:rPr lang="en-US" sz="2634" b="true">
                <a:solidFill>
                  <a:srgbClr val="050E9B"/>
                </a:solidFill>
                <a:latin typeface="Monda Bold"/>
                <a:ea typeface="Monda Bold"/>
                <a:cs typeface="Monda Bold"/>
                <a:sym typeface="Monda Bold"/>
              </a:rPr>
              <a:t>Purpose:</a:t>
            </a:r>
          </a:p>
          <a:p>
            <a:pPr algn="just">
              <a:lnSpc>
                <a:spcPts val="3688"/>
              </a:lnSpc>
            </a:pPr>
            <a:r>
              <a:rPr lang="en-US" sz="2634">
                <a:solidFill>
                  <a:srgbClr val="050E9B"/>
                </a:solidFill>
                <a:latin typeface="Monda"/>
                <a:ea typeface="Monda"/>
                <a:cs typeface="Monda"/>
                <a:sym typeface="Monda"/>
              </a:rPr>
              <a:t> To analyze post-purchase customer experience, feedback patterns, and operational performance metrics like delivery efficiency, payment mix, and order timing.</a:t>
            </a:r>
          </a:p>
          <a:p>
            <a:pPr algn="just">
              <a:lnSpc>
                <a:spcPts val="3688"/>
              </a:lnSpc>
            </a:pPr>
            <a:r>
              <a:rPr lang="en-US" sz="2634" b="true">
                <a:solidFill>
                  <a:srgbClr val="050E9B"/>
                </a:solidFill>
                <a:latin typeface="Monda Bold"/>
                <a:ea typeface="Monda Bold"/>
                <a:cs typeface="Monda Bold"/>
                <a:sym typeface="Monda Bold"/>
              </a:rPr>
              <a:t>Dashboard Components</a:t>
            </a:r>
            <a:r>
              <a:rPr lang="en-US" sz="2634">
                <a:solidFill>
                  <a:srgbClr val="050E9B"/>
                </a:solidFill>
                <a:latin typeface="Monda"/>
                <a:ea typeface="Monda"/>
                <a:cs typeface="Monda"/>
                <a:sym typeface="Monda"/>
              </a:rPr>
              <a:t>:</a:t>
            </a:r>
          </a:p>
          <a:p>
            <a:pPr algn="just" marL="568896" indent="-284448" lvl="1">
              <a:lnSpc>
                <a:spcPts val="3688"/>
              </a:lnSpc>
              <a:buFont typeface="Arial"/>
              <a:buChar char="•"/>
            </a:pPr>
            <a:r>
              <a:rPr lang="en-US" sz="2634">
                <a:solidFill>
                  <a:srgbClr val="050E9B"/>
                </a:solidFill>
                <a:latin typeface="Monda"/>
                <a:ea typeface="Monda"/>
                <a:cs typeface="Monda"/>
                <a:sym typeface="Monda"/>
              </a:rPr>
              <a:t>KPI Cards: Avg Rating, Total Orders, Avg Delivery Score, Total Payment Methods</a:t>
            </a:r>
          </a:p>
          <a:p>
            <a:pPr algn="just" marL="568896" indent="-284448" lvl="1">
              <a:lnSpc>
                <a:spcPts val="3688"/>
              </a:lnSpc>
              <a:buFont typeface="Arial"/>
              <a:buChar char="•"/>
            </a:pPr>
            <a:r>
              <a:rPr lang="en-US" sz="2634">
                <a:solidFill>
                  <a:srgbClr val="050E9B"/>
                </a:solidFill>
                <a:latin typeface="Monda"/>
                <a:ea typeface="Monda"/>
                <a:cs typeface="Monda"/>
                <a:sym typeface="Monda"/>
              </a:rPr>
              <a:t>Charts:</a:t>
            </a:r>
          </a:p>
          <a:p>
            <a:pPr algn="just" marL="1137792" indent="-379264" lvl="2">
              <a:lnSpc>
                <a:spcPts val="3688"/>
              </a:lnSpc>
              <a:buFont typeface="Arial"/>
              <a:buChar char="⚬"/>
            </a:pPr>
            <a:r>
              <a:rPr lang="en-US" sz="2634">
                <a:solidFill>
                  <a:srgbClr val="050E9B"/>
                </a:solidFill>
                <a:latin typeface="Monda"/>
                <a:ea typeface="Monda"/>
                <a:cs typeface="Monda"/>
                <a:sym typeface="Monda"/>
              </a:rPr>
              <a:t>Pie Chart → Customer Feedback Sentiment</a:t>
            </a:r>
          </a:p>
          <a:p>
            <a:pPr algn="just" marL="1137792" indent="-379264" lvl="2">
              <a:lnSpc>
                <a:spcPts val="3688"/>
              </a:lnSpc>
              <a:buFont typeface="Arial"/>
              <a:buChar char="⚬"/>
            </a:pPr>
            <a:r>
              <a:rPr lang="en-US" sz="2634">
                <a:solidFill>
                  <a:srgbClr val="050E9B"/>
                </a:solidFill>
                <a:latin typeface="Monda"/>
                <a:ea typeface="Monda"/>
                <a:cs typeface="Monda"/>
                <a:sym typeface="Monda"/>
              </a:rPr>
              <a:t>Bar Chart → Ratings Distribution</a:t>
            </a:r>
          </a:p>
          <a:p>
            <a:pPr algn="just" marL="1137792" indent="-379264" lvl="2">
              <a:lnSpc>
                <a:spcPts val="3688"/>
              </a:lnSpc>
              <a:buFont typeface="Arial"/>
              <a:buChar char="⚬"/>
            </a:pPr>
            <a:r>
              <a:rPr lang="en-US" sz="2634">
                <a:solidFill>
                  <a:srgbClr val="050E9B"/>
                </a:solidFill>
                <a:latin typeface="Monda"/>
                <a:ea typeface="Monda"/>
                <a:cs typeface="Monda"/>
                <a:sym typeface="Monda"/>
              </a:rPr>
              <a:t>Donut Chart → Payment Method Distribution</a:t>
            </a:r>
          </a:p>
          <a:p>
            <a:pPr algn="just" marL="1137792" indent="-379264" lvl="2">
              <a:lnSpc>
                <a:spcPts val="3688"/>
              </a:lnSpc>
              <a:buFont typeface="Arial"/>
              <a:buChar char="⚬"/>
            </a:pPr>
            <a:r>
              <a:rPr lang="en-US" sz="2634">
                <a:solidFill>
                  <a:srgbClr val="050E9B"/>
                </a:solidFill>
                <a:latin typeface="Monda"/>
                <a:ea typeface="Monda"/>
                <a:cs typeface="Monda"/>
                <a:sym typeface="Monda"/>
              </a:rPr>
              <a:t>Bar Chart → Shipping Method Orders</a:t>
            </a:r>
          </a:p>
          <a:p>
            <a:pPr algn="just" marL="1137792" indent="-379264" lvl="2">
              <a:lnSpc>
                <a:spcPts val="3688"/>
              </a:lnSpc>
              <a:buFont typeface="Arial"/>
              <a:buChar char="⚬"/>
            </a:pPr>
            <a:r>
              <a:rPr lang="en-US" sz="2634">
                <a:solidFill>
                  <a:srgbClr val="050E9B"/>
                </a:solidFill>
                <a:latin typeface="Monda"/>
                <a:ea typeface="Monda"/>
                <a:cs typeface="Monda"/>
                <a:sym typeface="Monda"/>
              </a:rPr>
              <a:t>Bar Chart → Peak Shopping Hours</a:t>
            </a:r>
          </a:p>
          <a:p>
            <a:pPr algn="just" marL="1137792" indent="-379264" lvl="2">
              <a:lnSpc>
                <a:spcPts val="3688"/>
              </a:lnSpc>
              <a:buFont typeface="Arial"/>
              <a:buChar char="⚬"/>
            </a:pPr>
            <a:r>
              <a:rPr lang="en-US" sz="2634">
                <a:solidFill>
                  <a:srgbClr val="050E9B"/>
                </a:solidFill>
                <a:latin typeface="Monda"/>
                <a:ea typeface="Monda"/>
                <a:cs typeface="Monda"/>
                <a:sym typeface="Monda"/>
              </a:rPr>
              <a:t>Table → Feedback vs Delivery Status</a:t>
            </a:r>
          </a:p>
          <a:p>
            <a:pPr algn="just" marL="568896" indent="-284448" lvl="1">
              <a:lnSpc>
                <a:spcPts val="3688"/>
              </a:lnSpc>
              <a:buFont typeface="Arial"/>
              <a:buChar char="•"/>
            </a:pPr>
            <a:r>
              <a:rPr lang="en-US" sz="2634">
                <a:solidFill>
                  <a:srgbClr val="050E9B"/>
                </a:solidFill>
                <a:latin typeface="Monda"/>
                <a:ea typeface="Monda"/>
                <a:cs typeface="Monda"/>
                <a:sym typeface="Monda"/>
              </a:rPr>
              <a:t>Slicer: Month (for seasonal analysis)</a:t>
            </a:r>
          </a:p>
          <a:p>
            <a:pPr algn="just">
              <a:lnSpc>
                <a:spcPts val="3688"/>
              </a:lnSpc>
            </a:pPr>
            <a:r>
              <a:rPr lang="en-US" sz="2634" b="true">
                <a:solidFill>
                  <a:srgbClr val="050E9B"/>
                </a:solidFill>
                <a:latin typeface="Monda Bold"/>
                <a:ea typeface="Monda Bold"/>
                <a:cs typeface="Monda Bold"/>
                <a:sym typeface="Monda Bold"/>
              </a:rPr>
              <a:t>Analytical Goal:</a:t>
            </a:r>
          </a:p>
          <a:p>
            <a:pPr algn="just">
              <a:lnSpc>
                <a:spcPts val="3688"/>
              </a:lnSpc>
            </a:pPr>
            <a:r>
              <a:rPr lang="en-US" sz="2634">
                <a:solidFill>
                  <a:srgbClr val="050E9B"/>
                </a:solidFill>
                <a:latin typeface="Monda"/>
                <a:ea typeface="Monda"/>
                <a:cs typeface="Monda"/>
                <a:sym typeface="Monda"/>
              </a:rPr>
              <a:t> To understand how customer satisfaction and operational choices (shipping, payments, timing) interact to affect overall performance and service quality.</a:t>
            </a:r>
          </a:p>
          <a:p>
            <a:pPr algn="just">
              <a:lnSpc>
                <a:spcPts val="3688"/>
              </a:lnSpc>
            </a:pPr>
            <a:r>
              <a:rPr lang="en-US" sz="2634" b="true">
                <a:solidFill>
                  <a:srgbClr val="050E9B"/>
                </a:solidFill>
                <a:latin typeface="Monda Bold"/>
                <a:ea typeface="Monda Bold"/>
                <a:cs typeface="Monda Bold"/>
                <a:sym typeface="Monda Bold"/>
              </a:rPr>
              <a:t>Design Approach:</a:t>
            </a:r>
          </a:p>
          <a:p>
            <a:pPr algn="just">
              <a:lnSpc>
                <a:spcPts val="3688"/>
              </a:lnSpc>
            </a:pPr>
            <a:r>
              <a:rPr lang="en-US" sz="2634">
                <a:solidFill>
                  <a:srgbClr val="050E9B"/>
                </a:solidFill>
                <a:latin typeface="Monda"/>
                <a:ea typeface="Monda"/>
                <a:cs typeface="Monda"/>
                <a:sym typeface="Monda"/>
              </a:rPr>
              <a:t> A structured, insight-oriented layout combining operational KPIs + customer sentiment metrics for balanced decision-making.</a:t>
            </a:r>
          </a:p>
          <a:p>
            <a:pPr algn="just">
              <a:lnSpc>
                <a:spcPts val="3688"/>
              </a:lnSpc>
            </a:pPr>
          </a:p>
        </p:txBody>
      </p:sp>
    </p:spTree>
  </p:cSld>
  <p:clrMapOvr>
    <a:masterClrMapping/>
  </p:clrMapOvr>
</p:sld>
</file>

<file path=ppt/slides/slide3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2204" t="0" r="-2204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-1584626" y="-740607"/>
            <a:ext cx="4353725" cy="3427569"/>
          </a:xfrm>
          <a:custGeom>
            <a:avLst/>
            <a:gdLst/>
            <a:ahLst/>
            <a:cxnLst/>
            <a:rect r="r" b="b" t="t" l="l"/>
            <a:pathLst>
              <a:path h="3427569" w="4353725">
                <a:moveTo>
                  <a:pt x="0" y="0"/>
                </a:moveTo>
                <a:lnTo>
                  <a:pt x="4353725" y="0"/>
                </a:lnTo>
                <a:lnTo>
                  <a:pt x="4353725" y="3427569"/>
                </a:lnTo>
                <a:lnTo>
                  <a:pt x="0" y="3427569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true" flipV="true" rot="0">
            <a:off x="14645974" y="7042697"/>
            <a:ext cx="5226651" cy="4114800"/>
          </a:xfrm>
          <a:custGeom>
            <a:avLst/>
            <a:gdLst/>
            <a:ahLst/>
            <a:cxnLst/>
            <a:rect r="r" b="b" t="t" l="l"/>
            <a:pathLst>
              <a:path h="4114800" w="5226651">
                <a:moveTo>
                  <a:pt x="5226652" y="4114800"/>
                </a:moveTo>
                <a:lnTo>
                  <a:pt x="0" y="4114800"/>
                </a:lnTo>
                <a:lnTo>
                  <a:pt x="0" y="0"/>
                </a:lnTo>
                <a:lnTo>
                  <a:pt x="5226652" y="0"/>
                </a:lnTo>
                <a:lnTo>
                  <a:pt x="5226652" y="411480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0">
            <a:off x="15729343" y="-740607"/>
            <a:ext cx="3059915" cy="4114800"/>
          </a:xfrm>
          <a:custGeom>
            <a:avLst/>
            <a:gdLst/>
            <a:ahLst/>
            <a:cxnLst/>
            <a:rect r="r" b="b" t="t" l="l"/>
            <a:pathLst>
              <a:path h="4114800" w="3059915">
                <a:moveTo>
                  <a:pt x="0" y="0"/>
                </a:moveTo>
                <a:lnTo>
                  <a:pt x="3059914" y="0"/>
                </a:lnTo>
                <a:lnTo>
                  <a:pt x="3059914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6" id="6"/>
          <p:cNvGrpSpPr/>
          <p:nvPr/>
        </p:nvGrpSpPr>
        <p:grpSpPr>
          <a:xfrm rot="0">
            <a:off x="1523095" y="1316793"/>
            <a:ext cx="14810441" cy="8238421"/>
            <a:chOff x="0" y="0"/>
            <a:chExt cx="2294525" cy="1276347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2294525" cy="1276347"/>
            </a:xfrm>
            <a:custGeom>
              <a:avLst/>
              <a:gdLst/>
              <a:ahLst/>
              <a:cxnLst/>
              <a:rect r="r" b="b" t="t" l="l"/>
              <a:pathLst>
                <a:path h="1276347" w="2294525">
                  <a:moveTo>
                    <a:pt x="12023" y="0"/>
                  </a:moveTo>
                  <a:lnTo>
                    <a:pt x="2282502" y="0"/>
                  </a:lnTo>
                  <a:cubicBezTo>
                    <a:pt x="2285691" y="0"/>
                    <a:pt x="2288749" y="1267"/>
                    <a:pt x="2291003" y="3521"/>
                  </a:cubicBezTo>
                  <a:cubicBezTo>
                    <a:pt x="2293258" y="5776"/>
                    <a:pt x="2294525" y="8834"/>
                    <a:pt x="2294525" y="12023"/>
                  </a:cubicBezTo>
                  <a:lnTo>
                    <a:pt x="2294525" y="1264324"/>
                  </a:lnTo>
                  <a:cubicBezTo>
                    <a:pt x="2294525" y="1267513"/>
                    <a:pt x="2293258" y="1270571"/>
                    <a:pt x="2291003" y="1272826"/>
                  </a:cubicBezTo>
                  <a:cubicBezTo>
                    <a:pt x="2288749" y="1275080"/>
                    <a:pt x="2285691" y="1276347"/>
                    <a:pt x="2282502" y="1276347"/>
                  </a:cubicBezTo>
                  <a:lnTo>
                    <a:pt x="12023" y="1276347"/>
                  </a:lnTo>
                  <a:cubicBezTo>
                    <a:pt x="8834" y="1276347"/>
                    <a:pt x="5776" y="1275080"/>
                    <a:pt x="3521" y="1272826"/>
                  </a:cubicBezTo>
                  <a:cubicBezTo>
                    <a:pt x="1267" y="1270571"/>
                    <a:pt x="0" y="1267513"/>
                    <a:pt x="0" y="1264324"/>
                  </a:cubicBezTo>
                  <a:lnTo>
                    <a:pt x="0" y="12023"/>
                  </a:lnTo>
                  <a:cubicBezTo>
                    <a:pt x="0" y="8834"/>
                    <a:pt x="1267" y="5776"/>
                    <a:pt x="3521" y="3521"/>
                  </a:cubicBezTo>
                  <a:cubicBezTo>
                    <a:pt x="5776" y="1267"/>
                    <a:pt x="8834" y="0"/>
                    <a:pt x="12023" y="0"/>
                  </a:cubicBezTo>
                  <a:close/>
                </a:path>
              </a:pathLst>
            </a:custGeom>
            <a:blipFill>
              <a:blip r:embed="rId7"/>
              <a:stretch>
                <a:fillRect l="0" t="-673" r="0" b="-673"/>
              </a:stretch>
            </a:blipFill>
          </p:spPr>
        </p:sp>
      </p:grpSp>
      <p:sp>
        <p:nvSpPr>
          <p:cNvPr name="TextBox 8" id="8"/>
          <p:cNvSpPr txBox="true"/>
          <p:nvPr/>
        </p:nvSpPr>
        <p:spPr>
          <a:xfrm rot="0">
            <a:off x="3385229" y="23495"/>
            <a:ext cx="11517542" cy="77152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6300"/>
              </a:lnSpc>
            </a:pPr>
            <a:r>
              <a:rPr lang="en-US" b="true" sz="4500">
                <a:solidFill>
                  <a:srgbClr val="050E9B"/>
                </a:solidFill>
                <a:latin typeface="Merriweather Sans Bold"/>
                <a:ea typeface="Merriweather Sans Bold"/>
                <a:cs typeface="Merriweather Sans Bold"/>
                <a:sym typeface="Merriweather Sans Bold"/>
              </a:rPr>
              <a:t>DASHBOARD-4: OVERVIEW</a:t>
            </a:r>
          </a:p>
        </p:txBody>
      </p:sp>
    </p:spTree>
  </p:cSld>
  <p:clrMapOvr>
    <a:masterClrMapping/>
  </p:clrMapOvr>
</p:sld>
</file>

<file path=ppt/slides/slide3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2204" t="0" r="-2204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-1584626" y="-740607"/>
            <a:ext cx="4843718" cy="3813327"/>
          </a:xfrm>
          <a:custGeom>
            <a:avLst/>
            <a:gdLst/>
            <a:ahLst/>
            <a:cxnLst/>
            <a:rect r="r" b="b" t="t" l="l"/>
            <a:pathLst>
              <a:path h="3813327" w="4843718">
                <a:moveTo>
                  <a:pt x="0" y="0"/>
                </a:moveTo>
                <a:lnTo>
                  <a:pt x="4843718" y="0"/>
                </a:lnTo>
                <a:lnTo>
                  <a:pt x="4843718" y="3813327"/>
                </a:lnTo>
                <a:lnTo>
                  <a:pt x="0" y="3813327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true" flipV="true" rot="0">
            <a:off x="14645974" y="7042697"/>
            <a:ext cx="5226651" cy="4114800"/>
          </a:xfrm>
          <a:custGeom>
            <a:avLst/>
            <a:gdLst/>
            <a:ahLst/>
            <a:cxnLst/>
            <a:rect r="r" b="b" t="t" l="l"/>
            <a:pathLst>
              <a:path h="4114800" w="5226651">
                <a:moveTo>
                  <a:pt x="5226652" y="4114800"/>
                </a:moveTo>
                <a:lnTo>
                  <a:pt x="0" y="4114800"/>
                </a:lnTo>
                <a:lnTo>
                  <a:pt x="0" y="0"/>
                </a:lnTo>
                <a:lnTo>
                  <a:pt x="5226652" y="0"/>
                </a:lnTo>
                <a:lnTo>
                  <a:pt x="5226652" y="411480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0">
            <a:off x="15729343" y="-740607"/>
            <a:ext cx="3059915" cy="4114800"/>
          </a:xfrm>
          <a:custGeom>
            <a:avLst/>
            <a:gdLst/>
            <a:ahLst/>
            <a:cxnLst/>
            <a:rect r="r" b="b" t="t" l="l"/>
            <a:pathLst>
              <a:path h="4114800" w="3059915">
                <a:moveTo>
                  <a:pt x="0" y="0"/>
                </a:moveTo>
                <a:lnTo>
                  <a:pt x="3059914" y="0"/>
                </a:lnTo>
                <a:lnTo>
                  <a:pt x="3059914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  <p:graphicFrame>
        <p:nvGraphicFramePr>
          <p:cNvPr name="Object 6" id="6"/>
          <p:cNvGraphicFramePr/>
          <p:nvPr/>
        </p:nvGraphicFramePr>
        <p:xfrm>
          <a:off x="2146072" y="3152832"/>
          <a:ext cx="5657850" cy="4400550"/>
        </p:xfrm>
        <a:graphic>
          <a:graphicData uri="http://schemas.openxmlformats.org/presentationml/2006/ole">
            <p:oleObj imgW="6781800" imgH="5524500" r:id="rId8" progId="Excel.Sheet.12" name="Worksheet">
              <p:embed/>
              <p:pic>
                <p:nvPicPr>
                  <p:cNvPr name="" id="0"/>
                  <p:cNvPicPr/>
                  <p:nvPr/>
                </p:nvPicPr>
                <p:blipFill>
                  <a:blip r:embed="rId7"/>
                  <a:stretch>
                    <a:fillRect/>
                  </a:stretch>
                </p:blipFill>
                <p:spPr>
                  <a:xfrm>
                    <a:off x="1270000" y="1270000"/>
                    <a:ext cx="1270000" cy="1270000"/>
                  </a:xfrm>
                  <a:prstGeom prst="rect"/>
                </p:spPr>
              </p:pic>
            </p:oleObj>
          </a:graphicData>
        </a:graphic>
      </p:graphicFrame>
      <p:sp>
        <p:nvSpPr>
          <p:cNvPr name="TextBox 7" id="7"/>
          <p:cNvSpPr txBox="true"/>
          <p:nvPr/>
        </p:nvSpPr>
        <p:spPr>
          <a:xfrm rot="0">
            <a:off x="1401748" y="365941"/>
            <a:ext cx="15078143" cy="66275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469"/>
              </a:lnSpc>
            </a:pPr>
            <a:r>
              <a:rPr lang="en-US" b="true" sz="3907">
                <a:solidFill>
                  <a:srgbClr val="050E9B"/>
                </a:solidFill>
                <a:latin typeface="Merriweather Sans Bold"/>
                <a:ea typeface="Merriweather Sans Bold"/>
                <a:cs typeface="Merriweather Sans Bold"/>
                <a:sym typeface="Merriweather Sans Bold"/>
              </a:rPr>
              <a:t>KEY KPIS (PRODUCT PERFORMANCE &amp; PREFERENCES)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1735785" y="1259643"/>
            <a:ext cx="13993558" cy="189318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3801"/>
              </a:lnSpc>
            </a:pPr>
            <a:r>
              <a:rPr lang="en-US" sz="2715" b="true">
                <a:solidFill>
                  <a:srgbClr val="050E9B"/>
                </a:solidFill>
                <a:latin typeface="Monda Bold"/>
                <a:ea typeface="Monda Bold"/>
                <a:cs typeface="Monda Bold"/>
                <a:sym typeface="Monda Bold"/>
              </a:rPr>
              <a:t>Objective:</a:t>
            </a:r>
          </a:p>
          <a:p>
            <a:pPr algn="just">
              <a:lnSpc>
                <a:spcPts val="3801"/>
              </a:lnSpc>
            </a:pPr>
            <a:r>
              <a:rPr lang="en-US" sz="2715">
                <a:solidFill>
                  <a:srgbClr val="050E9B"/>
                </a:solidFill>
                <a:latin typeface="Monda"/>
                <a:ea typeface="Monda"/>
                <a:cs typeface="Monda"/>
                <a:sym typeface="Monda"/>
              </a:rPr>
              <a:t>To measure post-purchase experience, operational reliability, and customer satisfaction using feedback, delivery, and payment metrics.</a:t>
            </a:r>
          </a:p>
          <a:p>
            <a:pPr algn="just">
              <a:lnSpc>
                <a:spcPts val="3801"/>
              </a:lnSpc>
            </a:pPr>
          </a:p>
        </p:txBody>
      </p:sp>
    </p:spTree>
  </p:cSld>
  <p:clrMapOvr>
    <a:masterClrMapping/>
  </p:clrMapOvr>
</p:sld>
</file>

<file path=ppt/slides/slide3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2204" t="0" r="-2204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-1584626" y="-740607"/>
            <a:ext cx="4843718" cy="3813327"/>
          </a:xfrm>
          <a:custGeom>
            <a:avLst/>
            <a:gdLst/>
            <a:ahLst/>
            <a:cxnLst/>
            <a:rect r="r" b="b" t="t" l="l"/>
            <a:pathLst>
              <a:path h="3813327" w="4843718">
                <a:moveTo>
                  <a:pt x="0" y="0"/>
                </a:moveTo>
                <a:lnTo>
                  <a:pt x="4843718" y="0"/>
                </a:lnTo>
                <a:lnTo>
                  <a:pt x="4843718" y="3813327"/>
                </a:lnTo>
                <a:lnTo>
                  <a:pt x="0" y="3813327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true" flipV="true" rot="0">
            <a:off x="14645974" y="7042697"/>
            <a:ext cx="5226651" cy="4114800"/>
          </a:xfrm>
          <a:custGeom>
            <a:avLst/>
            <a:gdLst/>
            <a:ahLst/>
            <a:cxnLst/>
            <a:rect r="r" b="b" t="t" l="l"/>
            <a:pathLst>
              <a:path h="4114800" w="5226651">
                <a:moveTo>
                  <a:pt x="5226652" y="4114800"/>
                </a:moveTo>
                <a:lnTo>
                  <a:pt x="0" y="4114800"/>
                </a:lnTo>
                <a:lnTo>
                  <a:pt x="0" y="0"/>
                </a:lnTo>
                <a:lnTo>
                  <a:pt x="5226652" y="0"/>
                </a:lnTo>
                <a:lnTo>
                  <a:pt x="5226652" y="411480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0">
            <a:off x="15729343" y="-740607"/>
            <a:ext cx="3059915" cy="4114800"/>
          </a:xfrm>
          <a:custGeom>
            <a:avLst/>
            <a:gdLst/>
            <a:ahLst/>
            <a:cxnLst/>
            <a:rect r="r" b="b" t="t" l="l"/>
            <a:pathLst>
              <a:path h="4114800" w="3059915">
                <a:moveTo>
                  <a:pt x="0" y="0"/>
                </a:moveTo>
                <a:lnTo>
                  <a:pt x="3059914" y="0"/>
                </a:lnTo>
                <a:lnTo>
                  <a:pt x="3059914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6" id="6"/>
          <p:cNvSpPr txBox="true"/>
          <p:nvPr/>
        </p:nvSpPr>
        <p:spPr>
          <a:xfrm rot="0">
            <a:off x="1401748" y="316321"/>
            <a:ext cx="15078143" cy="134855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469"/>
              </a:lnSpc>
            </a:pPr>
            <a:r>
              <a:rPr lang="en-US" b="true" sz="3907">
                <a:solidFill>
                  <a:srgbClr val="050E9B"/>
                </a:solidFill>
                <a:latin typeface="Merriweather Sans Bold"/>
                <a:ea typeface="Merriweather Sans Bold"/>
                <a:cs typeface="Merriweather Sans Bold"/>
                <a:sym typeface="Merriweather Sans Bold"/>
              </a:rPr>
              <a:t>ROOT CAUSE ANALYSIS (DASHBOARD 4: OPERATIONAL &amp; FEEDBACK INSIGHTS)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1028700" y="1837793"/>
            <a:ext cx="15078143" cy="856068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3801"/>
              </a:lnSpc>
            </a:pPr>
            <a:r>
              <a:rPr lang="en-US" sz="2715">
                <a:solidFill>
                  <a:srgbClr val="050E9B"/>
                </a:solidFill>
                <a:latin typeface="Monda"/>
                <a:ea typeface="Monda"/>
                <a:cs typeface="Monda"/>
                <a:sym typeface="Monda"/>
              </a:rPr>
              <a:t>RCA 1 – Customer Feedback Sentiment</a:t>
            </a:r>
          </a:p>
          <a:p>
            <a:pPr algn="just" marL="586175" indent="-293087" lvl="1">
              <a:lnSpc>
                <a:spcPts val="3801"/>
              </a:lnSpc>
              <a:buFont typeface="Arial"/>
              <a:buChar char="•"/>
            </a:pPr>
            <a:r>
              <a:rPr lang="en-US" sz="2715">
                <a:solidFill>
                  <a:srgbClr val="050E9B"/>
                </a:solidFill>
                <a:latin typeface="Monda"/>
                <a:ea typeface="Monda"/>
                <a:cs typeface="Monda"/>
                <a:sym typeface="Monda"/>
              </a:rPr>
              <a:t>33.38% Excellent and 31.7% Good feedback dominate.</a:t>
            </a:r>
          </a:p>
          <a:p>
            <a:pPr algn="just" marL="586175" indent="-293087" lvl="1">
              <a:lnSpc>
                <a:spcPts val="3801"/>
              </a:lnSpc>
              <a:buFont typeface="Arial"/>
              <a:buChar char="•"/>
            </a:pPr>
            <a:r>
              <a:rPr lang="en-US" sz="2715">
                <a:solidFill>
                  <a:srgbClr val="050E9B"/>
                </a:solidFill>
                <a:latin typeface="Monda"/>
                <a:ea typeface="Monda"/>
                <a:cs typeface="Monda"/>
                <a:sym typeface="Monda"/>
              </a:rPr>
              <a:t>However, 34% of responses (Average/Bad) indicate moderate service satisfaction.</a:t>
            </a:r>
          </a:p>
          <a:p>
            <a:pPr algn="just" marL="586175" indent="-293087" lvl="1">
              <a:lnSpc>
                <a:spcPts val="3801"/>
              </a:lnSpc>
              <a:buFont typeface="Arial"/>
              <a:buChar char="•"/>
            </a:pPr>
            <a:r>
              <a:rPr lang="en-US" sz="2715">
                <a:solidFill>
                  <a:srgbClr val="050E9B"/>
                </a:solidFill>
                <a:latin typeface="Monda"/>
                <a:ea typeface="Monda"/>
                <a:cs typeface="Monda"/>
                <a:sym typeface="Monda"/>
              </a:rPr>
              <a:t>Common reasons: shipping delays, packaging issues, and inconsistent communication.</a:t>
            </a:r>
          </a:p>
          <a:p>
            <a:pPr algn="just">
              <a:lnSpc>
                <a:spcPts val="3801"/>
              </a:lnSpc>
            </a:pPr>
            <a:r>
              <a:rPr lang="en-US" sz="2715">
                <a:solidFill>
                  <a:srgbClr val="050E9B"/>
                </a:solidFill>
                <a:latin typeface="Monda"/>
                <a:ea typeface="Monda"/>
                <a:cs typeface="Monda"/>
                <a:sym typeface="Monda"/>
              </a:rPr>
              <a:t>RCA 2 – Customer Ratings Distribution</a:t>
            </a:r>
          </a:p>
          <a:p>
            <a:pPr algn="just" marL="586175" indent="-293087" lvl="1">
              <a:lnSpc>
                <a:spcPts val="3801"/>
              </a:lnSpc>
              <a:buFont typeface="Arial"/>
              <a:buChar char="•"/>
            </a:pPr>
            <a:r>
              <a:rPr lang="en-US" sz="2715">
                <a:solidFill>
                  <a:srgbClr val="050E9B"/>
                </a:solidFill>
                <a:latin typeface="Monda"/>
                <a:ea typeface="Monda"/>
                <a:cs typeface="Monda"/>
                <a:sym typeface="Monda"/>
              </a:rPr>
              <a:t>4★ (58K) and 5★ (30K) ratings form the majority.</a:t>
            </a:r>
          </a:p>
          <a:p>
            <a:pPr algn="just" marL="586175" indent="-293087" lvl="1">
              <a:lnSpc>
                <a:spcPts val="3801"/>
              </a:lnSpc>
              <a:buFont typeface="Arial"/>
              <a:buChar char="•"/>
            </a:pPr>
            <a:r>
              <a:rPr lang="en-US" sz="2715">
                <a:solidFill>
                  <a:srgbClr val="050E9B"/>
                </a:solidFill>
                <a:latin typeface="Monda"/>
                <a:ea typeface="Monda"/>
                <a:cs typeface="Monda"/>
                <a:sym typeface="Monda"/>
              </a:rPr>
              <a:t>Mid-tier ratings (2★–3★) suggest experience gaps post-purchase.</a:t>
            </a:r>
          </a:p>
          <a:p>
            <a:pPr algn="just" marL="586175" indent="-293087" lvl="1">
              <a:lnSpc>
                <a:spcPts val="3801"/>
              </a:lnSpc>
              <a:buFont typeface="Arial"/>
              <a:buChar char="•"/>
            </a:pPr>
            <a:r>
              <a:rPr lang="en-US" sz="2715">
                <a:solidFill>
                  <a:srgbClr val="050E9B"/>
                </a:solidFill>
                <a:latin typeface="Monda"/>
                <a:ea typeface="Monda"/>
                <a:cs typeface="Monda"/>
                <a:sym typeface="Monda"/>
              </a:rPr>
              <a:t>Reflects imbalance between customer expectations and service delivery.</a:t>
            </a:r>
          </a:p>
          <a:p>
            <a:pPr algn="just">
              <a:lnSpc>
                <a:spcPts val="3801"/>
              </a:lnSpc>
            </a:pPr>
            <a:r>
              <a:rPr lang="en-US" sz="2715">
                <a:solidFill>
                  <a:srgbClr val="050E9B"/>
                </a:solidFill>
                <a:latin typeface="Monda"/>
                <a:ea typeface="Monda"/>
                <a:cs typeface="Monda"/>
                <a:sym typeface="Monda"/>
              </a:rPr>
              <a:t>RCA 3 – Payment Method Distribution</a:t>
            </a:r>
          </a:p>
          <a:p>
            <a:pPr algn="just" marL="586175" indent="-293087" lvl="1">
              <a:lnSpc>
                <a:spcPts val="3801"/>
              </a:lnSpc>
              <a:buFont typeface="Arial"/>
              <a:buChar char="•"/>
            </a:pPr>
            <a:r>
              <a:rPr lang="en-US" sz="2715">
                <a:solidFill>
                  <a:srgbClr val="050E9B"/>
                </a:solidFill>
                <a:latin typeface="Monda"/>
                <a:ea typeface="Monda"/>
                <a:cs typeface="Monda"/>
                <a:sym typeface="Monda"/>
              </a:rPr>
              <a:t>Credit Card (29.77%) is most preferred, followed by Debit Card (25.55%), Cash (24.12%), and PayPal (20.45%).</a:t>
            </a:r>
          </a:p>
          <a:p>
            <a:pPr algn="just" marL="586175" indent="-293087" lvl="1">
              <a:lnSpc>
                <a:spcPts val="3801"/>
              </a:lnSpc>
              <a:buFont typeface="Arial"/>
              <a:buChar char="•"/>
            </a:pPr>
            <a:r>
              <a:rPr lang="en-US" sz="2715">
                <a:solidFill>
                  <a:srgbClr val="050E9B"/>
                </a:solidFill>
                <a:latin typeface="Monda"/>
                <a:ea typeface="Monda"/>
                <a:cs typeface="Monda"/>
                <a:sym typeface="Monda"/>
              </a:rPr>
              <a:t>Indicates customer trust in digital modes.</a:t>
            </a:r>
          </a:p>
          <a:p>
            <a:pPr algn="just" marL="586175" indent="-293087" lvl="1">
              <a:lnSpc>
                <a:spcPts val="3801"/>
              </a:lnSpc>
              <a:buFont typeface="Arial"/>
              <a:buChar char="•"/>
            </a:pPr>
            <a:r>
              <a:rPr lang="en-US" sz="2715">
                <a:solidFill>
                  <a:srgbClr val="050E9B"/>
                </a:solidFill>
                <a:latin typeface="Monda"/>
                <a:ea typeface="Monda"/>
                <a:cs typeface="Monda"/>
                <a:sym typeface="Monda"/>
              </a:rPr>
              <a:t>Low PayPal usage may be due to limited availability or regional preference.</a:t>
            </a:r>
          </a:p>
          <a:p>
            <a:pPr algn="just">
              <a:lnSpc>
                <a:spcPts val="3801"/>
              </a:lnSpc>
            </a:pPr>
            <a:r>
              <a:rPr lang="en-US" sz="2715">
                <a:solidFill>
                  <a:srgbClr val="050E9B"/>
                </a:solidFill>
                <a:latin typeface="Monda"/>
                <a:ea typeface="Monda"/>
                <a:cs typeface="Monda"/>
                <a:sym typeface="Monda"/>
              </a:rPr>
              <a:t>RCA 4 – Order Volume by Shipping Method</a:t>
            </a:r>
          </a:p>
          <a:p>
            <a:pPr algn="just" marL="586175" indent="-293087" lvl="1">
              <a:lnSpc>
                <a:spcPts val="3801"/>
              </a:lnSpc>
              <a:buFont typeface="Arial"/>
              <a:buChar char="•"/>
            </a:pPr>
            <a:r>
              <a:rPr lang="en-US" sz="2715">
                <a:solidFill>
                  <a:srgbClr val="050E9B"/>
                </a:solidFill>
                <a:latin typeface="Monda"/>
                <a:ea typeface="Monda"/>
                <a:cs typeface="Monda"/>
                <a:sym typeface="Monda"/>
              </a:rPr>
              <a:t>Same-Day (61K) and Express (60K) nearly equal; Standard slightly lower (56K).</a:t>
            </a:r>
          </a:p>
          <a:p>
            <a:pPr algn="just" marL="586175" indent="-293087" lvl="1">
              <a:lnSpc>
                <a:spcPts val="3801"/>
              </a:lnSpc>
              <a:buFont typeface="Arial"/>
              <a:buChar char="•"/>
            </a:pPr>
            <a:r>
              <a:rPr lang="en-US" sz="2715">
                <a:solidFill>
                  <a:srgbClr val="050E9B"/>
                </a:solidFill>
                <a:latin typeface="Monda"/>
                <a:ea typeface="Monda"/>
                <a:cs typeface="Monda"/>
                <a:sym typeface="Monda"/>
              </a:rPr>
              <a:t>Suggests high demand for quick fulfillment.</a:t>
            </a:r>
          </a:p>
          <a:p>
            <a:pPr algn="just" marL="586175" indent="-293087" lvl="1">
              <a:lnSpc>
                <a:spcPts val="3801"/>
              </a:lnSpc>
              <a:buFont typeface="Arial"/>
              <a:buChar char="•"/>
            </a:pPr>
            <a:r>
              <a:rPr lang="en-US" sz="2715">
                <a:solidFill>
                  <a:srgbClr val="050E9B"/>
                </a:solidFill>
                <a:latin typeface="Monda"/>
                <a:ea typeface="Monda"/>
                <a:cs typeface="Monda"/>
                <a:sym typeface="Monda"/>
              </a:rPr>
              <a:t>Reflects increasing preference for faster deliveries despite potential cost differences.</a:t>
            </a:r>
          </a:p>
          <a:p>
            <a:pPr algn="just">
              <a:lnSpc>
                <a:spcPts val="3801"/>
              </a:lnSpc>
            </a:pPr>
          </a:p>
        </p:txBody>
      </p:sp>
    </p:spTree>
  </p:cSld>
  <p:clrMapOvr>
    <a:masterClrMapping/>
  </p:clrMapOvr>
</p:sld>
</file>

<file path=ppt/slides/slide3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2204" t="0" r="-2204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-1584626" y="-740607"/>
            <a:ext cx="4843718" cy="3813327"/>
          </a:xfrm>
          <a:custGeom>
            <a:avLst/>
            <a:gdLst/>
            <a:ahLst/>
            <a:cxnLst/>
            <a:rect r="r" b="b" t="t" l="l"/>
            <a:pathLst>
              <a:path h="3813327" w="4843718">
                <a:moveTo>
                  <a:pt x="0" y="0"/>
                </a:moveTo>
                <a:lnTo>
                  <a:pt x="4843718" y="0"/>
                </a:lnTo>
                <a:lnTo>
                  <a:pt x="4843718" y="3813327"/>
                </a:lnTo>
                <a:lnTo>
                  <a:pt x="0" y="3813327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true" flipV="true" rot="0">
            <a:off x="14645974" y="7042697"/>
            <a:ext cx="5226651" cy="4114800"/>
          </a:xfrm>
          <a:custGeom>
            <a:avLst/>
            <a:gdLst/>
            <a:ahLst/>
            <a:cxnLst/>
            <a:rect r="r" b="b" t="t" l="l"/>
            <a:pathLst>
              <a:path h="4114800" w="5226651">
                <a:moveTo>
                  <a:pt x="5226652" y="4114800"/>
                </a:moveTo>
                <a:lnTo>
                  <a:pt x="0" y="4114800"/>
                </a:lnTo>
                <a:lnTo>
                  <a:pt x="0" y="0"/>
                </a:lnTo>
                <a:lnTo>
                  <a:pt x="5226652" y="0"/>
                </a:lnTo>
                <a:lnTo>
                  <a:pt x="5226652" y="411480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0">
            <a:off x="15729343" y="-740607"/>
            <a:ext cx="3059915" cy="4114800"/>
          </a:xfrm>
          <a:custGeom>
            <a:avLst/>
            <a:gdLst/>
            <a:ahLst/>
            <a:cxnLst/>
            <a:rect r="r" b="b" t="t" l="l"/>
            <a:pathLst>
              <a:path h="4114800" w="3059915">
                <a:moveTo>
                  <a:pt x="0" y="0"/>
                </a:moveTo>
                <a:lnTo>
                  <a:pt x="3059914" y="0"/>
                </a:lnTo>
                <a:lnTo>
                  <a:pt x="3059914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6" id="6"/>
          <p:cNvSpPr txBox="true"/>
          <p:nvPr/>
        </p:nvSpPr>
        <p:spPr>
          <a:xfrm rot="0">
            <a:off x="1401748" y="316321"/>
            <a:ext cx="15078143" cy="134855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469"/>
              </a:lnSpc>
            </a:pPr>
            <a:r>
              <a:rPr lang="en-US" b="true" sz="3907">
                <a:solidFill>
                  <a:srgbClr val="050E9B"/>
                </a:solidFill>
                <a:latin typeface="Merriweather Sans Bold"/>
                <a:ea typeface="Merriweather Sans Bold"/>
                <a:cs typeface="Merriweather Sans Bold"/>
                <a:sym typeface="Merriweather Sans Bold"/>
              </a:rPr>
              <a:t>ROOT CAUSE ANALYSIS (DASHBOARD 4: OPERATIONAL &amp; FEEDBACK INSIGHTS)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1028700" y="1726312"/>
            <a:ext cx="15078143" cy="856068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3801"/>
              </a:lnSpc>
            </a:pPr>
            <a:r>
              <a:rPr lang="en-US" sz="2715">
                <a:solidFill>
                  <a:srgbClr val="050E9B"/>
                </a:solidFill>
                <a:latin typeface="Monda"/>
                <a:ea typeface="Monda"/>
                <a:cs typeface="Monda"/>
                <a:sym typeface="Monda"/>
              </a:rPr>
              <a:t>RCA 5 – Peak Shopping Hours</a:t>
            </a:r>
          </a:p>
          <a:p>
            <a:pPr algn="just" marL="586175" indent="-293087" lvl="1">
              <a:lnSpc>
                <a:spcPts val="3801"/>
              </a:lnSpc>
              <a:buFont typeface="Arial"/>
              <a:buChar char="•"/>
            </a:pPr>
            <a:r>
              <a:rPr lang="en-US" sz="2715">
                <a:solidFill>
                  <a:srgbClr val="050E9B"/>
                </a:solidFill>
                <a:latin typeface="Monda"/>
                <a:ea typeface="Monda"/>
                <a:cs typeface="Monda"/>
                <a:sym typeface="Monda"/>
              </a:rPr>
              <a:t>Night (9 PM–5 AM) records the highest order volume (~59K).</a:t>
            </a:r>
          </a:p>
          <a:p>
            <a:pPr algn="just" marL="586175" indent="-293087" lvl="1">
              <a:lnSpc>
                <a:spcPts val="3801"/>
              </a:lnSpc>
              <a:buFont typeface="Arial"/>
              <a:buChar char="•"/>
            </a:pPr>
            <a:r>
              <a:rPr lang="en-US" sz="2715">
                <a:solidFill>
                  <a:srgbClr val="050E9B"/>
                </a:solidFill>
                <a:latin typeface="Monda"/>
                <a:ea typeface="Monda"/>
                <a:cs typeface="Monda"/>
                <a:sym typeface="Monda"/>
              </a:rPr>
              <a:t>Morning (5 AM–12 PM) follows with ~52K orders.</a:t>
            </a:r>
          </a:p>
          <a:p>
            <a:pPr algn="just" marL="586175" indent="-293087" lvl="1">
              <a:lnSpc>
                <a:spcPts val="3801"/>
              </a:lnSpc>
              <a:buFont typeface="Arial"/>
              <a:buChar char="•"/>
            </a:pPr>
            <a:r>
              <a:rPr lang="en-US" sz="2715">
                <a:solidFill>
                  <a:srgbClr val="050E9B"/>
                </a:solidFill>
                <a:latin typeface="Monda"/>
                <a:ea typeface="Monda"/>
                <a:cs typeface="Monda"/>
                <a:sym typeface="Monda"/>
              </a:rPr>
              <a:t>Customer activity peaks during non-working hours → preference for convenience and late-night browsing.</a:t>
            </a:r>
          </a:p>
          <a:p>
            <a:pPr algn="just" marL="586175" indent="-293087" lvl="1">
              <a:lnSpc>
                <a:spcPts val="3801"/>
              </a:lnSpc>
              <a:buFont typeface="Arial"/>
              <a:buChar char="•"/>
            </a:pPr>
            <a:r>
              <a:rPr lang="en-US" sz="2715">
                <a:solidFill>
                  <a:srgbClr val="050E9B"/>
                </a:solidFill>
                <a:latin typeface="Monda"/>
                <a:ea typeface="Monda"/>
                <a:cs typeface="Monda"/>
                <a:sym typeface="Monda"/>
              </a:rPr>
              <a:t>Indicates potential for targeted night-time promotions or flash sales.</a:t>
            </a:r>
          </a:p>
          <a:p>
            <a:pPr algn="just">
              <a:lnSpc>
                <a:spcPts val="3801"/>
              </a:lnSpc>
            </a:pPr>
            <a:r>
              <a:rPr lang="en-US" sz="2715">
                <a:solidFill>
                  <a:srgbClr val="050E9B"/>
                </a:solidFill>
                <a:latin typeface="Monda"/>
                <a:ea typeface="Monda"/>
                <a:cs typeface="Monda"/>
                <a:sym typeface="Monda"/>
              </a:rPr>
              <a:t>RCA 6 – Feedback vs Delivery Status (Matrix Table)</a:t>
            </a:r>
          </a:p>
          <a:p>
            <a:pPr algn="just" marL="586175" indent="-293087" lvl="1">
              <a:lnSpc>
                <a:spcPts val="3801"/>
              </a:lnSpc>
              <a:buFont typeface="Arial"/>
              <a:buChar char="•"/>
            </a:pPr>
            <a:r>
              <a:rPr lang="en-US" sz="2715">
                <a:solidFill>
                  <a:srgbClr val="050E9B"/>
                </a:solidFill>
                <a:latin typeface="Monda"/>
                <a:ea typeface="Monda"/>
                <a:cs typeface="Monda"/>
                <a:sym typeface="Monda"/>
              </a:rPr>
              <a:t>“Excellent” feedback strongly correlates with Delivered / On-Time orders (~24K+).</a:t>
            </a:r>
          </a:p>
          <a:p>
            <a:pPr algn="just" marL="586175" indent="-293087" lvl="1">
              <a:lnSpc>
                <a:spcPts val="3801"/>
              </a:lnSpc>
              <a:buFont typeface="Arial"/>
              <a:buChar char="•"/>
            </a:pPr>
            <a:r>
              <a:rPr lang="en-US" sz="2715">
                <a:solidFill>
                  <a:srgbClr val="050E9B"/>
                </a:solidFill>
                <a:latin typeface="Monda"/>
                <a:ea typeface="Monda"/>
                <a:cs typeface="Monda"/>
                <a:sym typeface="Monda"/>
              </a:rPr>
              <a:t>“Bad” feedback mostly linked to Pending / Processing / Delayed orders (~11K+).</a:t>
            </a:r>
          </a:p>
          <a:p>
            <a:pPr algn="just" marL="586175" indent="-293087" lvl="1">
              <a:lnSpc>
                <a:spcPts val="3801"/>
              </a:lnSpc>
              <a:buFont typeface="Arial"/>
              <a:buChar char="•"/>
            </a:pPr>
            <a:r>
              <a:rPr lang="en-US" sz="2715">
                <a:solidFill>
                  <a:srgbClr val="050E9B"/>
                </a:solidFill>
                <a:latin typeface="Monda"/>
                <a:ea typeface="Monda"/>
                <a:cs typeface="Monda"/>
                <a:sym typeface="Monda"/>
              </a:rPr>
              <a:t>Highlights that delivery performance directly impacts customer sentiment.</a:t>
            </a:r>
          </a:p>
          <a:p>
            <a:pPr algn="just">
              <a:lnSpc>
                <a:spcPts val="3801"/>
              </a:lnSpc>
            </a:pPr>
            <a:r>
              <a:rPr lang="en-US" sz="2715">
                <a:solidFill>
                  <a:srgbClr val="050E9B"/>
                </a:solidFill>
                <a:latin typeface="Monda"/>
                <a:ea typeface="Monda"/>
                <a:cs typeface="Monda"/>
                <a:sym typeface="Monda"/>
              </a:rPr>
              <a:t>RCA 7 – Average Delivery Score (DAX Measure)</a:t>
            </a:r>
          </a:p>
          <a:p>
            <a:pPr algn="just" marL="586175" indent="-293087" lvl="1">
              <a:lnSpc>
                <a:spcPts val="3801"/>
              </a:lnSpc>
              <a:buFont typeface="Arial"/>
              <a:buChar char="•"/>
            </a:pPr>
            <a:r>
              <a:rPr lang="en-US" sz="2715">
                <a:solidFill>
                  <a:srgbClr val="050E9B"/>
                </a:solidFill>
                <a:latin typeface="Monda"/>
                <a:ea typeface="Monda"/>
                <a:cs typeface="Monda"/>
                <a:sym typeface="Monda"/>
              </a:rPr>
              <a:t>Calculated using:</a:t>
            </a:r>
          </a:p>
          <a:p>
            <a:pPr algn="just" marL="586175" indent="-293087" lvl="1">
              <a:lnSpc>
                <a:spcPts val="3801"/>
              </a:lnSpc>
              <a:buFont typeface="Arial"/>
              <a:buChar char="•"/>
            </a:pPr>
            <a:r>
              <a:rPr lang="en-US" sz="2715">
                <a:solidFill>
                  <a:srgbClr val="050E9B"/>
                </a:solidFill>
                <a:latin typeface="Monda"/>
                <a:ea typeface="Monda"/>
                <a:cs typeface="Monda"/>
                <a:sym typeface="Monda"/>
              </a:rPr>
              <a:t> AVERAGEX(df_time_cleaned, SWITCH([Shipping_Method], "Same-Day", 1, "Express", 2, "Standard", 3))</a:t>
            </a:r>
          </a:p>
          <a:p>
            <a:pPr algn="just" marL="586175" indent="-293087" lvl="1">
              <a:lnSpc>
                <a:spcPts val="3801"/>
              </a:lnSpc>
              <a:buFont typeface="Arial"/>
              <a:buChar char="•"/>
            </a:pPr>
            <a:r>
              <a:rPr lang="en-US" sz="2715">
                <a:solidFill>
                  <a:srgbClr val="050E9B"/>
                </a:solidFill>
                <a:latin typeface="Monda"/>
                <a:ea typeface="Monda"/>
                <a:cs typeface="Monda"/>
                <a:sym typeface="Monda"/>
              </a:rPr>
              <a:t>Current score ≈ 1.97, showing moderate efficiency.</a:t>
            </a:r>
          </a:p>
          <a:p>
            <a:pPr algn="just" marL="586175" indent="-293087" lvl="1">
              <a:lnSpc>
                <a:spcPts val="3801"/>
              </a:lnSpc>
              <a:buFont typeface="Arial"/>
              <a:buChar char="•"/>
            </a:pPr>
            <a:r>
              <a:rPr lang="en-US" sz="2715">
                <a:solidFill>
                  <a:srgbClr val="050E9B"/>
                </a:solidFill>
                <a:latin typeface="Monda"/>
                <a:ea typeface="Monda"/>
                <a:cs typeface="Monda"/>
                <a:sym typeface="Monda"/>
              </a:rPr>
              <a:t>Lower score implies timely deliveries but room to further improve Express and Standard timelines.</a:t>
            </a:r>
          </a:p>
          <a:p>
            <a:pPr algn="just">
              <a:lnSpc>
                <a:spcPts val="3801"/>
              </a:lnSpc>
            </a:pPr>
          </a:p>
        </p:txBody>
      </p:sp>
    </p:spTree>
  </p:cSld>
  <p:clrMapOvr>
    <a:masterClrMapping/>
  </p:clrMapOvr>
</p:sld>
</file>

<file path=ppt/slides/slide3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2204" t="0" r="-2204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-1584626" y="-740607"/>
            <a:ext cx="4843718" cy="3813327"/>
          </a:xfrm>
          <a:custGeom>
            <a:avLst/>
            <a:gdLst/>
            <a:ahLst/>
            <a:cxnLst/>
            <a:rect r="r" b="b" t="t" l="l"/>
            <a:pathLst>
              <a:path h="3813327" w="4843718">
                <a:moveTo>
                  <a:pt x="0" y="0"/>
                </a:moveTo>
                <a:lnTo>
                  <a:pt x="4843718" y="0"/>
                </a:lnTo>
                <a:lnTo>
                  <a:pt x="4843718" y="3813327"/>
                </a:lnTo>
                <a:lnTo>
                  <a:pt x="0" y="3813327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true" flipV="true" rot="0">
            <a:off x="14645974" y="7042697"/>
            <a:ext cx="5226651" cy="4114800"/>
          </a:xfrm>
          <a:custGeom>
            <a:avLst/>
            <a:gdLst/>
            <a:ahLst/>
            <a:cxnLst/>
            <a:rect r="r" b="b" t="t" l="l"/>
            <a:pathLst>
              <a:path h="4114800" w="5226651">
                <a:moveTo>
                  <a:pt x="5226652" y="4114800"/>
                </a:moveTo>
                <a:lnTo>
                  <a:pt x="0" y="4114800"/>
                </a:lnTo>
                <a:lnTo>
                  <a:pt x="0" y="0"/>
                </a:lnTo>
                <a:lnTo>
                  <a:pt x="5226652" y="0"/>
                </a:lnTo>
                <a:lnTo>
                  <a:pt x="5226652" y="411480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0">
            <a:off x="15729343" y="-740607"/>
            <a:ext cx="3059915" cy="4114800"/>
          </a:xfrm>
          <a:custGeom>
            <a:avLst/>
            <a:gdLst/>
            <a:ahLst/>
            <a:cxnLst/>
            <a:rect r="r" b="b" t="t" l="l"/>
            <a:pathLst>
              <a:path h="4114800" w="3059915">
                <a:moveTo>
                  <a:pt x="0" y="0"/>
                </a:moveTo>
                <a:lnTo>
                  <a:pt x="3059914" y="0"/>
                </a:lnTo>
                <a:lnTo>
                  <a:pt x="3059914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0">
            <a:off x="1028700" y="2403499"/>
            <a:ext cx="8420433" cy="5085608"/>
          </a:xfrm>
          <a:custGeom>
            <a:avLst/>
            <a:gdLst/>
            <a:ahLst/>
            <a:cxnLst/>
            <a:rect r="r" b="b" t="t" l="l"/>
            <a:pathLst>
              <a:path h="5085608" w="8420433">
                <a:moveTo>
                  <a:pt x="0" y="0"/>
                </a:moveTo>
                <a:lnTo>
                  <a:pt x="8420433" y="0"/>
                </a:lnTo>
                <a:lnTo>
                  <a:pt x="8420433" y="5085608"/>
                </a:lnTo>
                <a:lnTo>
                  <a:pt x="0" y="5085608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>
              <a:fillRect l="0" t="0" r="0" b="0"/>
            </a:stretch>
          </a:blipFill>
        </p:spPr>
      </p:sp>
      <p:sp>
        <p:nvSpPr>
          <p:cNvPr name="Freeform 7" id="7"/>
          <p:cNvSpPr/>
          <p:nvPr/>
        </p:nvSpPr>
        <p:spPr>
          <a:xfrm flipH="false" flipV="false" rot="0">
            <a:off x="10300191" y="2403499"/>
            <a:ext cx="6179700" cy="5056118"/>
          </a:xfrm>
          <a:custGeom>
            <a:avLst/>
            <a:gdLst/>
            <a:ahLst/>
            <a:cxnLst/>
            <a:rect r="r" b="b" t="t" l="l"/>
            <a:pathLst>
              <a:path h="5056118" w="6179700">
                <a:moveTo>
                  <a:pt x="0" y="0"/>
                </a:moveTo>
                <a:lnTo>
                  <a:pt x="6179700" y="0"/>
                </a:lnTo>
                <a:lnTo>
                  <a:pt x="6179700" y="5056118"/>
                </a:lnTo>
                <a:lnTo>
                  <a:pt x="0" y="5056118"/>
                </a:lnTo>
                <a:lnTo>
                  <a:pt x="0" y="0"/>
                </a:lnTo>
                <a:close/>
              </a:path>
            </a:pathLst>
          </a:custGeom>
          <a:blipFill>
            <a:blip r:embed="rId8"/>
            <a:stretch>
              <a:fillRect l="0" t="0" r="0" b="0"/>
            </a:stretch>
          </a:blipFill>
        </p:spPr>
      </p:sp>
      <p:sp>
        <p:nvSpPr>
          <p:cNvPr name="TextBox 8" id="8"/>
          <p:cNvSpPr txBox="true"/>
          <p:nvPr/>
        </p:nvSpPr>
        <p:spPr>
          <a:xfrm rot="0">
            <a:off x="1401748" y="316321"/>
            <a:ext cx="15078143" cy="66275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469"/>
              </a:lnSpc>
            </a:pPr>
            <a:r>
              <a:rPr lang="en-US" b="true" sz="3907">
                <a:solidFill>
                  <a:srgbClr val="050E9B"/>
                </a:solidFill>
                <a:latin typeface="Merriweather Sans Bold"/>
                <a:ea typeface="Merriweather Sans Bold"/>
                <a:cs typeface="Merriweather Sans Bold"/>
                <a:sym typeface="Merriweather Sans Bold"/>
              </a:rPr>
              <a:t>ROOT CAUSE ANALYSIS (DASHBOARD 4)</a:t>
            </a:r>
          </a:p>
        </p:txBody>
      </p:sp>
    </p:spTree>
  </p:cSld>
  <p:clrMapOvr>
    <a:masterClrMapping/>
  </p:clrMapOvr>
</p:sld>
</file>

<file path=ppt/slides/slide3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2204" t="0" r="-2204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-1584626" y="-740607"/>
            <a:ext cx="4082151" cy="3213766"/>
          </a:xfrm>
          <a:custGeom>
            <a:avLst/>
            <a:gdLst/>
            <a:ahLst/>
            <a:cxnLst/>
            <a:rect r="r" b="b" t="t" l="l"/>
            <a:pathLst>
              <a:path h="3213766" w="4082151">
                <a:moveTo>
                  <a:pt x="0" y="0"/>
                </a:moveTo>
                <a:lnTo>
                  <a:pt x="4082151" y="0"/>
                </a:lnTo>
                <a:lnTo>
                  <a:pt x="4082151" y="3213766"/>
                </a:lnTo>
                <a:lnTo>
                  <a:pt x="0" y="3213766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true" flipV="true" rot="0">
            <a:off x="15729343" y="7895603"/>
            <a:ext cx="4143283" cy="3261894"/>
          </a:xfrm>
          <a:custGeom>
            <a:avLst/>
            <a:gdLst/>
            <a:ahLst/>
            <a:cxnLst/>
            <a:rect r="r" b="b" t="t" l="l"/>
            <a:pathLst>
              <a:path h="3261894" w="4143283">
                <a:moveTo>
                  <a:pt x="4143283" y="3261894"/>
                </a:moveTo>
                <a:lnTo>
                  <a:pt x="0" y="3261894"/>
                </a:lnTo>
                <a:lnTo>
                  <a:pt x="0" y="0"/>
                </a:lnTo>
                <a:lnTo>
                  <a:pt x="4143283" y="0"/>
                </a:lnTo>
                <a:lnTo>
                  <a:pt x="4143283" y="3261894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0">
            <a:off x="15729343" y="-740607"/>
            <a:ext cx="3059915" cy="4114800"/>
          </a:xfrm>
          <a:custGeom>
            <a:avLst/>
            <a:gdLst/>
            <a:ahLst/>
            <a:cxnLst/>
            <a:rect r="r" b="b" t="t" l="l"/>
            <a:pathLst>
              <a:path h="4114800" w="3059915">
                <a:moveTo>
                  <a:pt x="0" y="0"/>
                </a:moveTo>
                <a:lnTo>
                  <a:pt x="3059914" y="0"/>
                </a:lnTo>
                <a:lnTo>
                  <a:pt x="3059914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6" id="6"/>
          <p:cNvSpPr txBox="true"/>
          <p:nvPr/>
        </p:nvSpPr>
        <p:spPr>
          <a:xfrm rot="0">
            <a:off x="2497525" y="200115"/>
            <a:ext cx="13231817" cy="77134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6309"/>
              </a:lnSpc>
            </a:pPr>
            <a:r>
              <a:rPr lang="en-US" b="true" sz="4507">
                <a:solidFill>
                  <a:srgbClr val="050E9B"/>
                </a:solidFill>
                <a:latin typeface="Merriweather Sans Bold"/>
                <a:ea typeface="Merriweather Sans Bold"/>
                <a:cs typeface="Merriweather Sans Bold"/>
                <a:sym typeface="Merriweather Sans Bold"/>
              </a:rPr>
              <a:t>RECOMMENDATIONS &amp; INSIGHTS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700808" y="1512782"/>
            <a:ext cx="16558492" cy="851931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3596"/>
              </a:lnSpc>
            </a:pPr>
            <a:r>
              <a:rPr lang="en-US" sz="2568" b="true">
                <a:solidFill>
                  <a:srgbClr val="050E9B"/>
                </a:solidFill>
                <a:latin typeface="Monda Bold"/>
                <a:ea typeface="Monda Bold"/>
                <a:cs typeface="Monda Bold"/>
                <a:sym typeface="Monda Bold"/>
              </a:rPr>
              <a:t>1. Customer Experience Enhancement</a:t>
            </a:r>
          </a:p>
          <a:p>
            <a:pPr algn="just" marL="511422" indent="-255711" lvl="1">
              <a:lnSpc>
                <a:spcPts val="3316"/>
              </a:lnSpc>
              <a:buFont typeface="Arial"/>
              <a:buChar char="•"/>
            </a:pPr>
            <a:r>
              <a:rPr lang="en-US" sz="2368">
                <a:solidFill>
                  <a:srgbClr val="050E9B"/>
                </a:solidFill>
                <a:latin typeface="Monda"/>
                <a:ea typeface="Monda"/>
                <a:cs typeface="Monda"/>
                <a:sym typeface="Monda"/>
              </a:rPr>
              <a:t>Focus on improving delivery consistency to reduce negative feedback (currently ~14%).</a:t>
            </a:r>
          </a:p>
          <a:p>
            <a:pPr algn="just" marL="511422" indent="-255711" lvl="1">
              <a:lnSpc>
                <a:spcPts val="3316"/>
              </a:lnSpc>
              <a:buFont typeface="Arial"/>
              <a:buChar char="•"/>
            </a:pPr>
            <a:r>
              <a:rPr lang="en-US" sz="2368">
                <a:solidFill>
                  <a:srgbClr val="050E9B"/>
                </a:solidFill>
                <a:latin typeface="Monda"/>
                <a:ea typeface="Monda"/>
                <a:cs typeface="Monda"/>
                <a:sym typeface="Monda"/>
              </a:rPr>
              <a:t>Implement post-delivery satisfaction surveys and quick response systems for complaints.</a:t>
            </a:r>
          </a:p>
          <a:p>
            <a:pPr algn="just" marL="511422" indent="-255711" lvl="1">
              <a:lnSpc>
                <a:spcPts val="3316"/>
              </a:lnSpc>
              <a:buFont typeface="Arial"/>
              <a:buChar char="•"/>
            </a:pPr>
            <a:r>
              <a:rPr lang="en-US" sz="2368">
                <a:solidFill>
                  <a:srgbClr val="050E9B"/>
                </a:solidFill>
                <a:latin typeface="Monda"/>
                <a:ea typeface="Monda"/>
                <a:cs typeface="Monda"/>
                <a:sym typeface="Monda"/>
              </a:rPr>
              <a:t>Introduce loyalty programs for customers giving consistent 4★–5★ ratings.</a:t>
            </a:r>
          </a:p>
          <a:p>
            <a:pPr algn="just">
              <a:lnSpc>
                <a:spcPts val="3596"/>
              </a:lnSpc>
            </a:pPr>
            <a:r>
              <a:rPr lang="en-US" sz="2568" b="true">
                <a:solidFill>
                  <a:srgbClr val="050E9B"/>
                </a:solidFill>
                <a:latin typeface="Monda Bold"/>
                <a:ea typeface="Monda Bold"/>
                <a:cs typeface="Monda Bold"/>
                <a:sym typeface="Monda Bold"/>
              </a:rPr>
              <a:t>2. Logistics &amp; Delivery Optimization</a:t>
            </a:r>
          </a:p>
          <a:p>
            <a:pPr algn="just" marL="511422" indent="-255711" lvl="1">
              <a:lnSpc>
                <a:spcPts val="3316"/>
              </a:lnSpc>
              <a:buFont typeface="Arial"/>
              <a:buChar char="•"/>
            </a:pPr>
            <a:r>
              <a:rPr lang="en-US" sz="2368">
                <a:solidFill>
                  <a:srgbClr val="050E9B"/>
                </a:solidFill>
                <a:latin typeface="Monda"/>
                <a:ea typeface="Monda"/>
                <a:cs typeface="Monda"/>
                <a:sym typeface="Monda"/>
              </a:rPr>
              <a:t>Strengthen same-day and express order handling capacities.</a:t>
            </a:r>
          </a:p>
          <a:p>
            <a:pPr algn="just" marL="511422" indent="-255711" lvl="1">
              <a:lnSpc>
                <a:spcPts val="3316"/>
              </a:lnSpc>
              <a:buFont typeface="Arial"/>
              <a:buChar char="•"/>
            </a:pPr>
            <a:r>
              <a:rPr lang="en-US" sz="2368">
                <a:solidFill>
                  <a:srgbClr val="050E9B"/>
                </a:solidFill>
                <a:latin typeface="Monda"/>
                <a:ea typeface="Monda"/>
                <a:cs typeface="Monda"/>
                <a:sym typeface="Monda"/>
              </a:rPr>
              <a:t>Use delivery tracking analytics to identify delay-prone regions or time slots.</a:t>
            </a:r>
          </a:p>
          <a:p>
            <a:pPr algn="just" marL="511422" indent="-255711" lvl="1">
              <a:lnSpc>
                <a:spcPts val="3316"/>
              </a:lnSpc>
              <a:buFont typeface="Arial"/>
              <a:buChar char="•"/>
            </a:pPr>
            <a:r>
              <a:rPr lang="en-US" sz="2368">
                <a:solidFill>
                  <a:srgbClr val="050E9B"/>
                </a:solidFill>
                <a:latin typeface="Monda"/>
                <a:ea typeface="Monda"/>
                <a:cs typeface="Monda"/>
                <a:sym typeface="Monda"/>
              </a:rPr>
              <a:t>Collaborate with multiple courier partners for balanced workload and timely shipping.</a:t>
            </a:r>
          </a:p>
          <a:p>
            <a:pPr algn="just">
              <a:lnSpc>
                <a:spcPts val="3596"/>
              </a:lnSpc>
            </a:pPr>
            <a:r>
              <a:rPr lang="en-US" sz="2568" b="true">
                <a:solidFill>
                  <a:srgbClr val="050E9B"/>
                </a:solidFill>
                <a:latin typeface="Monda Bold"/>
                <a:ea typeface="Monda Bold"/>
                <a:cs typeface="Monda Bold"/>
                <a:sym typeface="Monda Bold"/>
              </a:rPr>
              <a:t>3. Feedback &amp; Sentiment Analysis</a:t>
            </a:r>
          </a:p>
          <a:p>
            <a:pPr algn="just" marL="511422" indent="-255711" lvl="1">
              <a:lnSpc>
                <a:spcPts val="3316"/>
              </a:lnSpc>
              <a:buFont typeface="Arial"/>
              <a:buChar char="•"/>
            </a:pPr>
            <a:r>
              <a:rPr lang="en-US" sz="2368">
                <a:solidFill>
                  <a:srgbClr val="050E9B"/>
                </a:solidFill>
                <a:latin typeface="Monda"/>
                <a:ea typeface="Monda"/>
                <a:cs typeface="Monda"/>
                <a:sym typeface="Monda"/>
              </a:rPr>
              <a:t>Automate sentiment tracking from feedback text and star ratings.</a:t>
            </a:r>
          </a:p>
          <a:p>
            <a:pPr algn="just" marL="511422" indent="-255711" lvl="1">
              <a:lnSpc>
                <a:spcPts val="3316"/>
              </a:lnSpc>
              <a:buFont typeface="Arial"/>
              <a:buChar char="•"/>
            </a:pPr>
            <a:r>
              <a:rPr lang="en-US" sz="2368">
                <a:solidFill>
                  <a:srgbClr val="050E9B"/>
                </a:solidFill>
                <a:latin typeface="Monda"/>
                <a:ea typeface="Monda"/>
                <a:cs typeface="Monda"/>
                <a:sym typeface="Monda"/>
              </a:rPr>
              <a:t>Regularly compare sentiment trends with order volume and delivery performance.</a:t>
            </a:r>
          </a:p>
          <a:p>
            <a:pPr algn="just" marL="511422" indent="-255711" lvl="1">
              <a:lnSpc>
                <a:spcPts val="3316"/>
              </a:lnSpc>
              <a:buFont typeface="Arial"/>
              <a:buChar char="•"/>
            </a:pPr>
            <a:r>
              <a:rPr lang="en-US" sz="2368">
                <a:solidFill>
                  <a:srgbClr val="050E9B"/>
                </a:solidFill>
                <a:latin typeface="Monda"/>
                <a:ea typeface="Monda"/>
                <a:cs typeface="Monda"/>
                <a:sym typeface="Monda"/>
              </a:rPr>
              <a:t>Integrate Power BI alerts to notify management about rising negative sentiment.</a:t>
            </a:r>
          </a:p>
          <a:p>
            <a:pPr algn="just">
              <a:lnSpc>
                <a:spcPts val="3596"/>
              </a:lnSpc>
            </a:pPr>
            <a:r>
              <a:rPr lang="en-US" sz="2568" b="true">
                <a:solidFill>
                  <a:srgbClr val="050E9B"/>
                </a:solidFill>
                <a:latin typeface="Monda Bold"/>
                <a:ea typeface="Monda Bold"/>
                <a:cs typeface="Monda Bold"/>
                <a:sym typeface="Monda Bold"/>
              </a:rPr>
              <a:t>4. Payment &amp; Transaction Strategies</a:t>
            </a:r>
          </a:p>
          <a:p>
            <a:pPr algn="just" marL="511422" indent="-255711" lvl="1">
              <a:lnSpc>
                <a:spcPts val="3316"/>
              </a:lnSpc>
              <a:buFont typeface="Arial"/>
              <a:buChar char="•"/>
            </a:pPr>
            <a:r>
              <a:rPr lang="en-US" sz="2368">
                <a:solidFill>
                  <a:srgbClr val="050E9B"/>
                </a:solidFill>
                <a:latin typeface="Monda"/>
                <a:ea typeface="Monda"/>
                <a:cs typeface="Monda"/>
                <a:sym typeface="Monda"/>
              </a:rPr>
              <a:t>Offer cashback or reward points for preferred digital modes (Credit/Debit Cards).</a:t>
            </a:r>
          </a:p>
          <a:p>
            <a:pPr algn="just" marL="511422" indent="-255711" lvl="1">
              <a:lnSpc>
                <a:spcPts val="3316"/>
              </a:lnSpc>
              <a:buFont typeface="Arial"/>
              <a:buChar char="•"/>
            </a:pPr>
            <a:r>
              <a:rPr lang="en-US" sz="2368">
                <a:solidFill>
                  <a:srgbClr val="050E9B"/>
                </a:solidFill>
                <a:latin typeface="Monda"/>
                <a:ea typeface="Monda"/>
                <a:cs typeface="Monda"/>
                <a:sym typeface="Monda"/>
              </a:rPr>
              <a:t>Ensure secure gateways to sustain customer trust in online transactions.</a:t>
            </a:r>
          </a:p>
          <a:p>
            <a:pPr algn="just" marL="511422" indent="-255711" lvl="1">
              <a:lnSpc>
                <a:spcPts val="3316"/>
              </a:lnSpc>
              <a:buFont typeface="Arial"/>
              <a:buChar char="•"/>
            </a:pPr>
            <a:r>
              <a:rPr lang="en-US" sz="2368">
                <a:solidFill>
                  <a:srgbClr val="050E9B"/>
                </a:solidFill>
                <a:latin typeface="Monda"/>
                <a:ea typeface="Monda"/>
                <a:cs typeface="Monda"/>
                <a:sym typeface="Monda"/>
              </a:rPr>
              <a:t>Study PayPal’s lower adoption regions — enhance or replace with regional payment alternatives.</a:t>
            </a:r>
          </a:p>
          <a:p>
            <a:pPr algn="just">
              <a:lnSpc>
                <a:spcPts val="3596"/>
              </a:lnSpc>
            </a:pPr>
            <a:r>
              <a:rPr lang="en-US" sz="2568" b="true">
                <a:solidFill>
                  <a:srgbClr val="050E9B"/>
                </a:solidFill>
                <a:latin typeface="Monda Bold"/>
                <a:ea typeface="Monda Bold"/>
                <a:cs typeface="Monda Bold"/>
                <a:sym typeface="Monda Bold"/>
              </a:rPr>
              <a:t>5. Peak Hour &amp; Marketing Strategy</a:t>
            </a:r>
          </a:p>
          <a:p>
            <a:pPr algn="just" marL="511422" indent="-255711" lvl="1">
              <a:lnSpc>
                <a:spcPts val="3316"/>
              </a:lnSpc>
              <a:buFont typeface="Arial"/>
              <a:buChar char="•"/>
            </a:pPr>
            <a:r>
              <a:rPr lang="en-US" sz="2368">
                <a:solidFill>
                  <a:srgbClr val="050E9B"/>
                </a:solidFill>
                <a:latin typeface="Monda"/>
                <a:ea typeface="Monda"/>
                <a:cs typeface="Monda"/>
                <a:sym typeface="Monda"/>
              </a:rPr>
              <a:t>Leverage Night and Morning order peaks (~59K, ~52K orders) for time-based marketing campaigns.</a:t>
            </a:r>
          </a:p>
          <a:p>
            <a:pPr algn="just" marL="511422" indent="-255711" lvl="1">
              <a:lnSpc>
                <a:spcPts val="3316"/>
              </a:lnSpc>
              <a:buFont typeface="Arial"/>
              <a:buChar char="•"/>
            </a:pPr>
            <a:r>
              <a:rPr lang="en-US" sz="2368">
                <a:solidFill>
                  <a:srgbClr val="050E9B"/>
                </a:solidFill>
                <a:latin typeface="Monda"/>
                <a:ea typeface="Monda"/>
                <a:cs typeface="Monda"/>
                <a:sym typeface="Monda"/>
              </a:rPr>
              <a:t>Schedule targeted advertisements, discounts, and push notifications during these hours.</a:t>
            </a:r>
          </a:p>
          <a:p>
            <a:pPr algn="just">
              <a:lnSpc>
                <a:spcPts val="3316"/>
              </a:lnSpc>
            </a:pPr>
          </a:p>
        </p:txBody>
      </p:sp>
    </p:spTree>
  </p:cSld>
  <p:clrMapOvr>
    <a:masterClrMapping/>
  </p:clrMapOvr>
</p:sld>
</file>

<file path=ppt/slides/slide39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2204" t="0" r="-2204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-1584626" y="-740607"/>
            <a:ext cx="4605841" cy="3626053"/>
          </a:xfrm>
          <a:custGeom>
            <a:avLst/>
            <a:gdLst/>
            <a:ahLst/>
            <a:cxnLst/>
            <a:rect r="r" b="b" t="t" l="l"/>
            <a:pathLst>
              <a:path h="3626053" w="4605841">
                <a:moveTo>
                  <a:pt x="0" y="0"/>
                </a:moveTo>
                <a:lnTo>
                  <a:pt x="4605842" y="0"/>
                </a:lnTo>
                <a:lnTo>
                  <a:pt x="4605842" y="3626054"/>
                </a:lnTo>
                <a:lnTo>
                  <a:pt x="0" y="3626054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true" flipV="true" rot="0">
            <a:off x="14645974" y="7042697"/>
            <a:ext cx="5226651" cy="4114800"/>
          </a:xfrm>
          <a:custGeom>
            <a:avLst/>
            <a:gdLst/>
            <a:ahLst/>
            <a:cxnLst/>
            <a:rect r="r" b="b" t="t" l="l"/>
            <a:pathLst>
              <a:path h="4114800" w="5226651">
                <a:moveTo>
                  <a:pt x="5226652" y="4114800"/>
                </a:moveTo>
                <a:lnTo>
                  <a:pt x="0" y="4114800"/>
                </a:lnTo>
                <a:lnTo>
                  <a:pt x="0" y="0"/>
                </a:lnTo>
                <a:lnTo>
                  <a:pt x="5226652" y="0"/>
                </a:lnTo>
                <a:lnTo>
                  <a:pt x="5226652" y="411480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0">
            <a:off x="15729343" y="-740607"/>
            <a:ext cx="3059915" cy="4114800"/>
          </a:xfrm>
          <a:custGeom>
            <a:avLst/>
            <a:gdLst/>
            <a:ahLst/>
            <a:cxnLst/>
            <a:rect r="r" b="b" t="t" l="l"/>
            <a:pathLst>
              <a:path h="4114800" w="3059915">
                <a:moveTo>
                  <a:pt x="0" y="0"/>
                </a:moveTo>
                <a:lnTo>
                  <a:pt x="3059914" y="0"/>
                </a:lnTo>
                <a:lnTo>
                  <a:pt x="3059914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6" id="6"/>
          <p:cNvSpPr txBox="true"/>
          <p:nvPr/>
        </p:nvSpPr>
        <p:spPr>
          <a:xfrm rot="0">
            <a:off x="3417780" y="358256"/>
            <a:ext cx="11517542" cy="7524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6299"/>
              </a:lnSpc>
            </a:pPr>
            <a:r>
              <a:rPr lang="en-US" b="true" sz="4499">
                <a:solidFill>
                  <a:srgbClr val="050E9B"/>
                </a:solidFill>
                <a:latin typeface="Merriweather Sans Bold"/>
                <a:ea typeface="Merriweather Sans Bold"/>
                <a:cs typeface="Merriweather Sans Bold"/>
                <a:sym typeface="Merriweather Sans Bold"/>
              </a:rPr>
              <a:t>OVERALL BUSINESS IMPACT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463792" y="2108234"/>
            <a:ext cx="16795508" cy="744816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4221"/>
              </a:lnSpc>
            </a:pPr>
            <a:r>
              <a:rPr lang="en-US" sz="3015" b="true">
                <a:solidFill>
                  <a:srgbClr val="050E9B"/>
                </a:solidFill>
                <a:latin typeface="Monda Bold"/>
                <a:ea typeface="Monda Bold"/>
                <a:cs typeface="Monda Bold"/>
                <a:sym typeface="Monda Bold"/>
              </a:rPr>
              <a:t>Objective:</a:t>
            </a:r>
          </a:p>
          <a:p>
            <a:pPr algn="just">
              <a:lnSpc>
                <a:spcPts val="4221"/>
              </a:lnSpc>
            </a:pPr>
            <a:r>
              <a:rPr lang="en-US" sz="3015">
                <a:solidFill>
                  <a:srgbClr val="050E9B"/>
                </a:solidFill>
                <a:latin typeface="Monda"/>
                <a:ea typeface="Monda"/>
                <a:cs typeface="Monda"/>
                <a:sym typeface="Monda"/>
              </a:rPr>
              <a:t> To summarize how data-driven dashboards enhanced decision-making for the retail sector.</a:t>
            </a:r>
          </a:p>
          <a:p>
            <a:pPr algn="just">
              <a:lnSpc>
                <a:spcPts val="4221"/>
              </a:lnSpc>
            </a:pPr>
            <a:r>
              <a:rPr lang="en-US" sz="3015" b="true">
                <a:solidFill>
                  <a:srgbClr val="050E9B"/>
                </a:solidFill>
                <a:latin typeface="Monda Bold"/>
                <a:ea typeface="Monda Bold"/>
                <a:cs typeface="Monda Bold"/>
                <a:sym typeface="Monda Bold"/>
              </a:rPr>
              <a:t>Key Business Impacts:</a:t>
            </a:r>
          </a:p>
          <a:p>
            <a:pPr algn="just" marL="650943" indent="-325472" lvl="1">
              <a:lnSpc>
                <a:spcPts val="4221"/>
              </a:lnSpc>
              <a:buFont typeface="Arial"/>
              <a:buChar char="•"/>
            </a:pPr>
            <a:r>
              <a:rPr lang="en-US" sz="3015">
                <a:solidFill>
                  <a:srgbClr val="050E9B"/>
                </a:solidFill>
                <a:latin typeface="Monda"/>
                <a:ea typeface="Monda"/>
                <a:cs typeface="Monda"/>
                <a:sym typeface="Monda"/>
              </a:rPr>
              <a:t>Unified Insights: Consolidated data from transactions, customers, and feedback into four interactive dashboards.</a:t>
            </a:r>
          </a:p>
          <a:p>
            <a:pPr algn="just" marL="650943" indent="-325472" lvl="1">
              <a:lnSpc>
                <a:spcPts val="4221"/>
              </a:lnSpc>
              <a:buFont typeface="Arial"/>
              <a:buChar char="•"/>
            </a:pPr>
            <a:r>
              <a:rPr lang="en-US" sz="3015">
                <a:solidFill>
                  <a:srgbClr val="050E9B"/>
                </a:solidFill>
                <a:latin typeface="Monda"/>
                <a:ea typeface="Monda"/>
                <a:cs typeface="Monda"/>
                <a:sym typeface="Monda"/>
              </a:rPr>
              <a:t>Data-Driven Strategy: Helped management identify top-performing products, cities, and customer segments.</a:t>
            </a:r>
          </a:p>
          <a:p>
            <a:pPr algn="just" marL="650943" indent="-325472" lvl="1">
              <a:lnSpc>
                <a:spcPts val="4221"/>
              </a:lnSpc>
              <a:buFont typeface="Arial"/>
              <a:buChar char="•"/>
            </a:pPr>
            <a:r>
              <a:rPr lang="en-US" sz="3015">
                <a:solidFill>
                  <a:srgbClr val="050E9B"/>
                </a:solidFill>
                <a:latin typeface="Monda"/>
                <a:ea typeface="Monda"/>
                <a:cs typeface="Monda"/>
                <a:sym typeface="Monda"/>
              </a:rPr>
              <a:t>Operational Efficiency: Detected delays and optimized shipping methods, improving delivery performance.</a:t>
            </a:r>
          </a:p>
          <a:p>
            <a:pPr algn="just" marL="650943" indent="-325472" lvl="1">
              <a:lnSpc>
                <a:spcPts val="4221"/>
              </a:lnSpc>
              <a:buFont typeface="Arial"/>
              <a:buChar char="•"/>
            </a:pPr>
            <a:r>
              <a:rPr lang="en-US" sz="3015">
                <a:solidFill>
                  <a:srgbClr val="050E9B"/>
                </a:solidFill>
                <a:latin typeface="Monda"/>
                <a:ea typeface="Monda"/>
                <a:cs typeface="Monda"/>
                <a:sym typeface="Monda"/>
              </a:rPr>
              <a:t>Customer Retention: Analyzed repeat purchase behavior and improved targeting based on income and age groups.</a:t>
            </a:r>
          </a:p>
          <a:p>
            <a:pPr algn="just" marL="650943" indent="-325472" lvl="1">
              <a:lnSpc>
                <a:spcPts val="4221"/>
              </a:lnSpc>
              <a:buFont typeface="Arial"/>
              <a:buChar char="•"/>
            </a:pPr>
            <a:r>
              <a:rPr lang="en-US" sz="3015">
                <a:solidFill>
                  <a:srgbClr val="050E9B"/>
                </a:solidFill>
                <a:latin typeface="Monda"/>
                <a:ea typeface="Monda"/>
                <a:cs typeface="Monda"/>
                <a:sym typeface="Monda"/>
              </a:rPr>
              <a:t>Revenue Optimization: Supported marketing and inventory decisions through trend and category-based insights.</a:t>
            </a:r>
          </a:p>
          <a:p>
            <a:pPr algn="just">
              <a:lnSpc>
                <a:spcPts val="4221"/>
              </a:lnSpc>
            </a:pPr>
          </a:p>
        </p:txBody>
      </p:sp>
    </p:spTree>
  </p:cSld>
  <p:clrMapOvr>
    <a:masterClrMapping/>
  </p:clrMapOvr>
</p:sld>
</file>

<file path=ppt/slides/slide40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2204" t="0" r="-2204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-1584626" y="-740607"/>
            <a:ext cx="5226651" cy="4114800"/>
          </a:xfrm>
          <a:custGeom>
            <a:avLst/>
            <a:gdLst/>
            <a:ahLst/>
            <a:cxnLst/>
            <a:rect r="r" b="b" t="t" l="l"/>
            <a:pathLst>
              <a:path h="4114800" w="5226651">
                <a:moveTo>
                  <a:pt x="0" y="0"/>
                </a:moveTo>
                <a:lnTo>
                  <a:pt x="5226652" y="0"/>
                </a:lnTo>
                <a:lnTo>
                  <a:pt x="5226652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true" flipV="true" rot="0">
            <a:off x="14645974" y="7042697"/>
            <a:ext cx="5226651" cy="4114800"/>
          </a:xfrm>
          <a:custGeom>
            <a:avLst/>
            <a:gdLst/>
            <a:ahLst/>
            <a:cxnLst/>
            <a:rect r="r" b="b" t="t" l="l"/>
            <a:pathLst>
              <a:path h="4114800" w="5226651">
                <a:moveTo>
                  <a:pt x="5226652" y="4114800"/>
                </a:moveTo>
                <a:lnTo>
                  <a:pt x="0" y="4114800"/>
                </a:lnTo>
                <a:lnTo>
                  <a:pt x="0" y="0"/>
                </a:lnTo>
                <a:lnTo>
                  <a:pt x="5226652" y="0"/>
                </a:lnTo>
                <a:lnTo>
                  <a:pt x="5226652" y="411480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0">
            <a:off x="15729343" y="-740607"/>
            <a:ext cx="3059915" cy="4114800"/>
          </a:xfrm>
          <a:custGeom>
            <a:avLst/>
            <a:gdLst/>
            <a:ahLst/>
            <a:cxnLst/>
            <a:rect r="r" b="b" t="t" l="l"/>
            <a:pathLst>
              <a:path h="4114800" w="3059915">
                <a:moveTo>
                  <a:pt x="0" y="0"/>
                </a:moveTo>
                <a:lnTo>
                  <a:pt x="3059914" y="0"/>
                </a:lnTo>
                <a:lnTo>
                  <a:pt x="3059914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6" id="6"/>
          <p:cNvSpPr txBox="true"/>
          <p:nvPr/>
        </p:nvSpPr>
        <p:spPr>
          <a:xfrm rot="0">
            <a:off x="3417780" y="358256"/>
            <a:ext cx="11517542" cy="75247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6299"/>
              </a:lnSpc>
            </a:pPr>
            <a:r>
              <a:rPr lang="en-US" b="true" sz="4499">
                <a:solidFill>
                  <a:srgbClr val="050E9B"/>
                </a:solidFill>
                <a:latin typeface="Merriweather Sans Bold"/>
                <a:ea typeface="Merriweather Sans Bold"/>
                <a:cs typeface="Merriweather Sans Bold"/>
                <a:sym typeface="Merriweather Sans Bold"/>
              </a:rPr>
              <a:t>CONCLUSION &amp; FUTURE SCOPE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1028700" y="2185328"/>
            <a:ext cx="16006719" cy="691476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4221"/>
              </a:lnSpc>
            </a:pPr>
            <a:r>
              <a:rPr lang="en-US" sz="3015" b="true">
                <a:solidFill>
                  <a:srgbClr val="050E9B"/>
                </a:solidFill>
                <a:latin typeface="Monda Bold"/>
                <a:ea typeface="Monda Bold"/>
                <a:cs typeface="Monda Bold"/>
                <a:sym typeface="Monda Bold"/>
              </a:rPr>
              <a:t>Conclusion:</a:t>
            </a:r>
          </a:p>
          <a:p>
            <a:pPr algn="just" marL="650943" indent="-325472" lvl="1">
              <a:lnSpc>
                <a:spcPts val="4221"/>
              </a:lnSpc>
              <a:buFont typeface="Arial"/>
              <a:buChar char="•"/>
            </a:pPr>
            <a:r>
              <a:rPr lang="en-US" sz="3015">
                <a:solidFill>
                  <a:srgbClr val="050E9B"/>
                </a:solidFill>
                <a:latin typeface="Monda"/>
                <a:ea typeface="Monda"/>
                <a:cs typeface="Monda"/>
                <a:sym typeface="Monda"/>
              </a:rPr>
              <a:t>Successfully developed a Retail Analytics System that connects transactional, customer, and feedback data.</a:t>
            </a:r>
          </a:p>
          <a:p>
            <a:pPr algn="just" marL="650943" indent="-325472" lvl="1">
              <a:lnSpc>
                <a:spcPts val="4221"/>
              </a:lnSpc>
              <a:buFont typeface="Arial"/>
              <a:buChar char="•"/>
            </a:pPr>
            <a:r>
              <a:rPr lang="en-US" sz="3015">
                <a:solidFill>
                  <a:srgbClr val="050E9B"/>
                </a:solidFill>
                <a:latin typeface="Monda"/>
                <a:ea typeface="Monda"/>
                <a:cs typeface="Monda"/>
                <a:sym typeface="Monda"/>
              </a:rPr>
              <a:t>Enabled end-to-end insights from data cleaning to Power BI visualization.</a:t>
            </a:r>
          </a:p>
          <a:p>
            <a:pPr algn="just" marL="650943" indent="-325472" lvl="1">
              <a:lnSpc>
                <a:spcPts val="4221"/>
              </a:lnSpc>
              <a:buFont typeface="Arial"/>
              <a:buChar char="•"/>
            </a:pPr>
            <a:r>
              <a:rPr lang="en-US" sz="3015">
                <a:solidFill>
                  <a:srgbClr val="050E9B"/>
                </a:solidFill>
                <a:latin typeface="Monda"/>
                <a:ea typeface="Monda"/>
                <a:cs typeface="Monda"/>
                <a:sym typeface="Monda"/>
              </a:rPr>
              <a:t>Delivered business intelligence through interactive, filter-enabled dashboards.</a:t>
            </a:r>
          </a:p>
          <a:p>
            <a:pPr algn="just">
              <a:lnSpc>
                <a:spcPts val="4221"/>
              </a:lnSpc>
            </a:pPr>
            <a:r>
              <a:rPr lang="en-US" sz="3015" b="true">
                <a:solidFill>
                  <a:srgbClr val="050E9B"/>
                </a:solidFill>
                <a:latin typeface="Monda Bold"/>
                <a:ea typeface="Monda Bold"/>
                <a:cs typeface="Monda Bold"/>
                <a:sym typeface="Monda Bold"/>
              </a:rPr>
              <a:t>Future Scope:</a:t>
            </a:r>
          </a:p>
          <a:p>
            <a:pPr algn="just" marL="650943" indent="-325472" lvl="1">
              <a:lnSpc>
                <a:spcPts val="4221"/>
              </a:lnSpc>
              <a:buFont typeface="Arial"/>
              <a:buChar char="•"/>
            </a:pPr>
            <a:r>
              <a:rPr lang="en-US" sz="3015">
                <a:solidFill>
                  <a:srgbClr val="050E9B"/>
                </a:solidFill>
                <a:latin typeface="Monda"/>
                <a:ea typeface="Monda"/>
                <a:cs typeface="Monda"/>
                <a:sym typeface="Monda"/>
              </a:rPr>
              <a:t>Predictive Analytics: Integrate Power BI Forecasting and Python ML models for demand and sales prediction.</a:t>
            </a:r>
          </a:p>
          <a:p>
            <a:pPr algn="just" marL="650943" indent="-325472" lvl="1">
              <a:lnSpc>
                <a:spcPts val="4221"/>
              </a:lnSpc>
              <a:buFont typeface="Arial"/>
              <a:buChar char="•"/>
            </a:pPr>
            <a:r>
              <a:rPr lang="en-US" sz="3015">
                <a:solidFill>
                  <a:srgbClr val="050E9B"/>
                </a:solidFill>
                <a:latin typeface="Monda"/>
                <a:ea typeface="Monda"/>
                <a:cs typeface="Monda"/>
                <a:sym typeface="Monda"/>
              </a:rPr>
              <a:t>Automation: Schedule auto-refresh for real-time data sync from databases (SQLite3 → Power BI).</a:t>
            </a:r>
          </a:p>
          <a:p>
            <a:pPr algn="just" marL="650943" indent="-325472" lvl="1">
              <a:lnSpc>
                <a:spcPts val="4221"/>
              </a:lnSpc>
              <a:buFont typeface="Arial"/>
              <a:buChar char="•"/>
            </a:pPr>
            <a:r>
              <a:rPr lang="en-US" sz="3015">
                <a:solidFill>
                  <a:srgbClr val="050E9B"/>
                </a:solidFill>
                <a:latin typeface="Monda"/>
                <a:ea typeface="Monda"/>
                <a:cs typeface="Monda"/>
                <a:sym typeface="Monda"/>
              </a:rPr>
              <a:t>Scalability: Extend system to support multi-store or e-commerce environments.</a:t>
            </a:r>
          </a:p>
          <a:p>
            <a:pPr algn="just" marL="650943" indent="-325472" lvl="1">
              <a:lnSpc>
                <a:spcPts val="4221"/>
              </a:lnSpc>
              <a:buFont typeface="Arial"/>
              <a:buChar char="•"/>
            </a:pPr>
            <a:r>
              <a:rPr lang="en-US" sz="3015">
                <a:solidFill>
                  <a:srgbClr val="050E9B"/>
                </a:solidFill>
                <a:latin typeface="Monda"/>
                <a:ea typeface="Monda"/>
                <a:cs typeface="Monda"/>
                <a:sym typeface="Monda"/>
              </a:rPr>
              <a:t>Integration: Develop mobile dashboard views for instant managerial access.</a:t>
            </a:r>
          </a:p>
          <a:p>
            <a:pPr algn="just">
              <a:lnSpc>
                <a:spcPts val="4221"/>
              </a:lnSpc>
            </a:pPr>
          </a:p>
        </p:txBody>
      </p:sp>
    </p:spTree>
  </p:cSld>
  <p:clrMapOvr>
    <a:masterClrMapping/>
  </p:clrMapOvr>
</p:sld>
</file>

<file path=ppt/slides/slide4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2204" t="0" r="-2204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-1584626" y="-740607"/>
            <a:ext cx="5226651" cy="4114800"/>
          </a:xfrm>
          <a:custGeom>
            <a:avLst/>
            <a:gdLst/>
            <a:ahLst/>
            <a:cxnLst/>
            <a:rect r="r" b="b" t="t" l="l"/>
            <a:pathLst>
              <a:path h="4114800" w="5226651">
                <a:moveTo>
                  <a:pt x="0" y="0"/>
                </a:moveTo>
                <a:lnTo>
                  <a:pt x="5226652" y="0"/>
                </a:lnTo>
                <a:lnTo>
                  <a:pt x="5226652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true" flipV="true" rot="0">
            <a:off x="14645974" y="7042697"/>
            <a:ext cx="5226651" cy="4114800"/>
          </a:xfrm>
          <a:custGeom>
            <a:avLst/>
            <a:gdLst/>
            <a:ahLst/>
            <a:cxnLst/>
            <a:rect r="r" b="b" t="t" l="l"/>
            <a:pathLst>
              <a:path h="4114800" w="5226651">
                <a:moveTo>
                  <a:pt x="5226652" y="4114800"/>
                </a:moveTo>
                <a:lnTo>
                  <a:pt x="0" y="4114800"/>
                </a:lnTo>
                <a:lnTo>
                  <a:pt x="0" y="0"/>
                </a:lnTo>
                <a:lnTo>
                  <a:pt x="5226652" y="0"/>
                </a:lnTo>
                <a:lnTo>
                  <a:pt x="5226652" y="411480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0">
            <a:off x="15729343" y="-740607"/>
            <a:ext cx="3059915" cy="4114800"/>
          </a:xfrm>
          <a:custGeom>
            <a:avLst/>
            <a:gdLst/>
            <a:ahLst/>
            <a:cxnLst/>
            <a:rect r="r" b="b" t="t" l="l"/>
            <a:pathLst>
              <a:path h="4114800" w="3059915">
                <a:moveTo>
                  <a:pt x="0" y="0"/>
                </a:moveTo>
                <a:lnTo>
                  <a:pt x="3059914" y="0"/>
                </a:lnTo>
                <a:lnTo>
                  <a:pt x="3059914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6" id="6"/>
          <p:cNvSpPr txBox="true"/>
          <p:nvPr/>
        </p:nvSpPr>
        <p:spPr>
          <a:xfrm rot="0">
            <a:off x="3417780" y="367781"/>
            <a:ext cx="11517542" cy="12160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900"/>
              </a:lnSpc>
            </a:pPr>
            <a:r>
              <a:rPr lang="en-US" b="true" sz="3500">
                <a:solidFill>
                  <a:srgbClr val="050E9B"/>
                </a:solidFill>
                <a:latin typeface="Merriweather Sans Bold"/>
                <a:ea typeface="Merriweather Sans Bold"/>
                <a:cs typeface="Merriweather Sans Bold"/>
                <a:sym typeface="Merriweather Sans Bold"/>
              </a:rPr>
              <a:t>ACHIEVEMENTS, CHALLENGES &amp; PERSONAL LEARNINGS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546901" y="2533397"/>
            <a:ext cx="17259300" cy="775360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3661"/>
              </a:lnSpc>
            </a:pPr>
            <a:r>
              <a:rPr lang="en-US" sz="2615" b="true">
                <a:solidFill>
                  <a:srgbClr val="050E9B"/>
                </a:solidFill>
                <a:latin typeface="Monda Bold"/>
                <a:ea typeface="Monda Bold"/>
                <a:cs typeface="Monda Bold"/>
                <a:sym typeface="Monda Bold"/>
              </a:rPr>
              <a:t>Achievements:</a:t>
            </a:r>
          </a:p>
          <a:p>
            <a:pPr algn="just" marL="564586" indent="-282293" lvl="1">
              <a:lnSpc>
                <a:spcPts val="3661"/>
              </a:lnSpc>
              <a:buFont typeface="Arial"/>
              <a:buChar char="•"/>
            </a:pPr>
            <a:r>
              <a:rPr lang="en-US" sz="2615">
                <a:solidFill>
                  <a:srgbClr val="050E9B"/>
                </a:solidFill>
                <a:latin typeface="Monda"/>
                <a:ea typeface="Monda"/>
                <a:cs typeface="Monda"/>
                <a:sym typeface="Monda"/>
              </a:rPr>
              <a:t>Designed and developed four interactive Power BI dashboards covering customer, product, sales, and feedback insights.</a:t>
            </a:r>
          </a:p>
          <a:p>
            <a:pPr algn="just" marL="564586" indent="-282293" lvl="1">
              <a:lnSpc>
                <a:spcPts val="3661"/>
              </a:lnSpc>
              <a:buFont typeface="Arial"/>
              <a:buChar char="•"/>
            </a:pPr>
            <a:r>
              <a:rPr lang="en-US" sz="2615">
                <a:solidFill>
                  <a:srgbClr val="050E9B"/>
                </a:solidFill>
                <a:latin typeface="Monda"/>
                <a:ea typeface="Monda"/>
                <a:cs typeface="Monda"/>
                <a:sym typeface="Monda"/>
              </a:rPr>
              <a:t>Successfully connected SQLite3 + Python data pipeline to Power BI for dynamic reporting.</a:t>
            </a:r>
          </a:p>
          <a:p>
            <a:pPr algn="just" marL="564586" indent="-282293" lvl="1">
              <a:lnSpc>
                <a:spcPts val="3661"/>
              </a:lnSpc>
              <a:buFont typeface="Arial"/>
              <a:buChar char="•"/>
            </a:pPr>
            <a:r>
              <a:rPr lang="en-US" sz="2615">
                <a:solidFill>
                  <a:srgbClr val="050E9B"/>
                </a:solidFill>
                <a:latin typeface="Monda"/>
                <a:ea typeface="Monda"/>
                <a:cs typeface="Monda"/>
                <a:sym typeface="Monda"/>
              </a:rPr>
              <a:t>Implemented custom DAX measures (e.g., Delivery Score, Repeat Purchase %) to enhance analytical accuracy.</a:t>
            </a:r>
          </a:p>
          <a:p>
            <a:pPr algn="just" marL="564586" indent="-282293" lvl="1">
              <a:lnSpc>
                <a:spcPts val="3661"/>
              </a:lnSpc>
              <a:buFont typeface="Arial"/>
              <a:buChar char="•"/>
            </a:pPr>
            <a:r>
              <a:rPr lang="en-US" sz="2615">
                <a:solidFill>
                  <a:srgbClr val="050E9B"/>
                </a:solidFill>
                <a:latin typeface="Monda"/>
                <a:ea typeface="Monda"/>
                <a:cs typeface="Monda"/>
                <a:sym typeface="Monda"/>
              </a:rPr>
              <a:t>Presented clean, user-friendly dashboards with consistent color themes and KPI layouts.</a:t>
            </a:r>
          </a:p>
          <a:p>
            <a:pPr algn="just">
              <a:lnSpc>
                <a:spcPts val="3661"/>
              </a:lnSpc>
            </a:pPr>
            <a:r>
              <a:rPr lang="en-US" sz="2615" b="true">
                <a:solidFill>
                  <a:srgbClr val="050E9B"/>
                </a:solidFill>
                <a:latin typeface="Monda Bold"/>
                <a:ea typeface="Monda Bold"/>
                <a:cs typeface="Monda Bold"/>
                <a:sym typeface="Monda Bold"/>
              </a:rPr>
              <a:t>Challenges Faced:</a:t>
            </a:r>
          </a:p>
          <a:p>
            <a:pPr algn="just" marL="564586" indent="-282293" lvl="1">
              <a:lnSpc>
                <a:spcPts val="3661"/>
              </a:lnSpc>
              <a:buFont typeface="Arial"/>
              <a:buChar char="•"/>
            </a:pPr>
            <a:r>
              <a:rPr lang="en-US" sz="2615">
                <a:solidFill>
                  <a:srgbClr val="050E9B"/>
                </a:solidFill>
                <a:latin typeface="Monda"/>
                <a:ea typeface="Monda"/>
                <a:cs typeface="Monda"/>
                <a:sym typeface="Monda"/>
              </a:rPr>
              <a:t>Data Modeling Complexity:</a:t>
            </a:r>
          </a:p>
          <a:p>
            <a:pPr algn="just">
              <a:lnSpc>
                <a:spcPts val="3661"/>
              </a:lnSpc>
            </a:pPr>
            <a:r>
              <a:rPr lang="en-US" sz="2615">
                <a:solidFill>
                  <a:srgbClr val="050E9B"/>
                </a:solidFill>
                <a:latin typeface="Monda"/>
                <a:ea typeface="Monda"/>
                <a:cs typeface="Monda"/>
                <a:sym typeface="Monda"/>
              </a:rPr>
              <a:t>       → Ensuring proper table relationships and one-to-many mappings for interactivity.</a:t>
            </a:r>
          </a:p>
          <a:p>
            <a:pPr algn="just" marL="564586" indent="-282293" lvl="1">
              <a:lnSpc>
                <a:spcPts val="3661"/>
              </a:lnSpc>
              <a:buFont typeface="Arial"/>
              <a:buChar char="•"/>
            </a:pPr>
            <a:r>
              <a:rPr lang="en-US" sz="2615">
                <a:solidFill>
                  <a:srgbClr val="050E9B"/>
                </a:solidFill>
                <a:latin typeface="Monda"/>
                <a:ea typeface="Monda"/>
                <a:cs typeface="Monda"/>
                <a:sym typeface="Monda"/>
              </a:rPr>
              <a:t>Data Inconsistencies:</a:t>
            </a:r>
          </a:p>
          <a:p>
            <a:pPr algn="just">
              <a:lnSpc>
                <a:spcPts val="3661"/>
              </a:lnSpc>
            </a:pPr>
            <a:r>
              <a:rPr lang="en-US" sz="2615">
                <a:solidFill>
                  <a:srgbClr val="050E9B"/>
                </a:solidFill>
                <a:latin typeface="Monda"/>
                <a:ea typeface="Monda"/>
                <a:cs typeface="Monda"/>
                <a:sym typeface="Monda"/>
              </a:rPr>
              <a:t>       →  Handling customer and product mismatches (e.g., multiple ages or genders for same ID).</a:t>
            </a:r>
          </a:p>
          <a:p>
            <a:pPr algn="just" marL="564586" indent="-282293" lvl="1">
              <a:lnSpc>
                <a:spcPts val="3661"/>
              </a:lnSpc>
              <a:buFont typeface="Arial"/>
              <a:buChar char="•"/>
            </a:pPr>
            <a:r>
              <a:rPr lang="en-US" sz="2615">
                <a:solidFill>
                  <a:srgbClr val="050E9B"/>
                </a:solidFill>
                <a:latin typeface="Monda"/>
                <a:ea typeface="Monda"/>
                <a:cs typeface="Monda"/>
                <a:sym typeface="Monda"/>
              </a:rPr>
              <a:t>⏳Performance Optimization:</a:t>
            </a:r>
          </a:p>
          <a:p>
            <a:pPr algn="just">
              <a:lnSpc>
                <a:spcPts val="3661"/>
              </a:lnSpc>
            </a:pPr>
            <a:r>
              <a:rPr lang="en-US" sz="2615">
                <a:solidFill>
                  <a:srgbClr val="050E9B"/>
                </a:solidFill>
                <a:latin typeface="Monda"/>
                <a:ea typeface="Monda"/>
                <a:cs typeface="Monda"/>
                <a:sym typeface="Monda"/>
              </a:rPr>
              <a:t>       → </a:t>
            </a:r>
            <a:r>
              <a:rPr lang="en-US" sz="2615">
                <a:solidFill>
                  <a:srgbClr val="050E9B"/>
                </a:solidFill>
                <a:latin typeface="Monda"/>
                <a:ea typeface="Monda"/>
                <a:cs typeface="Monda"/>
                <a:sym typeface="Monda"/>
              </a:rPr>
              <a:t>Managing large datasets (~3 lakh records) while maintaining smooth Power BI visuals.</a:t>
            </a:r>
          </a:p>
          <a:p>
            <a:pPr algn="just" marL="564586" indent="-282293" lvl="1">
              <a:lnSpc>
                <a:spcPts val="3661"/>
              </a:lnSpc>
              <a:buFont typeface="Arial"/>
              <a:buChar char="•"/>
            </a:pPr>
            <a:r>
              <a:rPr lang="en-US" sz="2615">
                <a:solidFill>
                  <a:srgbClr val="050E9B"/>
                </a:solidFill>
                <a:latin typeface="Monda"/>
                <a:ea typeface="Monda"/>
                <a:cs typeface="Monda"/>
                <a:sym typeface="Monda"/>
              </a:rPr>
              <a:t>🔄Integration Effort:</a:t>
            </a:r>
          </a:p>
          <a:p>
            <a:pPr algn="just">
              <a:lnSpc>
                <a:spcPts val="3661"/>
              </a:lnSpc>
            </a:pPr>
            <a:r>
              <a:rPr lang="en-US" sz="2615">
                <a:solidFill>
                  <a:srgbClr val="050E9B"/>
                </a:solidFill>
                <a:latin typeface="Monda"/>
                <a:ea typeface="Monda"/>
                <a:cs typeface="Monda"/>
                <a:sym typeface="Monda"/>
              </a:rPr>
              <a:t>       →  </a:t>
            </a:r>
            <a:r>
              <a:rPr lang="en-US" sz="2615">
                <a:solidFill>
                  <a:srgbClr val="050E9B"/>
                </a:solidFill>
                <a:latin typeface="Monda"/>
                <a:ea typeface="Monda"/>
                <a:cs typeface="Monda"/>
                <a:sym typeface="Monda"/>
              </a:rPr>
              <a:t>Aligning SQL queries, DAX logic, and Power BI slicers for accurate insights.</a:t>
            </a:r>
          </a:p>
          <a:p>
            <a:pPr algn="just">
              <a:lnSpc>
                <a:spcPts val="3661"/>
              </a:lnSpc>
            </a:pPr>
          </a:p>
        </p:txBody>
      </p:sp>
    </p:spTree>
  </p:cSld>
  <p:clrMapOvr>
    <a:masterClrMapping/>
  </p:clrMapOvr>
</p:sld>
</file>

<file path=ppt/slides/slide4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2204" t="0" r="-2204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-1584626" y="-740607"/>
            <a:ext cx="5226651" cy="4114800"/>
          </a:xfrm>
          <a:custGeom>
            <a:avLst/>
            <a:gdLst/>
            <a:ahLst/>
            <a:cxnLst/>
            <a:rect r="r" b="b" t="t" l="l"/>
            <a:pathLst>
              <a:path h="4114800" w="5226651">
                <a:moveTo>
                  <a:pt x="0" y="0"/>
                </a:moveTo>
                <a:lnTo>
                  <a:pt x="5226652" y="0"/>
                </a:lnTo>
                <a:lnTo>
                  <a:pt x="5226652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true" flipV="true" rot="0">
            <a:off x="14645974" y="7042697"/>
            <a:ext cx="5226651" cy="4114800"/>
          </a:xfrm>
          <a:custGeom>
            <a:avLst/>
            <a:gdLst/>
            <a:ahLst/>
            <a:cxnLst/>
            <a:rect r="r" b="b" t="t" l="l"/>
            <a:pathLst>
              <a:path h="4114800" w="5226651">
                <a:moveTo>
                  <a:pt x="5226652" y="4114800"/>
                </a:moveTo>
                <a:lnTo>
                  <a:pt x="0" y="4114800"/>
                </a:lnTo>
                <a:lnTo>
                  <a:pt x="0" y="0"/>
                </a:lnTo>
                <a:lnTo>
                  <a:pt x="5226652" y="0"/>
                </a:lnTo>
                <a:lnTo>
                  <a:pt x="5226652" y="411480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0">
            <a:off x="15729343" y="-740607"/>
            <a:ext cx="3059915" cy="4114800"/>
          </a:xfrm>
          <a:custGeom>
            <a:avLst/>
            <a:gdLst/>
            <a:ahLst/>
            <a:cxnLst/>
            <a:rect r="r" b="b" t="t" l="l"/>
            <a:pathLst>
              <a:path h="4114800" w="3059915">
                <a:moveTo>
                  <a:pt x="0" y="0"/>
                </a:moveTo>
                <a:lnTo>
                  <a:pt x="3059914" y="0"/>
                </a:lnTo>
                <a:lnTo>
                  <a:pt x="3059914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0">
            <a:off x="11754810" y="3086100"/>
            <a:ext cx="4654751" cy="4114800"/>
          </a:xfrm>
          <a:custGeom>
            <a:avLst/>
            <a:gdLst/>
            <a:ahLst/>
            <a:cxnLst/>
            <a:rect r="r" b="b" t="t" l="l"/>
            <a:pathLst>
              <a:path h="4114800" w="4654751">
                <a:moveTo>
                  <a:pt x="0" y="0"/>
                </a:moveTo>
                <a:lnTo>
                  <a:pt x="4654751" y="0"/>
                </a:lnTo>
                <a:lnTo>
                  <a:pt x="4654751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7" id="7"/>
          <p:cNvSpPr txBox="true"/>
          <p:nvPr/>
        </p:nvSpPr>
        <p:spPr>
          <a:xfrm rot="0">
            <a:off x="3417780" y="367781"/>
            <a:ext cx="11517542" cy="12160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900"/>
              </a:lnSpc>
            </a:pPr>
            <a:r>
              <a:rPr lang="en-US" b="true" sz="3500">
                <a:solidFill>
                  <a:srgbClr val="050E9B"/>
                </a:solidFill>
                <a:latin typeface="Merriweather Sans Bold"/>
                <a:ea typeface="Merriweather Sans Bold"/>
                <a:cs typeface="Merriweather Sans Bold"/>
                <a:sym typeface="Merriweather Sans Bold"/>
              </a:rPr>
              <a:t>ACHIEVEMENTS, CHALLENGES &amp; PERSONAL LEARNINGS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211057" y="3326568"/>
            <a:ext cx="10883252" cy="363880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3661"/>
              </a:lnSpc>
            </a:pPr>
            <a:r>
              <a:rPr lang="en-US" sz="2615" b="true">
                <a:solidFill>
                  <a:srgbClr val="050E9B"/>
                </a:solidFill>
                <a:latin typeface="Monda Bold"/>
                <a:ea typeface="Monda Bold"/>
                <a:cs typeface="Monda Bold"/>
                <a:sym typeface="Monda Bold"/>
              </a:rPr>
              <a:t>Personal Learnings:</a:t>
            </a:r>
          </a:p>
          <a:p>
            <a:pPr algn="just" marL="564586" indent="-282293" lvl="1">
              <a:lnSpc>
                <a:spcPts val="3661"/>
              </a:lnSpc>
              <a:buFont typeface="Arial"/>
              <a:buChar char="•"/>
            </a:pPr>
            <a:r>
              <a:rPr lang="en-US" sz="2615">
                <a:solidFill>
                  <a:srgbClr val="050E9B"/>
                </a:solidFill>
                <a:latin typeface="Monda"/>
                <a:ea typeface="Monda"/>
                <a:cs typeface="Monda"/>
                <a:sym typeface="Monda"/>
              </a:rPr>
              <a:t>Strengthened understanding of data cleaning, SQL querying, and data visualization techniques.</a:t>
            </a:r>
          </a:p>
          <a:p>
            <a:pPr algn="just" marL="564586" indent="-282293" lvl="1">
              <a:lnSpc>
                <a:spcPts val="3661"/>
              </a:lnSpc>
              <a:buFont typeface="Arial"/>
              <a:buChar char="•"/>
            </a:pPr>
            <a:r>
              <a:rPr lang="en-US" sz="2615">
                <a:solidFill>
                  <a:srgbClr val="050E9B"/>
                </a:solidFill>
                <a:latin typeface="Monda"/>
                <a:ea typeface="Monda"/>
                <a:cs typeface="Monda"/>
                <a:sym typeface="Monda"/>
              </a:rPr>
              <a:t>Gained hands-on experience in Power BI storytelling and dashboard design principles.</a:t>
            </a:r>
          </a:p>
          <a:p>
            <a:pPr algn="just" marL="564586" indent="-282293" lvl="1">
              <a:lnSpc>
                <a:spcPts val="3661"/>
              </a:lnSpc>
              <a:buFont typeface="Arial"/>
              <a:buChar char="•"/>
            </a:pPr>
            <a:r>
              <a:rPr lang="en-US" sz="2615">
                <a:solidFill>
                  <a:srgbClr val="050E9B"/>
                </a:solidFill>
                <a:latin typeface="Monda"/>
                <a:ea typeface="Monda"/>
                <a:cs typeface="Monda"/>
                <a:sym typeface="Monda"/>
              </a:rPr>
              <a:t>Improved analytical thinking, problem-solving, and ability to communicate insights effectively.</a:t>
            </a:r>
          </a:p>
          <a:p>
            <a:pPr algn="just">
              <a:lnSpc>
                <a:spcPts val="3661"/>
              </a:lnSpc>
            </a:pPr>
          </a:p>
        </p:txBody>
      </p:sp>
    </p:spTree>
  </p:cSld>
  <p:clrMapOvr>
    <a:masterClrMapping/>
  </p:clrMapOvr>
</p:sld>
</file>

<file path=ppt/slides/slide4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2204" t="0" r="-2204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-1584626" y="-740607"/>
            <a:ext cx="4710318" cy="3708305"/>
          </a:xfrm>
          <a:custGeom>
            <a:avLst/>
            <a:gdLst/>
            <a:ahLst/>
            <a:cxnLst/>
            <a:rect r="r" b="b" t="t" l="l"/>
            <a:pathLst>
              <a:path h="3708305" w="4710318">
                <a:moveTo>
                  <a:pt x="0" y="0"/>
                </a:moveTo>
                <a:lnTo>
                  <a:pt x="4710318" y="0"/>
                </a:lnTo>
                <a:lnTo>
                  <a:pt x="4710318" y="3708305"/>
                </a:lnTo>
                <a:lnTo>
                  <a:pt x="0" y="3708305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true" flipV="true" rot="0">
            <a:off x="14645974" y="7042697"/>
            <a:ext cx="5226651" cy="4114800"/>
          </a:xfrm>
          <a:custGeom>
            <a:avLst/>
            <a:gdLst/>
            <a:ahLst/>
            <a:cxnLst/>
            <a:rect r="r" b="b" t="t" l="l"/>
            <a:pathLst>
              <a:path h="4114800" w="5226651">
                <a:moveTo>
                  <a:pt x="5226652" y="4114800"/>
                </a:moveTo>
                <a:lnTo>
                  <a:pt x="0" y="4114800"/>
                </a:lnTo>
                <a:lnTo>
                  <a:pt x="0" y="0"/>
                </a:lnTo>
                <a:lnTo>
                  <a:pt x="5226652" y="0"/>
                </a:lnTo>
                <a:lnTo>
                  <a:pt x="5226652" y="411480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0">
            <a:off x="15729343" y="-740607"/>
            <a:ext cx="3059915" cy="4114800"/>
          </a:xfrm>
          <a:custGeom>
            <a:avLst/>
            <a:gdLst/>
            <a:ahLst/>
            <a:cxnLst/>
            <a:rect r="r" b="b" t="t" l="l"/>
            <a:pathLst>
              <a:path h="4114800" w="3059915">
                <a:moveTo>
                  <a:pt x="0" y="0"/>
                </a:moveTo>
                <a:lnTo>
                  <a:pt x="3059914" y="0"/>
                </a:lnTo>
                <a:lnTo>
                  <a:pt x="3059914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6" id="6"/>
          <p:cNvSpPr txBox="true"/>
          <p:nvPr/>
        </p:nvSpPr>
        <p:spPr>
          <a:xfrm rot="0">
            <a:off x="3417780" y="367781"/>
            <a:ext cx="11517542" cy="5969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900"/>
              </a:lnSpc>
            </a:pPr>
            <a:r>
              <a:rPr lang="en-US" b="true" sz="3500">
                <a:solidFill>
                  <a:srgbClr val="050E9B"/>
                </a:solidFill>
                <a:latin typeface="Merriweather Sans Bold"/>
                <a:ea typeface="Merriweather Sans Bold"/>
                <a:cs typeface="Merriweather Sans Bold"/>
                <a:sym typeface="Merriweather Sans Bold"/>
              </a:rPr>
              <a:t> PROJECT LIMITATIONS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1028700" y="1259643"/>
            <a:ext cx="14922133" cy="798156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 marL="650943" indent="-325472" lvl="1">
              <a:lnSpc>
                <a:spcPts val="4221"/>
              </a:lnSpc>
              <a:buFont typeface="Arial"/>
              <a:buChar char="•"/>
            </a:pPr>
            <a:r>
              <a:rPr lang="en-US" sz="3015">
                <a:solidFill>
                  <a:srgbClr val="050E9B"/>
                </a:solidFill>
                <a:latin typeface="Monda"/>
                <a:ea typeface="Monda"/>
                <a:cs typeface="Monda"/>
                <a:sym typeface="Monda"/>
              </a:rPr>
              <a:t>Dataset coverage: Limited to countries present in the Kaggle source (US, UK, Germany, Canada, Australia); no APAC / South America representation.</a:t>
            </a:r>
          </a:p>
          <a:p>
            <a:pPr algn="just" marL="650943" indent="-325472" lvl="1">
              <a:lnSpc>
                <a:spcPts val="4221"/>
              </a:lnSpc>
              <a:buFont typeface="Arial"/>
              <a:buChar char="•"/>
            </a:pPr>
            <a:r>
              <a:rPr lang="en-US" sz="3015">
                <a:solidFill>
                  <a:srgbClr val="050E9B"/>
                </a:solidFill>
                <a:latin typeface="Monda"/>
                <a:ea typeface="Monda"/>
                <a:cs typeface="Monda"/>
                <a:sym typeface="Monda"/>
              </a:rPr>
              <a:t>Temporal constraints: Data covers historic transactions only — no real-time streaming or live POS feeds.</a:t>
            </a:r>
          </a:p>
          <a:p>
            <a:pPr algn="just" marL="650943" indent="-325472" lvl="1">
              <a:lnSpc>
                <a:spcPts val="4221"/>
              </a:lnSpc>
              <a:buFont typeface="Arial"/>
              <a:buChar char="•"/>
            </a:pPr>
            <a:r>
              <a:rPr lang="en-US" sz="3015">
                <a:solidFill>
                  <a:srgbClr val="050E9B"/>
                </a:solidFill>
                <a:latin typeface="Monda"/>
                <a:ea typeface="Monda"/>
                <a:cs typeface="Monda"/>
                <a:sym typeface="Monda"/>
              </a:rPr>
              <a:t>Data quality issues: Customer/product attribute conflicts (multiple ages/genders per ID) required rule-based resolution.</a:t>
            </a:r>
          </a:p>
          <a:p>
            <a:pPr algn="just" marL="650943" indent="-325472" lvl="1">
              <a:lnSpc>
                <a:spcPts val="4221"/>
              </a:lnSpc>
              <a:buFont typeface="Arial"/>
              <a:buChar char="•"/>
            </a:pPr>
            <a:r>
              <a:rPr lang="en-US" sz="3015">
                <a:solidFill>
                  <a:srgbClr val="050E9B"/>
                </a:solidFill>
                <a:latin typeface="Monda"/>
                <a:ea typeface="Monda"/>
                <a:cs typeface="Monda"/>
                <a:sym typeface="Monda"/>
              </a:rPr>
              <a:t>Modeling trade-offs: Star schema built on cleaned snapshots — late-arriving data and slowly changing attributes not fully modeled.</a:t>
            </a:r>
          </a:p>
          <a:p>
            <a:pPr algn="just" marL="650943" indent="-325472" lvl="1">
              <a:lnSpc>
                <a:spcPts val="4221"/>
              </a:lnSpc>
              <a:buFont typeface="Arial"/>
              <a:buChar char="•"/>
            </a:pPr>
            <a:r>
              <a:rPr lang="en-US" sz="3015">
                <a:solidFill>
                  <a:srgbClr val="050E9B"/>
                </a:solidFill>
                <a:latin typeface="Monda"/>
                <a:ea typeface="Monda"/>
                <a:cs typeface="Monda"/>
                <a:sym typeface="Monda"/>
              </a:rPr>
              <a:t>Resource &amp; performance limits: Working with ~300K rows in Power BI required visual and refresh optimizations; very large enterprise data may need a data warehouse.</a:t>
            </a:r>
          </a:p>
          <a:p>
            <a:pPr algn="just" marL="650943" indent="-325472" lvl="1">
              <a:lnSpc>
                <a:spcPts val="4221"/>
              </a:lnSpc>
              <a:buFont typeface="Arial"/>
              <a:buChar char="•"/>
            </a:pPr>
            <a:r>
              <a:rPr lang="en-US" sz="3015">
                <a:solidFill>
                  <a:srgbClr val="050E9B"/>
                </a:solidFill>
                <a:latin typeface="Monda"/>
                <a:ea typeface="Monda"/>
                <a:cs typeface="Monda"/>
                <a:sym typeface="Monda"/>
              </a:rPr>
              <a:t>Operational validation: Some operational metrics (delivery scoring) are proxy/DAX-based estimates and may need ground-truth verification from courier/logistics systems.</a:t>
            </a:r>
          </a:p>
          <a:p>
            <a:pPr algn="just">
              <a:lnSpc>
                <a:spcPts val="4221"/>
              </a:lnSpc>
            </a:pPr>
          </a:p>
        </p:txBody>
      </p:sp>
    </p:spTree>
  </p:cSld>
  <p:clrMapOvr>
    <a:masterClrMapping/>
  </p:clrMapOvr>
</p:sld>
</file>

<file path=ppt/slides/slide4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2204" t="0" r="-2204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-1584626" y="-740607"/>
            <a:ext cx="5226651" cy="4114800"/>
          </a:xfrm>
          <a:custGeom>
            <a:avLst/>
            <a:gdLst/>
            <a:ahLst/>
            <a:cxnLst/>
            <a:rect r="r" b="b" t="t" l="l"/>
            <a:pathLst>
              <a:path h="4114800" w="5226651">
                <a:moveTo>
                  <a:pt x="0" y="0"/>
                </a:moveTo>
                <a:lnTo>
                  <a:pt x="5226652" y="0"/>
                </a:lnTo>
                <a:lnTo>
                  <a:pt x="5226652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true" flipV="true" rot="0">
            <a:off x="14645974" y="7042697"/>
            <a:ext cx="5226651" cy="4114800"/>
          </a:xfrm>
          <a:custGeom>
            <a:avLst/>
            <a:gdLst/>
            <a:ahLst/>
            <a:cxnLst/>
            <a:rect r="r" b="b" t="t" l="l"/>
            <a:pathLst>
              <a:path h="4114800" w="5226651">
                <a:moveTo>
                  <a:pt x="5226652" y="4114800"/>
                </a:moveTo>
                <a:lnTo>
                  <a:pt x="0" y="4114800"/>
                </a:lnTo>
                <a:lnTo>
                  <a:pt x="0" y="0"/>
                </a:lnTo>
                <a:lnTo>
                  <a:pt x="5226652" y="0"/>
                </a:lnTo>
                <a:lnTo>
                  <a:pt x="5226652" y="411480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0">
            <a:off x="15729343" y="-740607"/>
            <a:ext cx="3059915" cy="4114800"/>
          </a:xfrm>
          <a:custGeom>
            <a:avLst/>
            <a:gdLst/>
            <a:ahLst/>
            <a:cxnLst/>
            <a:rect r="r" b="b" t="t" l="l"/>
            <a:pathLst>
              <a:path h="4114800" w="3059915">
                <a:moveTo>
                  <a:pt x="0" y="0"/>
                </a:moveTo>
                <a:lnTo>
                  <a:pt x="3059914" y="0"/>
                </a:lnTo>
                <a:lnTo>
                  <a:pt x="3059914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true" flipV="true" rot="0">
            <a:off x="-501257" y="7042697"/>
            <a:ext cx="3059915" cy="4114800"/>
          </a:xfrm>
          <a:custGeom>
            <a:avLst/>
            <a:gdLst/>
            <a:ahLst/>
            <a:cxnLst/>
            <a:rect r="r" b="b" t="t" l="l"/>
            <a:pathLst>
              <a:path h="4114800" w="3059915">
                <a:moveTo>
                  <a:pt x="3059914" y="4114800"/>
                </a:moveTo>
                <a:lnTo>
                  <a:pt x="0" y="4114800"/>
                </a:lnTo>
                <a:lnTo>
                  <a:pt x="0" y="0"/>
                </a:lnTo>
                <a:lnTo>
                  <a:pt x="3059914" y="0"/>
                </a:lnTo>
                <a:lnTo>
                  <a:pt x="3059914" y="411480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7" id="7"/>
          <p:cNvSpPr txBox="true"/>
          <p:nvPr/>
        </p:nvSpPr>
        <p:spPr>
          <a:xfrm rot="0">
            <a:off x="3529903" y="4554395"/>
            <a:ext cx="11228195" cy="11842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9799"/>
              </a:lnSpc>
            </a:pPr>
            <a:r>
              <a:rPr lang="en-US" b="true" sz="6999">
                <a:solidFill>
                  <a:srgbClr val="050E9B"/>
                </a:solidFill>
                <a:latin typeface="Merriweather Sans Bold"/>
                <a:ea typeface="Merriweather Sans Bold"/>
                <a:cs typeface="Merriweather Sans Bold"/>
                <a:sym typeface="Merriweather Sans Bold"/>
              </a:rPr>
              <a:t>THANK YOU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:identifier>DAG3WmRFVVM</dc:identifier>
  <dcterms:modified xsi:type="dcterms:W3CDTF">2011-08-01T06:04:30Z</dcterms:modified>
  <cp:revision>1</cp:revision>
  <dc:title>22cs060_Pranav_Minor_Project_Sem-7</dc:title>
</cp:coreProperties>
</file>